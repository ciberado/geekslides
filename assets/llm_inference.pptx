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  <p:sldId id="269" r:id="rId17"/>
    <p:sldId id="272" r:id="rId18"/>
    <p:sldId id="273" r:id="rId19"/>
    <p:sldId id="274" r:id="rId20"/>
    <p:sldId id="275" r:id="rId21"/>
    <p:sldId id="279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3" d="100"/>
          <a:sy n="173" d="100"/>
        </p:scale>
        <p:origin x="15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378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685CA-A288-1714-5390-9D4781601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1BE3B-332F-622D-0752-E4DC5CCD1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3B961B-3D7C-0233-29CC-A4F951FE2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E74E2-6097-F962-85DB-CAB50967C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3899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46304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LLM Inference Works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9260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walkthrough — from prompt to token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38404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prompt: "In Martorell the sunset is …"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Big Picture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1371600"/>
            <a:ext cx="1078992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256032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032" y="16459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35024" y="182880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1463040" y="1371600"/>
            <a:ext cx="1078992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1463040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6459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42032" y="182880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2670048" y="1371600"/>
            <a:ext cx="1078992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2670048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16459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49040" y="182880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877056" y="1371600"/>
            <a:ext cx="1078992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877056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77056" y="16459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56048" y="182880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5084064" y="1371600"/>
            <a:ext cx="10789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5084064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84064" y="16459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+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182880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6291072" y="1371600"/>
            <a:ext cx="10789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291072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91072" y="16459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/ top-p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70064" y="1828800"/>
            <a:ext cx="12801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7498080" y="1371600"/>
            <a:ext cx="107899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7498080" y="14081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0" y="1645920"/>
            <a:ext cx="10789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6032" y="2487168"/>
            <a:ext cx="4700016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56032" y="2542032"/>
            <a:ext cx="4700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Model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84064" y="2487168"/>
            <a:ext cx="349300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5084064" y="2542032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Inference Engine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2062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memory — the loop repeats, appending one token at a time, until end-of-sequence.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Tokenization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split into tokens — roughly words or word-pieces.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1280160" cy="777240"/>
          </a:xfrm>
          <a:prstGeom prst="rect">
            <a:avLst/>
          </a:prstGeom>
          <a:solidFill>
            <a:srgbClr val="1B2A4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20240" y="189738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2176272" y="1508760"/>
            <a:ext cx="1280160" cy="777240"/>
          </a:xfrm>
          <a:prstGeom prst="rect">
            <a:avLst/>
          </a:prstGeom>
          <a:solidFill>
            <a:srgbClr val="1B2A4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176272" y="1508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Martorell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56432" y="189738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712464" y="1508760"/>
            <a:ext cx="1280160" cy="777240"/>
          </a:xfrm>
          <a:prstGeom prst="rect">
            <a:avLst/>
          </a:prstGeom>
          <a:solidFill>
            <a:srgbClr val="1B2A4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3712464" y="1508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92624" y="189738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5248656" y="1508760"/>
            <a:ext cx="1280160" cy="777240"/>
          </a:xfrm>
          <a:prstGeom prst="rect">
            <a:avLst/>
          </a:prstGeom>
          <a:solidFill>
            <a:srgbClr val="1B2A4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248656" y="1508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sunset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28816" y="1897380"/>
            <a:ext cx="25603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7"/>
          <p:cNvSpPr/>
          <p:nvPr/>
        </p:nvSpPr>
        <p:spPr>
          <a:xfrm>
            <a:off x="6784848" y="1508760"/>
            <a:ext cx="1280160" cy="777240"/>
          </a:xfrm>
          <a:prstGeom prst="rect">
            <a:avLst/>
          </a:prstGeom>
          <a:solidFill>
            <a:srgbClr val="1B2A4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6784848" y="15087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2487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will be processed independently through the rest of the pipeline.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 — Visualising the Dimensions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15089" y="108609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Geography  (0 = not geographic  →  100 = highly geographic)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941946"/>
            <a:ext cx="786384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640080" y="1832218"/>
            <a:ext cx="0" cy="219456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84048" y="205167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03920" y="1832218"/>
            <a:ext cx="0" cy="219456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8247888" y="2051674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69187" y="1777354"/>
            <a:ext cx="0" cy="32918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177747" y="185050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83387" y="150303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 8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31152" y="1777354"/>
            <a:ext cx="0" cy="329184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6839712" y="1850506"/>
            <a:ext cx="182880" cy="1828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245352" y="21118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Martorell  80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4823" y="280175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Meteorology  (0 = not weather-related  →  100 = highly meteorological)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7863840" cy="0"/>
          </a:xfrm>
          <a:prstGeom prst="line">
            <a:avLst/>
          </a:prstGeom>
          <a:noFill/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40080" y="3547872"/>
            <a:ext cx="0" cy="219456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384048" y="376732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03920" y="3547872"/>
            <a:ext cx="0" cy="219456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247888" y="3767328"/>
            <a:ext cx="512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3493008"/>
            <a:ext cx="0" cy="329184"/>
          </a:xfrm>
          <a:prstGeom prst="line">
            <a:avLst/>
          </a:prstGeom>
          <a:noFill/>
          <a:ln w="3175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514600" y="3566160"/>
            <a:ext cx="182880" cy="18288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1920240" y="321868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Martorell  25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51576" y="3493008"/>
            <a:ext cx="0" cy="329184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5660136" y="35661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065776" y="3886663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 65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46608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Martorell → [geo: 80, met: 25]                    sunset → [geo: 8, met: 65]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is converted into a vector — a list of numbers representing its meaning across many dimensions.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417320"/>
          <a:ext cx="6949440" cy="1188720"/>
        </p:xfrm>
        <a:graphic>
          <a:graphicData uri="http://schemas.openxmlformats.org/drawingml/2006/table">
            <a:tbl>
              <a:tblPr/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(0–100)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Meteorology (0–100)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sunset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Martorell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"sunset" scores low on Geography — it can mean many things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"Google decided to sunset the product"), so it doesn't fully commit yet.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modern models use thousands of dimensions — not just two.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Layers — Attention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"Attention is about how words talk to each other."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looks at all previous tokens and absorbs relevant meaning from them.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attention, "sunset" has been influenced by "Martorell":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84832"/>
          <a:ext cx="7680960" cy="131064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Meteorology — before attention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Meteorology — after attention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sunset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 ↑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Martorell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Tokens only attend to previous tokens — not future ones.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stacked 96 of these transformer layers, run sequentially.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 Layers — Feed-Forward Network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feed-forward network is about how each word processes what it heard."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084832"/>
            <a:ext cx="35661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talk to each other.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flows between tokens.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sequentially.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931920" cy="2560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Feed-Forward Network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2084832"/>
            <a:ext cx="35661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983480" y="2176272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type of neural network without loops.</a:t>
            </a:r>
          </a:p>
          <a:p>
            <a:pPr marL="0" indent="0">
              <a:buNone/>
            </a:pPr>
            <a:r>
              <a:rPr lang="en-US" sz="13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processes what it learned.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with knowledge from weights.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across all tokens.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weights — trained on vast text — are what give the model its "knowledge".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Candidates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scores every possible </a:t>
            </a:r>
            <a:r>
              <a:rPr lang="en-US" sz="15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token (up to 100K!). </a:t>
            </a: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last step the model itself performs.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29891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1362918"/>
            <a:ext cx="530352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2103120" y="1362918"/>
            <a:ext cx="5303520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479792" y="129891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73782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beautiful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03120" y="1801830"/>
            <a:ext cx="530352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2103120" y="1801830"/>
            <a:ext cx="3788229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964501" y="173782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2176734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industrial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103120" y="2240742"/>
            <a:ext cx="530352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2103120" y="2240742"/>
            <a:ext cx="2272937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4449209" y="217673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615646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hazy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103120" y="2679654"/>
            <a:ext cx="530352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2103120" y="2679654"/>
            <a:ext cx="1515291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691563" y="261564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05455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103120" y="3118566"/>
            <a:ext cx="530352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2103120" y="3118566"/>
            <a:ext cx="1136469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3312741" y="305455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" y="3493470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forgotten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103120" y="3557478"/>
            <a:ext cx="530352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2103120" y="3557478"/>
            <a:ext cx="757646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933918" y="349347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" y="3932382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chocolate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103120" y="3996390"/>
            <a:ext cx="5303520" cy="31089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2103120" y="3996390"/>
            <a:ext cx="378823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Text 32"/>
          <p:cNvSpPr/>
          <p:nvPr/>
        </p:nvSpPr>
        <p:spPr>
          <a:xfrm>
            <a:off x="2555095" y="393238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538778"/>
            <a:ext cx="84124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365760" y="458449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here on is handled by the Inference Engine →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Softmax + Temperature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scores → probabilities via Softmax. Temperature controls how spread out those probabilities are.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504150"/>
              </p:ext>
            </p:extLst>
          </p:nvPr>
        </p:nvGraphicFramePr>
        <p:xfrm>
          <a:off x="822960" y="1325880"/>
          <a:ext cx="7498080" cy="310896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19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7653">
                  <a:extLst>
                    <a:ext uri="{9D8B030D-6E8A-4147-A177-3AD203B41FA5}">
                      <a16:colId xmlns:a16="http://schemas.microsoft.com/office/drawing/2014/main" val="1129703190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T=0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T=0  (focused)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T=2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T=2  (spread out)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orange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beautiful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industrial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hazy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smoky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forgotten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chocolate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 → decisive &amp; repetitive    |    High T → creative &amp; unpredictable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6a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Filtering — top-k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keeps only the k most probable tokens and renormalizes probabilities among them.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T=0, top-k=3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64208"/>
          <a:ext cx="7498080" cy="3063240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prob.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Renormalized prob.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orange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beautiful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industrial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(hazy)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(smoky)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(forgotten)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9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(chocolate)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6b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Filtering — top-p (Nucleus Sampling)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keeps adding tokens in probability order until the cumulative total hits or crosses p — including the token that pushed it over.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T=0, top-p=0.80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564115"/>
              </p:ext>
            </p:extLst>
          </p:nvPr>
        </p:nvGraphicFramePr>
        <p:xfrm>
          <a:off x="457200" y="1719072"/>
          <a:ext cx="8229600" cy="2798064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Renormalized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orange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beautiful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industrial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hazy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crossed 0.80 — stop after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(smoky)</a:t>
                      </a:r>
                      <a:endParaRPr lang="en-US" sz="1300" dirty="0">
                        <a:solidFill>
                          <a:schemeClr val="bg1">
                            <a:lumMod val="75000"/>
                          </a:schemeClr>
                        </a:solidFill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0.075</a:t>
                      </a:r>
                      <a:endParaRPr lang="en-US" sz="13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i="1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>
                        <a:solidFill>
                          <a:schemeClr val="bg1">
                            <a:lumMod val="75000"/>
                          </a:schemeClr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00519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51713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that crosses the threshold is included — that's what makes it "nucleus" sampling.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 7–8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Sampling &amp; The Inference Loop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384048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6576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7 — Sampling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picked at random from the filtered candidates, weighted by their probabilities.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"roll of the dice."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822960"/>
            <a:ext cx="384048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93776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8 — Inference Loop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74920" y="132588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memory.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token is appended to the context and the whole process restarts — until end-of-sequence.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06240" y="1737360"/>
            <a:ext cx="73152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8412480" cy="1965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30352" y="2880360"/>
            <a:ext cx="813816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 Martorell the sunset is"</a:t>
            </a: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orange
</a:t>
            </a:r>
            <a:r>
              <a:rPr lang="en-US" sz="1300" dirty="0">
                <a:solidFill>
                  <a:srgbClr val="CC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 Martorell the sunset is orange"</a:t>
            </a: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and
</a:t>
            </a:r>
            <a:r>
              <a:rPr lang="en-US" sz="1300" dirty="0">
                <a:solidFill>
                  <a:srgbClr val="CC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 Martorell the sunset is orange and"</a:t>
            </a:r>
            <a:r>
              <a:rPr lang="en-US" sz="13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beautiful
</a:t>
            </a:r>
            <a:r>
              <a:rPr lang="en-US" sz="13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… and so on until end-of-sequence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Building Applications on Top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real products wrap the inference loop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Prompt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block of text prepended before the user's input. Hidden from the user — used to set a persona, define constraints, or provide context. The model is trained to treat it with priority.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2029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786384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[System] You are a helpful assistant for Acme Corp.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Only answer questions about our products.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Always reply in formal English.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</a:t>
            </a:r>
            <a:r>
              <a:rPr lang="en-US" sz="130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What </a:t>
            </a: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your return policy?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sends the full conversation history as context on every turn. From the model's perspective there is no "conversation" — just a longer and longer prompt.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2029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7863840" cy="14630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04672" y="329184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[User] What is Martorell?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[Assistant] A town near Barcelona.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[User] What is its population?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The model sees the entire exchange above as one single prompt.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Cached Tokens (KV Cache)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1828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processing previous tokens can be reused instead of recomputed on each new turn. This makes long conversations significantly faster and cheaper.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8229600" cy="20299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2852928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Claude a long question. Claude processes all those tokens to build up its understanding. You then ask a follow-up. Instead of re-reading the entire conversation from scratch, Claude reuses the cached computation from the first message — only processing the new tokens you just added.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— Retrieval-Augmented Generation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8229600" cy="20299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261872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fetches relevant information (from a database, a document, or a search engine) and injects it into the context as plain text. This lets the model answer questions about data it was never trained on — recent news, private documents, etc.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Vector/semantic databases are often used for retrieval — but the injection is always plain text.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990088"/>
            <a:ext cx="8229600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640080" y="3054096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7863840" cy="1261872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804672" y="3493008"/>
            <a:ext cx="75895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[Context] Martorell population (2024): 28,402. Main industry: automotive.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[User] How many people live in Martorell?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Model answers from injected context, not training data.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(Function Calling) &amp; MCP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describes available functions in the context: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16152"/>
            <a:ext cx="8229600" cy="530352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621792" y="126187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getTemperature(locality)  →  returns temperature in Celsius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respond with a structured call: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8229600" cy="530352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621792" y="2304288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D3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ENGINE, EXECUTE getTemperature(martorell)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pauses, executes the function, injects the result back into context, and resumes generation.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how LLMs reach beyond text and interact with the real world.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— Model Context Protocol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40416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tools live in external processes, MCP provides a standardised protocol for communication — for both local and remote tools, across any application.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1417320" y="0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Filters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response reaches the user, the application can run safety checks.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219456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Output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926080" y="1920240"/>
            <a:ext cx="8686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3794760" y="1463040"/>
            <a:ext cx="219456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794760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Response Filter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1920240"/>
            <a:ext cx="8686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6858000" y="1463040"/>
            <a:ext cx="219456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508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858000" y="1463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16459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49808" y="263347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— keyword lists, pattern matching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310128"/>
            <a:ext cx="16459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49808" y="3291840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— ML models trained to detect harmful output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968496"/>
            <a:ext cx="164592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49808" y="3950208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LLMs — a second model reviews the first model's response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11480" y="1463040"/>
            <a:ext cx="8321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That's the full pipeline.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735309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prompt to a stream of tokens — one step at a 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3403999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Tokenize   →   2  Embed   →   3  Transform (×N)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3675888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Score candidates   →   5  Softmax + Temperature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987247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E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Filter (top-k / top-p)   →   7  Sample   →   8  Loop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237DD7-F67E-CC93-C0C8-A9EBFDB5F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BAD7A65-ED2B-D50C-281E-26E1E8164A15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68BA6BF-1A4A-1B67-23DA-DA085C99144B}"/>
              </a:ext>
            </a:extLst>
          </p:cNvPr>
          <p:cNvSpPr/>
          <p:nvPr/>
        </p:nvSpPr>
        <p:spPr>
          <a:xfrm>
            <a:off x="41148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</a:t>
            </a:r>
            <a:endParaRPr lang="en-US" sz="6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46C927-A1F9-D5E1-154F-73DD3861EDFB}"/>
              </a:ext>
            </a:extLst>
          </p:cNvPr>
          <p:cNvSpPr/>
          <p:nvPr/>
        </p:nvSpPr>
        <p:spPr>
          <a:xfrm>
            <a:off x="41148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714E9A-F2F5-896B-6784-DB17016A84A8}"/>
              </a:ext>
            </a:extLst>
          </p:cNvPr>
          <p:cNvSpPr/>
          <p:nvPr/>
        </p:nvSpPr>
        <p:spPr>
          <a:xfrm>
            <a:off x="411480" y="2606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CC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Embeddings, meaning and emerging properties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7553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Embeddings Place Words as Points in Space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97280" y="868680"/>
            <a:ext cx="4755000" cy="393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" name="Google Shape;20;p3"/>
          <p:cNvCxnSpPr/>
          <p:nvPr/>
        </p:nvCxnSpPr>
        <p:spPr>
          <a:xfrm>
            <a:off x="228600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" name="Google Shape;21;p3"/>
          <p:cNvCxnSpPr/>
          <p:nvPr/>
        </p:nvCxnSpPr>
        <p:spPr>
          <a:xfrm>
            <a:off x="1097280" y="381762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3"/>
          <p:cNvCxnSpPr/>
          <p:nvPr/>
        </p:nvCxnSpPr>
        <p:spPr>
          <a:xfrm>
            <a:off x="347472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3"/>
          <p:cNvCxnSpPr/>
          <p:nvPr/>
        </p:nvCxnSpPr>
        <p:spPr>
          <a:xfrm>
            <a:off x="1097280" y="283464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>
            <a:off x="466344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" name="Google Shape;25;p3"/>
          <p:cNvCxnSpPr/>
          <p:nvPr/>
        </p:nvCxnSpPr>
        <p:spPr>
          <a:xfrm>
            <a:off x="1097280" y="185166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3"/>
          <p:cNvSpPr/>
          <p:nvPr/>
        </p:nvSpPr>
        <p:spPr>
          <a:xfrm>
            <a:off x="2930652" y="3159252"/>
            <a:ext cx="137160" cy="137160"/>
          </a:xfrm>
          <a:prstGeom prst="ellipse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872484" y="2363724"/>
            <a:ext cx="155448" cy="155448"/>
          </a:xfrm>
          <a:prstGeom prst="ellipse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2613510" y="3216409"/>
            <a:ext cx="960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434903" y="2020860"/>
            <a:ext cx="960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309360" y="804672"/>
            <a:ext cx="2560320" cy="132588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473952" y="8961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Two words. Two points.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473952" y="1225296"/>
            <a:ext cx="2286000" cy="905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token gets a position in a high-dimensional space. Words with similar meanings cluster together.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6309360" y="2276856"/>
            <a:ext cx="2560320" cy="1106424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473952" y="24231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Coordinates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473952" y="2752344"/>
            <a:ext cx="2286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  →  [40, 40]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king →  [60, 60]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6316030" y="3529584"/>
            <a:ext cx="2560320" cy="127089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473952" y="35844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Why does this matter?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473952" y="3913632"/>
            <a:ext cx="2286000" cy="813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distance encodes meaning. Positions were learned from billions of sentences — no human labelling.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;p3">
            <a:extLst>
              <a:ext uri="{FF2B5EF4-FFF2-40B4-BE49-F238E27FC236}">
                <a16:creationId xmlns:a16="http://schemas.microsoft.com/office/drawing/2014/main" id="{9A8C12F0-91EF-CBC2-B222-1E6F94189169}"/>
              </a:ext>
            </a:extLst>
          </p:cNvPr>
          <p:cNvSpPr/>
          <p:nvPr/>
        </p:nvSpPr>
        <p:spPr>
          <a:xfrm>
            <a:off x="6309360" y="804672"/>
            <a:ext cx="2560320" cy="132588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5;p3">
            <a:extLst>
              <a:ext uri="{FF2B5EF4-FFF2-40B4-BE49-F238E27FC236}">
                <a16:creationId xmlns:a16="http://schemas.microsoft.com/office/drawing/2014/main" id="{7DA04073-D863-2EE1-44E2-291CA081548C}"/>
              </a:ext>
            </a:extLst>
          </p:cNvPr>
          <p:cNvSpPr/>
          <p:nvPr/>
        </p:nvSpPr>
        <p:spPr>
          <a:xfrm>
            <a:off x="6309360" y="2276856"/>
            <a:ext cx="2560320" cy="1106424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8;p3">
            <a:extLst>
              <a:ext uri="{FF2B5EF4-FFF2-40B4-BE49-F238E27FC236}">
                <a16:creationId xmlns:a16="http://schemas.microsoft.com/office/drawing/2014/main" id="{59A69C93-A256-3E26-C92F-C6D5CAD0F122}"/>
              </a:ext>
            </a:extLst>
          </p:cNvPr>
          <p:cNvSpPr/>
          <p:nvPr/>
        </p:nvSpPr>
        <p:spPr>
          <a:xfrm>
            <a:off x="6316030" y="3529584"/>
            <a:ext cx="2560320" cy="127089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Subtraction Reveals Abstract Concepts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097280" y="868680"/>
            <a:ext cx="4755000" cy="393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" name="Google Shape;50;p4"/>
          <p:cNvCxnSpPr/>
          <p:nvPr/>
        </p:nvCxnSpPr>
        <p:spPr>
          <a:xfrm>
            <a:off x="228600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1" name="Google Shape;51;p4"/>
          <p:cNvCxnSpPr/>
          <p:nvPr/>
        </p:nvCxnSpPr>
        <p:spPr>
          <a:xfrm>
            <a:off x="1097280" y="381762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" name="Google Shape;52;p4"/>
          <p:cNvCxnSpPr/>
          <p:nvPr/>
        </p:nvCxnSpPr>
        <p:spPr>
          <a:xfrm>
            <a:off x="347472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" name="Google Shape;53;p4"/>
          <p:cNvCxnSpPr/>
          <p:nvPr/>
        </p:nvCxnSpPr>
        <p:spPr>
          <a:xfrm>
            <a:off x="1097280" y="283464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" name="Google Shape;54;p4"/>
          <p:cNvCxnSpPr/>
          <p:nvPr/>
        </p:nvCxnSpPr>
        <p:spPr>
          <a:xfrm>
            <a:off x="466344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5" name="Google Shape;55;p4"/>
          <p:cNvCxnSpPr/>
          <p:nvPr/>
        </p:nvCxnSpPr>
        <p:spPr>
          <a:xfrm>
            <a:off x="1097280" y="185166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" name="Google Shape;58;p4"/>
          <p:cNvCxnSpPr/>
          <p:nvPr/>
        </p:nvCxnSpPr>
        <p:spPr>
          <a:xfrm rot="10800000" flipH="1">
            <a:off x="2999232" y="2441448"/>
            <a:ext cx="950976" cy="786384"/>
          </a:xfrm>
          <a:prstGeom prst="straightConnector1">
            <a:avLst/>
          </a:prstGeom>
          <a:noFill/>
          <a:ln w="31750" cap="flat" cmpd="sng">
            <a:solidFill>
              <a:srgbClr val="1B2A4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9" name="Google Shape;59;p4"/>
          <p:cNvSpPr/>
          <p:nvPr/>
        </p:nvSpPr>
        <p:spPr>
          <a:xfrm>
            <a:off x="3324600" y="2888982"/>
            <a:ext cx="478200" cy="2196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2930652" y="3159252"/>
            <a:ext cx="137160" cy="137160"/>
          </a:xfrm>
          <a:prstGeom prst="ellipse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3872484" y="2363724"/>
            <a:ext cx="155448" cy="155448"/>
          </a:xfrm>
          <a:prstGeom prst="ellipse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3881628" y="3552444"/>
            <a:ext cx="137160" cy="137160"/>
          </a:xfrm>
          <a:prstGeom prst="ellipse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059936" y="3675888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woman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473952" y="8961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king − man = royalty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473952" y="1225296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Subtracting two vectors gives a direction. That direction captures what makes king different from man.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73952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The offset vector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73952" y="2706624"/>
            <a:ext cx="22860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[60,60] − [40,40] = [20, 20]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[20,20] is the "royalty" direction.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473952" y="36027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woman enters the picture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73952" y="3931920"/>
            <a:ext cx="228600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Now there's a third point. What happens if we apply the same royalty offset to woman?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613510" y="3216409"/>
            <a:ext cx="960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3434903" y="2020860"/>
            <a:ext cx="960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278185" y="2878003"/>
            <a:ext cx="713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1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royalty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2;p3">
            <a:extLst>
              <a:ext uri="{FF2B5EF4-FFF2-40B4-BE49-F238E27FC236}">
                <a16:creationId xmlns:a16="http://schemas.microsoft.com/office/drawing/2014/main" id="{8BB2CBF4-F129-FF39-AC7D-A9F15D2B11DE}"/>
              </a:ext>
            </a:extLst>
          </p:cNvPr>
          <p:cNvSpPr/>
          <p:nvPr/>
        </p:nvSpPr>
        <p:spPr>
          <a:xfrm>
            <a:off x="6309360" y="804672"/>
            <a:ext cx="2560320" cy="132588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35;p3">
            <a:extLst>
              <a:ext uri="{FF2B5EF4-FFF2-40B4-BE49-F238E27FC236}">
                <a16:creationId xmlns:a16="http://schemas.microsoft.com/office/drawing/2014/main" id="{309A71CC-C4B0-A350-0039-3ED6A2B7ABB7}"/>
              </a:ext>
            </a:extLst>
          </p:cNvPr>
          <p:cNvSpPr/>
          <p:nvPr/>
        </p:nvSpPr>
        <p:spPr>
          <a:xfrm>
            <a:off x="6309360" y="2276856"/>
            <a:ext cx="2560320" cy="1106424"/>
          </a:xfrm>
          <a:prstGeom prst="rect">
            <a:avLst/>
          </a:prstGeom>
          <a:solidFill>
            <a:srgbClr val="1E293B"/>
          </a:solidFill>
          <a:ln w="12700" cap="flat" cmpd="sng">
            <a:solidFill>
              <a:srgbClr val="1E293B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38;p3">
            <a:extLst>
              <a:ext uri="{FF2B5EF4-FFF2-40B4-BE49-F238E27FC236}">
                <a16:creationId xmlns:a16="http://schemas.microsoft.com/office/drawing/2014/main" id="{2FEE7339-5FC0-E76A-2E8C-0E48C3982154}"/>
              </a:ext>
            </a:extLst>
          </p:cNvPr>
          <p:cNvSpPr/>
          <p:nvPr/>
        </p:nvSpPr>
        <p:spPr>
          <a:xfrm>
            <a:off x="6316030" y="3529584"/>
            <a:ext cx="2560320" cy="1270896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25400" dir="8100000" algn="bl" rotWithShape="0">
              <a:srgbClr val="000000">
                <a:alpha val="1215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Trebuchet MS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Adding the Offset Predicts a New Word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1097280" y="868680"/>
            <a:ext cx="4754880" cy="3931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5" name="Google Shape;85;p5"/>
          <p:cNvCxnSpPr/>
          <p:nvPr/>
        </p:nvCxnSpPr>
        <p:spPr>
          <a:xfrm>
            <a:off x="228600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6" name="Google Shape;86;p5"/>
          <p:cNvCxnSpPr/>
          <p:nvPr/>
        </p:nvCxnSpPr>
        <p:spPr>
          <a:xfrm>
            <a:off x="1097280" y="381762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7" name="Google Shape;87;p5"/>
          <p:cNvCxnSpPr/>
          <p:nvPr/>
        </p:nvCxnSpPr>
        <p:spPr>
          <a:xfrm>
            <a:off x="347472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8" name="Google Shape;88;p5"/>
          <p:cNvCxnSpPr/>
          <p:nvPr/>
        </p:nvCxnSpPr>
        <p:spPr>
          <a:xfrm>
            <a:off x="1097280" y="283464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5"/>
          <p:cNvCxnSpPr/>
          <p:nvPr/>
        </p:nvCxnSpPr>
        <p:spPr>
          <a:xfrm>
            <a:off x="4663440" y="868680"/>
            <a:ext cx="0" cy="393192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" name="Google Shape;90;p5"/>
          <p:cNvCxnSpPr/>
          <p:nvPr/>
        </p:nvCxnSpPr>
        <p:spPr>
          <a:xfrm>
            <a:off x="1097280" y="1851660"/>
            <a:ext cx="4754880" cy="0"/>
          </a:xfrm>
          <a:prstGeom prst="straightConnector1">
            <a:avLst/>
          </a:prstGeom>
          <a:noFill/>
          <a:ln w="9525" cap="flat" cmpd="sng">
            <a:solidFill>
              <a:srgbClr val="EEF2F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3" name="Google Shape;93;p5"/>
          <p:cNvCxnSpPr/>
          <p:nvPr/>
        </p:nvCxnSpPr>
        <p:spPr>
          <a:xfrm rot="10800000" flipH="1">
            <a:off x="2999232" y="2441448"/>
            <a:ext cx="950976" cy="786384"/>
          </a:xfrm>
          <a:prstGeom prst="straightConnector1">
            <a:avLst/>
          </a:prstGeom>
          <a:noFill/>
          <a:ln w="19050" cap="flat" cmpd="sng">
            <a:solidFill>
              <a:srgbClr val="CBD5E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94" name="Google Shape;94;p5"/>
          <p:cNvSpPr/>
          <p:nvPr/>
        </p:nvSpPr>
        <p:spPr>
          <a:xfrm>
            <a:off x="3310221" y="2877997"/>
            <a:ext cx="7497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royalty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5"/>
          <p:cNvCxnSpPr/>
          <p:nvPr/>
        </p:nvCxnSpPr>
        <p:spPr>
          <a:xfrm rot="10800000" flipH="1">
            <a:off x="3950208" y="2834640"/>
            <a:ext cx="950976" cy="786384"/>
          </a:xfrm>
          <a:prstGeom prst="straightConnector1">
            <a:avLst/>
          </a:prstGeom>
          <a:noFill/>
          <a:ln w="31750" cap="flat" cmpd="sng">
            <a:solidFill>
              <a:srgbClr val="0D9488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6" name="Google Shape;96;p5"/>
          <p:cNvSpPr/>
          <p:nvPr/>
        </p:nvSpPr>
        <p:spPr>
          <a:xfrm>
            <a:off x="2930652" y="3159252"/>
            <a:ext cx="137160" cy="137160"/>
          </a:xfrm>
          <a:prstGeom prst="ellipse">
            <a:avLst/>
          </a:prstGeom>
          <a:solidFill>
            <a:srgbClr val="64748B"/>
          </a:solidFill>
          <a:ln w="12700" cap="flat" cmpd="sng">
            <a:solidFill>
              <a:srgbClr val="6474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3872484" y="2363724"/>
            <a:ext cx="155448" cy="155448"/>
          </a:xfrm>
          <a:prstGeom prst="ellipse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881628" y="3552444"/>
            <a:ext cx="137160" cy="137160"/>
          </a:xfrm>
          <a:prstGeom prst="ellipse">
            <a:avLst/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4814316" y="2747772"/>
            <a:ext cx="173736" cy="173736"/>
          </a:xfrm>
          <a:prstGeom prst="ellipse">
            <a:avLst/>
          </a:prstGeom>
          <a:solidFill>
            <a:srgbClr val="0D9488"/>
          </a:solidFill>
          <a:ln w="12700" cap="flat" cmpd="sng">
            <a:solidFill>
              <a:srgbClr val="0D948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4059936" y="3675888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woman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5010912" y="2359152"/>
            <a:ext cx="9601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queen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6473952" y="8961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woman + royalty = queen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473952" y="1225296"/>
            <a:ext cx="2286000" cy="85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Applying the same offset to woman lands exactly where queen lives in the embedding space.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6473952" y="23774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The arithmetic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473952" y="2706624"/>
            <a:ext cx="2286000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[60,30] + [20,20] = [80, 50]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Nearest token to [80, 50]:  queen ✓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73952" y="360273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CEDE9"/>
              </a:buClr>
              <a:buSzPts val="1300"/>
              <a:buFont typeface="Trebuchet MS"/>
              <a:buNone/>
            </a:pPr>
            <a:r>
              <a:rPr lang="en-US" sz="1300" b="1" i="0" u="none" strike="noStrike" cap="none">
                <a:solidFill>
                  <a:srgbClr val="CCEDE9"/>
                </a:solidFill>
                <a:latin typeface="Trebuchet MS"/>
                <a:ea typeface="Trebuchet MS"/>
                <a:cs typeface="Trebuchet MS"/>
                <a:sym typeface="Trebuchet MS"/>
              </a:rPr>
              <a:t>The key insight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73952" y="3931920"/>
            <a:ext cx="2286000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"Royalty" was never defined. It emerged from the geometry. Embeddings don't just store words — they encode meaning.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2613510" y="3216409"/>
            <a:ext cx="960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434903" y="2020860"/>
            <a:ext cx="960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353325" y="3279982"/>
            <a:ext cx="478200" cy="219600"/>
          </a:xfrm>
          <a:prstGeom prst="rect">
            <a:avLst/>
          </a:prstGeom>
          <a:solidFill>
            <a:srgbClr val="1B2A4A"/>
          </a:solidFill>
          <a:ln w="12700" cap="flat" cmpd="sng">
            <a:solidFill>
              <a:srgbClr val="1B2A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306910" y="3269003"/>
            <a:ext cx="713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alibri"/>
              <a:buNone/>
            </a:pPr>
            <a:r>
              <a:rPr lang="en-US" sz="1000" b="1" i="1" u="none" strike="noStrike" cap="non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royalty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1669</Words>
  <Application>Microsoft Office PowerPoint</Application>
  <PresentationFormat>Presentación en pantalla (16:9)</PresentationFormat>
  <Paragraphs>352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LLM Inference Works</dc:title>
  <dc:subject>PptxGenJS Presentation</dc:subject>
  <dc:creator>PptxGenJS</dc:creator>
  <cp:lastModifiedBy>Javier Moreno</cp:lastModifiedBy>
  <cp:revision>5</cp:revision>
  <dcterms:created xsi:type="dcterms:W3CDTF">2026-05-21T05:55:20Z</dcterms:created>
  <dcterms:modified xsi:type="dcterms:W3CDTF">2026-05-22T11:26:23Z</dcterms:modified>
</cp:coreProperties>
</file>
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70" r:id="rId16"/>
    <p:sldId id="269" r:id="rId17"/>
    <p:sldId id="272" r:id="rId18"/>
    <p:sldId id="273" r:id="rId19"/>
    <p:sldId id="274" r:id="rId20"/>
    <p:sldId id="275" r:id="rId21"/>
    <p:sldId id="279" r:id="rId22"/>
    <p:sldId id="276" r:id="rId23"/>
    <p:sldId id="277" r:id="rId24"/>
    <p:sldId id="278"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423" autoAdjust="0"/>
  </p:normalViewPr>
  <p:slideViewPr>
    <p:cSldViewPr snapToGrid="0" snapToObjects="1">
      <p:cViewPr varScale="1">
        <p:scale>
          <a:sx n="131" d="100"/>
          <a:sy n="131" d="100"/>
        </p:scale>
        <p:origin x="135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0378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set the scene. Today we're going to follow a single prompt — "In Martorell the sunset is…" — all the way through an LLM, step by step.</a:t>
            </a:r>
          </a:p>
          <a:p>
            <a:r>
              <a:rPr lang="en-US" dirty="0"/>
              <a:t>By the end, you'll understand </a:t>
            </a:r>
            <a:r>
              <a:rPr lang="en-US" b="1" dirty="0"/>
              <a:t>exactly what happens between the moment you press Enter and </a:t>
            </a:r>
            <a:r>
              <a:rPr lang="en-US" b="1"/>
              <a:t>the response appears on </a:t>
            </a:r>
            <a:r>
              <a:rPr lang="en-US" b="1" dirty="0"/>
              <a:t>screen</a:t>
            </a:r>
            <a:r>
              <a:rPr lang="en-US" dirty="0"/>
              <a:t>. No magic, no hand-waving — just the actual mechanism.</a:t>
            </a:r>
          </a:p>
          <a:p>
            <a:r>
              <a:rPr lang="en-US" dirty="0"/>
              <a:t>We'll split the journey into two halves: what happens inside the model, and what the inference engine does with the model's output.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Every step we'll cover today lives here.</a:t>
            </a:r>
          </a:p>
          <a:p>
            <a:r>
              <a:rPr lang="en-US"/>
              <a:t>The left part </a:t>
            </a:r>
            <a:r>
              <a:rPr lang="en-US" dirty="0"/>
              <a:t>— steps 1 </a:t>
            </a:r>
            <a:r>
              <a:rPr lang="en-US"/>
              <a:t>through 4 </a:t>
            </a:r>
            <a:r>
              <a:rPr lang="en-US" dirty="0"/>
              <a:t>— happens inside the </a:t>
            </a:r>
            <a:r>
              <a:rPr lang="en-US" b="1" dirty="0"/>
              <a:t>model </a:t>
            </a:r>
            <a:r>
              <a:rPr lang="en-US" dirty="0"/>
              <a:t>itself. These are matrix multiplications, learned weights, the "intelligence" of the system.</a:t>
            </a:r>
          </a:p>
          <a:p>
            <a:r>
              <a:rPr lang="en-US"/>
              <a:t>The right part </a:t>
            </a:r>
            <a:r>
              <a:rPr lang="en-US" dirty="0"/>
              <a:t>— </a:t>
            </a:r>
            <a:r>
              <a:rPr lang="en-US"/>
              <a:t>steps 5 </a:t>
            </a:r>
            <a:r>
              <a:rPr lang="en-US" dirty="0"/>
              <a:t>through 7 — happens in the</a:t>
            </a:r>
            <a:r>
              <a:rPr lang="en-US" b="1" dirty="0"/>
              <a:t> inference engine</a:t>
            </a:r>
            <a:r>
              <a:rPr lang="en-US" dirty="0"/>
              <a:t>. These steps decide which token actually gets chosen from the model's ranked list.</a:t>
            </a:r>
          </a:p>
          <a:p>
            <a:r>
              <a:rPr lang="en-US" dirty="0"/>
              <a:t>One crucial detail at the bottom: the model has no memory. It doesn't remember previous turns. Every generation is the model reading one long text string and predicting what comes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model can process anything, text must be converted into numbers. That's tokenization.</a:t>
            </a:r>
          </a:p>
          <a:p>
            <a:r>
              <a:rPr lang="en-US" dirty="0"/>
              <a:t>Tokenization splits the prompt into tokens — roughly words or word-pieces. "Martorell" might be one token because it appears in training data. A rare word might be split into two or three pieces.</a:t>
            </a:r>
          </a:p>
          <a:p>
            <a:r>
              <a:rPr lang="en-US" dirty="0"/>
              <a:t>Each token gets a unique integer ID. From this point forward, the model never sees letters — only numbers. These token IDs are what get fed into the embedding lookup in the next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are the model's way of encoding meaning as position in space.</a:t>
            </a:r>
          </a:p>
          <a:p>
            <a:r>
              <a:rPr lang="en-US" dirty="0"/>
              <a:t>Here we're visualising just two dimensions — geography and meteorology — to make it intuitive. "Martorell" scores high on geography (it's a place) and low on meteorology. "Sunset" is the opposite: low geography, high meteorology.</a:t>
            </a:r>
          </a:p>
          <a:p>
            <a:r>
              <a:rPr lang="en-US" dirty="0"/>
              <a:t>In reality, modern models use thousands of dimensions — not two. But the principle is the same: each token becomes a point in a high-dimensional space, and that position encodes meaning.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those two tokens side by side in table form.</a:t>
            </a:r>
          </a:p>
          <a:p>
            <a:r>
              <a:rPr lang="en-US" dirty="0"/>
              <a:t>Notice "sunset" scores only 8 on geography. That's intentional — "sunset" is ambiguous. It can describe a natural phenomenon, but also a business decision ("Google decided to sunset the product"). So the embedding hedges.</a:t>
            </a:r>
          </a:p>
          <a:p>
            <a:r>
              <a:rPr lang="en-US" dirty="0"/>
              <a:t>The model doesn't lock in meaning at this stage. That's the job of the next step — attention — which lets each token look at its neighbours and refine its position based on context.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is the core mechanism of the transformer. Think of it as tokens talking to each other.</a:t>
            </a:r>
          </a:p>
          <a:p>
            <a:r>
              <a:rPr lang="en-US" dirty="0"/>
              <a:t>When "sunset" attends to "Martorell", it learns it's probably describing a natural phenomenon over a Catalan town — not a product being discontinued. Its meteorology score jumps from 65 to 85.</a:t>
            </a:r>
          </a:p>
          <a:p>
            <a:r>
              <a:rPr lang="en-US" dirty="0"/>
              <a:t>Key constraint: tokens can only attend to previous tokens, not future ones. This is called causal masking, and it's what makes the model work as a left-to-right text predictor. GPT-3 stacked 96 of these layers sequentially.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transformer layer has two sub-components: the attention mechanism (just covered) and the feed-forward network.</a:t>
            </a:r>
          </a:p>
          <a:p>
            <a:r>
              <a:rPr lang="en-US" dirty="0"/>
              <a:t>Attention is about communication — tokens share information with each other. It runs sequentially because each token needs what previous tokens have produced.</a:t>
            </a:r>
          </a:p>
          <a:p>
            <a:r>
              <a:rPr lang="en-US" dirty="0"/>
              <a:t>The feed-forward network is about computation — each token processes what it learned from attention and enriches it with knowledge baked into the model's weights during training. Crucially, it runs in parallel across all tokens — a big efficiency win.</a:t>
            </a:r>
          </a:p>
          <a:p>
            <a:r>
              <a:rPr lang="en-US" dirty="0"/>
              <a:t>The weights are the trained knowledge of the model. They don't change at inference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all transformer layers, the model produces a score for every possible next token. On a vocabulary of 100,000 tokens, that's 100,000 scores — simultaneously.</a:t>
            </a:r>
          </a:p>
          <a:p>
            <a:r>
              <a:rPr lang="en-US" dirty="0"/>
              <a:t>These scores (called </a:t>
            </a:r>
            <a:r>
              <a:rPr lang="en-US" b="1" dirty="0"/>
              <a:t>logits</a:t>
            </a:r>
            <a:r>
              <a:rPr lang="en-US" dirty="0"/>
              <a:t>) represent the model's raw confidence. Higher = more likely. "Orange" leads here because the context — a sunset over a Catalan town — strongly suggests a warm colour.</a:t>
            </a:r>
          </a:p>
          <a:p>
            <a:r>
              <a:rPr lang="en-US" dirty="0"/>
              <a:t>This is the last step the model performs. Everything from here is the inference engine deciding what to do with these scores.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logits aren't probabilities — softmax converts them to a proper probability distribution that sums to 1.</a:t>
            </a:r>
          </a:p>
          <a:p>
            <a:r>
              <a:rPr lang="en-US" dirty="0"/>
              <a:t>Temperature is applied before softmax. It controls how "peaky" or "flat" the distribution becomes. Low temperature (near 0) concentrates probability on the top token — decisive </a:t>
            </a:r>
            <a:r>
              <a:rPr lang="en-US"/>
              <a:t>but repetitive (and predictable). </a:t>
            </a:r>
            <a:r>
              <a:rPr lang="en-US" dirty="0"/>
              <a:t>High </a:t>
            </a:r>
            <a:r>
              <a:rPr lang="en-US"/>
              <a:t>temperature (1+) </a:t>
            </a:r>
            <a:r>
              <a:rPr lang="en-US" dirty="0"/>
              <a:t>spreads probability more evenly — creative but unpredictable.</a:t>
            </a:r>
          </a:p>
          <a:p>
            <a:r>
              <a:rPr lang="en-US" dirty="0"/>
              <a:t>Temperature is the main dial for controlling the randomness of model </a:t>
            </a:r>
            <a:r>
              <a:rPr lang="en-US"/>
              <a:t>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softmax, we often still have thousands of non-zero probabilities. Top-k filtering is a simple way to prune the long tail.</a:t>
            </a:r>
          </a:p>
          <a:p>
            <a:r>
              <a:rPr lang="en-US" dirty="0"/>
              <a:t>Top-k keeps only the k most probable tokens and discards the rest. Then it renormalises the remaining probabilities so they sum to 1.</a:t>
            </a:r>
          </a:p>
          <a:p>
            <a:r>
              <a:rPr lang="en-US" dirty="0"/>
              <a:t>With k=3 here, "hazy", "smoky", "forgotten", and "chocolate" are all eliminated. The model will never produce those tokens on this turn. The advantage is simplicity; the downside is that k is fixed regardless of the shape of the distribution.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Top-p (nucleus sampling) is a smarter alternative to top-k. Instead of a fixed count, it uses a fixed cumulative probability threshold.</a:t>
            </a:r>
          </a:p>
          <a:p>
            <a:r>
              <a:rPr lang="en-US" dirty="0"/>
              <a:t>We add tokens in descending probability order until the running total hits or crosses p. The token that pushes us over the threshold is included — that's the "nucleus."</a:t>
            </a:r>
          </a:p>
          <a:p>
            <a:r>
              <a:rPr lang="en-US" dirty="0"/>
              <a:t>With p=0.80 here, we include four tokens. If the distribution were more concentrated, we might include only two. If it were very flat, we might include ten. Top-p adapts to the shape of the distribution, which is why it tends to outperform top-k in practice.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is where the actual randomness happens. We pick one token from the filtered set, weighted by their renormalised probabilities. If "orange" has 46% probability, it gets chosen about 46% of the time.</a:t>
            </a:r>
          </a:p>
          <a:p>
            <a:r>
              <a:rPr lang="en-US" dirty="0"/>
              <a:t>Step 8 closes the loop. The chosen token is appended to the prompt, and the entire pipeline — tokenize, embed, transform, score, softmax, filter, sample — repeats.</a:t>
            </a:r>
          </a:p>
          <a:p>
            <a:r>
              <a:rPr lang="en-US" dirty="0"/>
              <a:t>The model truly has no memory. It just sees an ever-growing string of text. The loop continues until the model produces an end-of-sequence token, or a maximum length is hit.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shift from what happens inside the inference loop to how real applications are built on top of it.</a:t>
            </a:r>
          </a:p>
          <a:p>
            <a:r>
              <a:rPr lang="en-US" dirty="0"/>
              <a:t>Production systems don't just call the model once. They wrap the inference loop with layers of tooling: system prompts, conversation management, caching, retrieval, function calling, and safety filters.</a:t>
            </a:r>
          </a:p>
          <a:p>
            <a:r>
              <a:rPr lang="en-US" dirty="0"/>
              <a:t>The next several slides cover each of these building blocks.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prompt is the invisible foundation of almost every AI product you've used.</a:t>
            </a:r>
          </a:p>
          <a:p>
            <a:r>
              <a:rPr lang="en-US" dirty="0"/>
              <a:t>It's a fixed block of text injected before the user's message. The user never sees it. It tells the model who it is, what it can and can't do, and how to behave.</a:t>
            </a:r>
          </a:p>
          <a:p>
            <a:r>
              <a:rPr lang="en-US" dirty="0"/>
              <a:t>From the model's perspective, there's no special "system" — it's just text that appears first in the context. But models are trained to treat it with authority. It's the product builder's primary tool for shaping behaviour.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models don't have conversational memory. They have no state between calls.</a:t>
            </a:r>
          </a:p>
          <a:p>
            <a:r>
              <a:rPr lang="en-US" dirty="0"/>
              <a:t>What appears to be a conversation is actually the application sending the full history — every user message and every assistant reply — as one concatenated prompt on every turn. The model reads it all from scratch each time.</a:t>
            </a:r>
          </a:p>
          <a:p>
            <a:r>
              <a:rPr lang="en-US" dirty="0"/>
              <a:t>This is why context windows matter. A 200,000-token context window means the model can "remember" a very long conversation — because the application can fit all of it into one prompt.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Processing tokens is computationally expensive. The KV cache avoids redoing that work.</a:t>
            </a:r>
          </a:p>
          <a:p>
            <a:r>
              <a:rPr lang="en-US" dirty="0"/>
              <a:t>When the model processes a prompt, it generates key-value pairs for each token — intermediate computations used in the attention mechanism. These can be stored and reused on the next turn.</a:t>
            </a:r>
          </a:p>
          <a:p>
            <a:r>
              <a:rPr lang="en-US" dirty="0"/>
              <a:t>Instead of reprocessing the entire conversation history on every message, the model only processes the new tokens. For long conversations this is a major speed and cost saving. Most cloud APIs manage this automatically.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solves the knowledge cutoff problem. Models are trained on data up to a certain date, and they know nothing about what happened after — or about your private documents.</a:t>
            </a:r>
          </a:p>
          <a:p>
            <a:r>
              <a:rPr lang="en-US" dirty="0"/>
              <a:t>The application retrieves relevant information from an external source — a database, a document store, a search engine — and injects it into the prompt as plain text before calling the model.</a:t>
            </a:r>
          </a:p>
          <a:p>
            <a:r>
              <a:rPr lang="en-US" dirty="0"/>
              <a:t>The model doesn't "know" this information. It reads it in the context window and reasons about it, just like a human reading a reference document before answering a question. Vector databases are often used for semantic retrieval, but the injection is always plain text.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calling turns the model from a text predictor into an agent.</a:t>
            </a:r>
          </a:p>
          <a:p>
            <a:r>
              <a:rPr lang="en-US" dirty="0"/>
              <a:t>The application describes available functions in the system prompt. When the model determines it needs external data to answer, it responds with a structured call — not natural language — that the application can parse and execute.</a:t>
            </a:r>
          </a:p>
          <a:p>
            <a:r>
              <a:rPr lang="en-US" dirty="0"/>
              <a:t>The application runs the function, injects the result back into the context, and resumes generation. The user might see only the final answer, with no indication that a tool was called mid-generation.</a:t>
            </a:r>
          </a:p>
          <a:p>
            <a:r>
              <a:rPr lang="en-US" dirty="0"/>
              <a:t>MCP standardises how tools are described and called, especially when tools live in external processes.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layer before output reaches the user is the response filter.</a:t>
            </a:r>
          </a:p>
          <a:p>
            <a:r>
              <a:rPr lang="en-US" dirty="0"/>
              <a:t>Even well-aligned models can produce unexpected output. Production systems add a safety net — static rules for obvious patterns, ML classifiers trained on harmful content, or even a second LLM reviewing the first model's response.</a:t>
            </a:r>
          </a:p>
          <a:p>
            <a:r>
              <a:rPr lang="en-US" dirty="0"/>
              <a:t>The filter sits between the model and the user. It can block, modify, or flag responses. This is one reason why model behaviour in a product often differs from what you see when you call the API directly.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the complete pipeline.</a:t>
            </a:r>
          </a:p>
          <a:p>
            <a:r>
              <a:rPr lang="en-US" dirty="0"/>
              <a:t>We've gone from a raw text prompt all the way through tokenization, embedding, 96 stacked transformer layers, logit scoring, softmax, filtering, sampling — and then the loop that repeats until a complete response is assembled.</a:t>
            </a:r>
          </a:p>
          <a:p>
            <a:r>
              <a:rPr lang="en-US" dirty="0"/>
              <a:t>On top of that loop, real products add system prompts, conversation history, KV caching, RAG, function calling, and safety filters.</a:t>
            </a:r>
          </a:p>
          <a:p>
            <a:r>
              <a:rPr lang="en-US" dirty="0"/>
              <a:t>Every time you see a token appear on screen, this entire sequence happened — in milliseconds.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685CA-A288-1714-5390-9D4781601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1BE3B-332F-622D-0752-E4DC5CCD19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B961B-3D7C-0233-29CC-A4F951FE2131}"/>
              </a:ext>
            </a:extLst>
          </p:cNvPr>
          <p:cNvSpPr>
            <a:spLocks noGrp="1"/>
          </p:cNvSpPr>
          <p:nvPr>
            <p:ph type="body" idx="1"/>
          </p:nvPr>
        </p:nvSpPr>
        <p:spPr/>
        <p:txBody>
          <a:bodyPr/>
          <a:lstStyle/>
          <a:p>
            <a:r>
              <a:rPr lang="en-US" dirty="0"/>
              <a:t>The appendix goes deeper on embeddings — one of the most elegant ideas in modern AI.</a:t>
            </a:r>
          </a:p>
          <a:p>
            <a:r>
              <a:rPr lang="en-US" dirty="0"/>
              <a:t>If you want to build intuition for why language models work at all, the embedding geometry is the best place to start.</a:t>
            </a:r>
          </a:p>
        </p:txBody>
      </p:sp>
      <p:sp>
        <p:nvSpPr>
          <p:cNvPr id="4" name="Slide Number Placeholder 3">
            <a:extLst>
              <a:ext uri="{FF2B5EF4-FFF2-40B4-BE49-F238E27FC236}">
                <a16:creationId xmlns:a16="http://schemas.microsoft.com/office/drawing/2014/main" id="{CF0E74E2-6097-F962-85DB-CAB50967C2C5}"/>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993899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Embeddings place every token at a fixed coordinate in a high-dimensional space.</a:t>
            </a:r>
          </a:p>
          <a:p>
            <a:r>
              <a:rPr lang="en-US" dirty="0"/>
              <a:t>Words with similar meanings end up near each other — not because anyone labelled them as similar, but because the model learned from billions of sentences that these words appear in similar contexts.</a:t>
            </a:r>
          </a:p>
          <a:p>
            <a:r>
              <a:rPr lang="en-US" dirty="0"/>
              <a:t>Distance encodes meaning. This is the foundation of semantic search, recommendation systems, and the attention mechanism itself.</a:t>
            </a: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 name="Google Shape;4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Here's where it gets remarkable. You can do arithmetic on meaning.</a:t>
            </a:r>
          </a:p>
          <a:p>
            <a:r>
              <a:rPr lang="en-US" dirty="0"/>
              <a:t>King minus man gives you a vector — a direction in the embedding space. That direction captures the concept of "royalty" — what makes king different from man — without anyone ever defining what royalty is.</a:t>
            </a:r>
          </a:p>
          <a:p>
            <a:r>
              <a:rPr lang="en-US" dirty="0"/>
              <a:t>This direction was discovered from data alone. It's an emergent property of training on large text corpora.</a:t>
            </a:r>
          </a:p>
        </p:txBody>
      </p:sp>
      <p:sp>
        <p:nvSpPr>
          <p:cNvPr id="44" name="Google Shape;4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Applying that royalty vector to woman lands at queen.</a:t>
            </a:r>
          </a:p>
          <a:p>
            <a:r>
              <a:rPr lang="en-US" dirty="0"/>
              <a:t>This isn't a trick or a special case — the geometry holds across hundreds of analogies. "Paris minus France plus Italy equals Rome." "Doctor minus man plus woman equals nurse." The relationships emerge from the structure of language itself.</a:t>
            </a:r>
          </a:p>
          <a:p>
            <a:r>
              <a:rPr lang="en-US" dirty="0"/>
              <a:t>This is why embeddings are so powerful: they don't just store words, they encode the relationships between concepts. And those relationships are what the attention mechanism exploits at every layer of the transformer.</a:t>
            </a:r>
          </a:p>
        </p:txBody>
      </p:sp>
      <p:sp>
        <p:nvSpPr>
          <p:cNvPr id="79" name="Google Shape;7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txBody>
          <a:bodyPr/>
          <a:lstStyle/>
          <a:p>
            <a:endParaRPr lang="es-ES"/>
          </a:p>
        </p:txBody>
      </p:sp>
      <p:sp>
        <p:nvSpPr>
          <p:cNvPr id="3" name="Text 1"/>
          <p:cNvSpPr/>
          <p:nvPr/>
        </p:nvSpPr>
        <p:spPr>
          <a:xfrm>
            <a:off x="411480" y="1463040"/>
            <a:ext cx="8321040" cy="1371600"/>
          </a:xfrm>
          <a:prstGeom prst="rect">
            <a:avLst/>
          </a:prstGeom>
          <a:noFill/>
          <a:ln/>
        </p:spPr>
        <p:txBody>
          <a:bodyPr wrap="square"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How LLM Inference Works</a:t>
            </a:r>
            <a:endParaRPr lang="en-US" sz="4000" dirty="0"/>
          </a:p>
        </p:txBody>
      </p:sp>
      <p:sp>
        <p:nvSpPr>
          <p:cNvPr id="4" name="Text 2"/>
          <p:cNvSpPr/>
          <p:nvPr/>
        </p:nvSpPr>
        <p:spPr>
          <a:xfrm>
            <a:off x="411480" y="2926080"/>
            <a:ext cx="8321040" cy="731520"/>
          </a:xfrm>
          <a:prstGeom prst="rect">
            <a:avLst/>
          </a:prstGeom>
          <a:noFill/>
          <a:ln/>
        </p:spPr>
        <p:txBody>
          <a:bodyPr wrap="square" rtlCol="0" anchor="ctr"/>
          <a:lstStyle/>
          <a:p>
            <a:pPr marL="0" indent="0">
              <a:buNone/>
            </a:pPr>
            <a:r>
              <a:rPr lang="en-US" sz="1800" i="1" dirty="0">
                <a:solidFill>
                  <a:srgbClr val="CCEDE9"/>
                </a:solidFill>
                <a:latin typeface="Calibri" pitchFamily="34" charset="0"/>
                <a:ea typeface="Calibri" pitchFamily="34" charset="-122"/>
                <a:cs typeface="Calibri" pitchFamily="34" charset="-120"/>
              </a:rPr>
              <a:t>A step-by-step walkthrough — from prompt to token</a:t>
            </a:r>
            <a:endParaRPr lang="en-US" sz="1800" dirty="0"/>
          </a:p>
        </p:txBody>
      </p:sp>
      <p:sp>
        <p:nvSpPr>
          <p:cNvPr id="5" name="Text 3"/>
          <p:cNvSpPr/>
          <p:nvPr/>
        </p:nvSpPr>
        <p:spPr>
          <a:xfrm>
            <a:off x="411480" y="3840480"/>
            <a:ext cx="8321040" cy="457200"/>
          </a:xfrm>
          <a:prstGeom prst="rect">
            <a:avLst/>
          </a:prstGeom>
          <a:noFill/>
          <a:ln/>
        </p:spPr>
        <p:txBody>
          <a:bodyPr wrap="square" rtlCol="0" anchor="ctr"/>
          <a:lstStyle/>
          <a:p>
            <a:pPr marL="0" indent="0">
              <a:buNone/>
            </a:pPr>
            <a:r>
              <a:rPr lang="en-US" sz="1400" i="1" dirty="0">
                <a:solidFill>
                  <a:srgbClr val="CCEDE9"/>
                </a:solidFill>
                <a:latin typeface="Calibri" pitchFamily="34" charset="0"/>
                <a:ea typeface="Calibri" pitchFamily="34" charset="-122"/>
                <a:cs typeface="Calibri" pitchFamily="34" charset="-120"/>
              </a:rPr>
              <a:t>Example prompt: "In Martorell the sunset is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Text 1"/>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The Big Picture</a:t>
            </a:r>
            <a:endParaRPr lang="en-US" sz="2000" dirty="0"/>
          </a:p>
        </p:txBody>
      </p:sp>
      <p:sp>
        <p:nvSpPr>
          <p:cNvPr id="4" name="Shape 2"/>
          <p:cNvSpPr/>
          <p:nvPr/>
        </p:nvSpPr>
        <p:spPr>
          <a:xfrm>
            <a:off x="256032" y="1371600"/>
            <a:ext cx="1078992" cy="914400"/>
          </a:xfrm>
          <a:prstGeom prst="rect">
            <a:avLst/>
          </a:prstGeom>
          <a:solidFill>
            <a:srgbClr val="1B2A4A"/>
          </a:solidFill>
          <a:ln w="12700">
            <a:solidFill>
              <a:srgbClr val="1B2A4A"/>
            </a:solidFill>
            <a:prstDash val="solid"/>
          </a:ln>
          <a:effectLst>
            <a:outerShdw blurRad="50800" dist="25400" dir="8100000" algn="bl" rotWithShape="0">
              <a:srgbClr val="000000">
                <a:alpha val="15000"/>
              </a:srgbClr>
            </a:outerShdw>
          </a:effectLst>
        </p:spPr>
        <p:txBody>
          <a:bodyPr/>
          <a:lstStyle/>
          <a:p>
            <a:endParaRPr lang="es-ES"/>
          </a:p>
        </p:txBody>
      </p:sp>
      <p:sp>
        <p:nvSpPr>
          <p:cNvPr id="5" name="Text 3"/>
          <p:cNvSpPr/>
          <p:nvPr/>
        </p:nvSpPr>
        <p:spPr>
          <a:xfrm>
            <a:off x="256032" y="1408176"/>
            <a:ext cx="1078992" cy="256032"/>
          </a:xfrm>
          <a:prstGeom prst="rect">
            <a:avLst/>
          </a:prstGeom>
          <a:noFill/>
          <a:ln/>
        </p:spPr>
        <p:txBody>
          <a:bodyPr wrap="square" lIns="0" tIns="0" rIns="0" bIns="0" rtlCol="0" anchor="ctr"/>
          <a:lstStyle/>
          <a:p>
            <a:pPr marL="0" indent="0" algn="ctr">
              <a:buNone/>
            </a:pPr>
            <a:r>
              <a:rPr lang="en-US" sz="1400" b="1" dirty="0">
                <a:solidFill>
                  <a:srgbClr val="0D9488"/>
                </a:solidFill>
                <a:latin typeface="Trebuchet MS" pitchFamily="34" charset="0"/>
                <a:ea typeface="Trebuchet MS" pitchFamily="34" charset="-122"/>
                <a:cs typeface="Trebuchet MS" pitchFamily="34" charset="-120"/>
              </a:rPr>
              <a:t>1</a:t>
            </a:r>
            <a:endParaRPr lang="en-US" sz="1400" dirty="0"/>
          </a:p>
        </p:txBody>
      </p:sp>
      <p:sp>
        <p:nvSpPr>
          <p:cNvPr id="6" name="Text 4"/>
          <p:cNvSpPr/>
          <p:nvPr/>
        </p:nvSpPr>
        <p:spPr>
          <a:xfrm>
            <a:off x="256032" y="1645920"/>
            <a:ext cx="1078992" cy="5943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Tokenization</a:t>
            </a:r>
            <a:endParaRPr lang="en-US" sz="1050" dirty="0"/>
          </a:p>
        </p:txBody>
      </p:sp>
      <p:sp>
        <p:nvSpPr>
          <p:cNvPr id="7" name="Shape 5"/>
          <p:cNvSpPr/>
          <p:nvPr/>
        </p:nvSpPr>
        <p:spPr>
          <a:xfrm>
            <a:off x="1335024" y="1828800"/>
            <a:ext cx="128016" cy="0"/>
          </a:xfrm>
          <a:prstGeom prst="line">
            <a:avLst/>
          </a:prstGeom>
          <a:noFill/>
          <a:ln w="19050">
            <a:solidFill>
              <a:srgbClr val="64748B"/>
            </a:solidFill>
            <a:prstDash val="solid"/>
          </a:ln>
        </p:spPr>
        <p:txBody>
          <a:bodyPr/>
          <a:lstStyle/>
          <a:p>
            <a:endParaRPr lang="es-ES"/>
          </a:p>
        </p:txBody>
      </p:sp>
      <p:sp>
        <p:nvSpPr>
          <p:cNvPr id="8" name="Shape 6"/>
          <p:cNvSpPr/>
          <p:nvPr/>
        </p:nvSpPr>
        <p:spPr>
          <a:xfrm>
            <a:off x="1463040" y="1371600"/>
            <a:ext cx="1078992" cy="914400"/>
          </a:xfrm>
          <a:prstGeom prst="rect">
            <a:avLst/>
          </a:prstGeom>
          <a:solidFill>
            <a:srgbClr val="1B2A4A"/>
          </a:solidFill>
          <a:ln w="12700">
            <a:solidFill>
              <a:srgbClr val="1B2A4A"/>
            </a:solidFill>
            <a:prstDash val="solid"/>
          </a:ln>
          <a:effectLst>
            <a:outerShdw blurRad="50800" dist="25400" dir="8100000" algn="bl" rotWithShape="0">
              <a:srgbClr val="000000">
                <a:alpha val="15000"/>
              </a:srgbClr>
            </a:outerShdw>
          </a:effectLst>
        </p:spPr>
        <p:txBody>
          <a:bodyPr/>
          <a:lstStyle/>
          <a:p>
            <a:endParaRPr lang="es-ES"/>
          </a:p>
        </p:txBody>
      </p:sp>
      <p:sp>
        <p:nvSpPr>
          <p:cNvPr id="9" name="Text 7"/>
          <p:cNvSpPr/>
          <p:nvPr/>
        </p:nvSpPr>
        <p:spPr>
          <a:xfrm>
            <a:off x="1463040" y="1408176"/>
            <a:ext cx="1078992" cy="256032"/>
          </a:xfrm>
          <a:prstGeom prst="rect">
            <a:avLst/>
          </a:prstGeom>
          <a:noFill/>
          <a:ln/>
        </p:spPr>
        <p:txBody>
          <a:bodyPr wrap="square" lIns="0" tIns="0" rIns="0" bIns="0" rtlCol="0" anchor="ctr"/>
          <a:lstStyle/>
          <a:p>
            <a:pPr marL="0" indent="0" algn="ctr">
              <a:buNone/>
            </a:pPr>
            <a:r>
              <a:rPr lang="en-US" sz="1400" b="1" dirty="0">
                <a:solidFill>
                  <a:srgbClr val="0D9488"/>
                </a:solidFill>
                <a:latin typeface="Trebuchet MS" pitchFamily="34" charset="0"/>
                <a:ea typeface="Trebuchet MS" pitchFamily="34" charset="-122"/>
                <a:cs typeface="Trebuchet MS" pitchFamily="34" charset="-120"/>
              </a:rPr>
              <a:t>2</a:t>
            </a:r>
            <a:endParaRPr lang="en-US" sz="1400" dirty="0"/>
          </a:p>
        </p:txBody>
      </p:sp>
      <p:sp>
        <p:nvSpPr>
          <p:cNvPr id="10" name="Text 8"/>
          <p:cNvSpPr/>
          <p:nvPr/>
        </p:nvSpPr>
        <p:spPr>
          <a:xfrm>
            <a:off x="1463040" y="1645920"/>
            <a:ext cx="1078992" cy="5943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Embedding</a:t>
            </a:r>
            <a:endParaRPr lang="en-US" sz="1050" dirty="0"/>
          </a:p>
        </p:txBody>
      </p:sp>
      <p:sp>
        <p:nvSpPr>
          <p:cNvPr id="11" name="Shape 9"/>
          <p:cNvSpPr/>
          <p:nvPr/>
        </p:nvSpPr>
        <p:spPr>
          <a:xfrm>
            <a:off x="2542032" y="1828800"/>
            <a:ext cx="128016" cy="0"/>
          </a:xfrm>
          <a:prstGeom prst="line">
            <a:avLst/>
          </a:prstGeom>
          <a:noFill/>
          <a:ln w="19050">
            <a:solidFill>
              <a:srgbClr val="64748B"/>
            </a:solidFill>
            <a:prstDash val="solid"/>
          </a:ln>
        </p:spPr>
        <p:txBody>
          <a:bodyPr/>
          <a:lstStyle/>
          <a:p>
            <a:endParaRPr lang="es-ES"/>
          </a:p>
        </p:txBody>
      </p:sp>
      <p:sp>
        <p:nvSpPr>
          <p:cNvPr id="12" name="Shape 10"/>
          <p:cNvSpPr/>
          <p:nvPr/>
        </p:nvSpPr>
        <p:spPr>
          <a:xfrm>
            <a:off x="2670048" y="1371600"/>
            <a:ext cx="1078992" cy="914400"/>
          </a:xfrm>
          <a:prstGeom prst="rect">
            <a:avLst/>
          </a:prstGeom>
          <a:solidFill>
            <a:srgbClr val="1B2A4A"/>
          </a:solidFill>
          <a:ln w="12700">
            <a:solidFill>
              <a:srgbClr val="1B2A4A"/>
            </a:solidFill>
            <a:prstDash val="solid"/>
          </a:ln>
          <a:effectLst>
            <a:outerShdw blurRad="50800" dist="25400" dir="8100000" algn="bl" rotWithShape="0">
              <a:srgbClr val="000000">
                <a:alpha val="15000"/>
              </a:srgbClr>
            </a:outerShdw>
          </a:effectLst>
        </p:spPr>
        <p:txBody>
          <a:bodyPr/>
          <a:lstStyle/>
          <a:p>
            <a:endParaRPr lang="es-ES"/>
          </a:p>
        </p:txBody>
      </p:sp>
      <p:sp>
        <p:nvSpPr>
          <p:cNvPr id="13" name="Text 11"/>
          <p:cNvSpPr/>
          <p:nvPr/>
        </p:nvSpPr>
        <p:spPr>
          <a:xfrm>
            <a:off x="2670048" y="1408176"/>
            <a:ext cx="1078992" cy="256032"/>
          </a:xfrm>
          <a:prstGeom prst="rect">
            <a:avLst/>
          </a:prstGeom>
          <a:noFill/>
          <a:ln/>
        </p:spPr>
        <p:txBody>
          <a:bodyPr wrap="square" lIns="0" tIns="0" rIns="0" bIns="0" rtlCol="0" anchor="ctr"/>
          <a:lstStyle/>
          <a:p>
            <a:pPr marL="0" indent="0" algn="ctr">
              <a:buNone/>
            </a:pPr>
            <a:r>
              <a:rPr lang="en-US" sz="1400" b="1" dirty="0">
                <a:solidFill>
                  <a:srgbClr val="0D9488"/>
                </a:solidFill>
                <a:latin typeface="Trebuchet MS" pitchFamily="34" charset="0"/>
                <a:ea typeface="Trebuchet MS" pitchFamily="34" charset="-122"/>
                <a:cs typeface="Trebuchet MS" pitchFamily="34" charset="-120"/>
              </a:rPr>
              <a:t>3</a:t>
            </a:r>
            <a:endParaRPr lang="en-US" sz="1400" dirty="0"/>
          </a:p>
        </p:txBody>
      </p:sp>
      <p:sp>
        <p:nvSpPr>
          <p:cNvPr id="14" name="Text 12"/>
          <p:cNvSpPr/>
          <p:nvPr/>
        </p:nvSpPr>
        <p:spPr>
          <a:xfrm>
            <a:off x="2670048" y="1645920"/>
            <a:ext cx="1078992" cy="5943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Transformer</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Layers</a:t>
            </a:r>
            <a:endParaRPr lang="en-US" sz="1050" dirty="0"/>
          </a:p>
        </p:txBody>
      </p:sp>
      <p:sp>
        <p:nvSpPr>
          <p:cNvPr id="15" name="Shape 13"/>
          <p:cNvSpPr/>
          <p:nvPr/>
        </p:nvSpPr>
        <p:spPr>
          <a:xfrm>
            <a:off x="3749040" y="1828800"/>
            <a:ext cx="128016" cy="0"/>
          </a:xfrm>
          <a:prstGeom prst="line">
            <a:avLst/>
          </a:prstGeom>
          <a:noFill/>
          <a:ln w="19050">
            <a:solidFill>
              <a:srgbClr val="64748B"/>
            </a:solidFill>
            <a:prstDash val="solid"/>
          </a:ln>
        </p:spPr>
        <p:txBody>
          <a:bodyPr/>
          <a:lstStyle/>
          <a:p>
            <a:endParaRPr lang="es-ES"/>
          </a:p>
        </p:txBody>
      </p:sp>
      <p:sp>
        <p:nvSpPr>
          <p:cNvPr id="16" name="Shape 14"/>
          <p:cNvSpPr/>
          <p:nvPr/>
        </p:nvSpPr>
        <p:spPr>
          <a:xfrm>
            <a:off x="3877056" y="1371600"/>
            <a:ext cx="1078992" cy="914400"/>
          </a:xfrm>
          <a:prstGeom prst="rect">
            <a:avLst/>
          </a:prstGeom>
          <a:solidFill>
            <a:srgbClr val="1B2A4A"/>
          </a:solidFill>
          <a:ln w="12700">
            <a:solidFill>
              <a:srgbClr val="1B2A4A"/>
            </a:solidFill>
            <a:prstDash val="solid"/>
          </a:ln>
          <a:effectLst>
            <a:outerShdw blurRad="50800" dist="25400" dir="8100000" algn="bl" rotWithShape="0">
              <a:srgbClr val="000000">
                <a:alpha val="15000"/>
              </a:srgbClr>
            </a:outerShdw>
          </a:effectLst>
        </p:spPr>
        <p:txBody>
          <a:bodyPr/>
          <a:lstStyle/>
          <a:p>
            <a:endParaRPr lang="es-ES"/>
          </a:p>
        </p:txBody>
      </p:sp>
      <p:sp>
        <p:nvSpPr>
          <p:cNvPr id="17" name="Text 15"/>
          <p:cNvSpPr/>
          <p:nvPr/>
        </p:nvSpPr>
        <p:spPr>
          <a:xfrm>
            <a:off x="3877056" y="1408176"/>
            <a:ext cx="1078992" cy="256032"/>
          </a:xfrm>
          <a:prstGeom prst="rect">
            <a:avLst/>
          </a:prstGeom>
          <a:noFill/>
          <a:ln/>
        </p:spPr>
        <p:txBody>
          <a:bodyPr wrap="square" lIns="0" tIns="0" rIns="0" bIns="0" rtlCol="0" anchor="ctr"/>
          <a:lstStyle/>
          <a:p>
            <a:pPr marL="0" indent="0" algn="ctr">
              <a:buNone/>
            </a:pPr>
            <a:r>
              <a:rPr lang="en-US" sz="1400" b="1" dirty="0">
                <a:solidFill>
                  <a:srgbClr val="0D9488"/>
                </a:solidFill>
                <a:latin typeface="Trebuchet MS" pitchFamily="34" charset="0"/>
                <a:ea typeface="Trebuchet MS" pitchFamily="34" charset="-122"/>
                <a:cs typeface="Trebuchet MS" pitchFamily="34" charset="-120"/>
              </a:rPr>
              <a:t>4</a:t>
            </a:r>
            <a:endParaRPr lang="en-US" sz="1400" dirty="0"/>
          </a:p>
        </p:txBody>
      </p:sp>
      <p:sp>
        <p:nvSpPr>
          <p:cNvPr id="18" name="Text 16"/>
          <p:cNvSpPr/>
          <p:nvPr/>
        </p:nvSpPr>
        <p:spPr>
          <a:xfrm>
            <a:off x="3877056" y="1645920"/>
            <a:ext cx="1078992" cy="5943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Output</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Candidates</a:t>
            </a:r>
            <a:endParaRPr lang="en-US" sz="1050" dirty="0"/>
          </a:p>
        </p:txBody>
      </p:sp>
      <p:sp>
        <p:nvSpPr>
          <p:cNvPr id="19" name="Shape 17"/>
          <p:cNvSpPr/>
          <p:nvPr/>
        </p:nvSpPr>
        <p:spPr>
          <a:xfrm>
            <a:off x="4956048" y="1828800"/>
            <a:ext cx="128016" cy="0"/>
          </a:xfrm>
          <a:prstGeom prst="line">
            <a:avLst/>
          </a:prstGeom>
          <a:noFill/>
          <a:ln w="19050">
            <a:solidFill>
              <a:srgbClr val="64748B"/>
            </a:solidFill>
            <a:prstDash val="solid"/>
          </a:ln>
        </p:spPr>
        <p:txBody>
          <a:bodyPr/>
          <a:lstStyle/>
          <a:p>
            <a:endParaRPr lang="es-ES"/>
          </a:p>
        </p:txBody>
      </p:sp>
      <p:sp>
        <p:nvSpPr>
          <p:cNvPr id="20" name="Shape 18"/>
          <p:cNvSpPr/>
          <p:nvPr/>
        </p:nvSpPr>
        <p:spPr>
          <a:xfrm>
            <a:off x="5084064" y="1371600"/>
            <a:ext cx="1078992" cy="914400"/>
          </a:xfrm>
          <a:prstGeom prst="rect">
            <a:avLst/>
          </a:prstGeom>
          <a:solidFill>
            <a:srgbClr val="0D9488"/>
          </a:solidFill>
          <a:ln w="12700">
            <a:solidFill>
              <a:srgbClr val="0D9488"/>
            </a:solidFill>
            <a:prstDash val="solid"/>
          </a:ln>
          <a:effectLst>
            <a:outerShdw blurRad="50800" dist="25400" dir="8100000" algn="bl" rotWithShape="0">
              <a:srgbClr val="000000">
                <a:alpha val="15000"/>
              </a:srgbClr>
            </a:outerShdw>
          </a:effectLst>
        </p:spPr>
        <p:txBody>
          <a:bodyPr/>
          <a:lstStyle/>
          <a:p>
            <a:endParaRPr lang="es-ES"/>
          </a:p>
        </p:txBody>
      </p:sp>
      <p:sp>
        <p:nvSpPr>
          <p:cNvPr id="21" name="Text 19"/>
          <p:cNvSpPr/>
          <p:nvPr/>
        </p:nvSpPr>
        <p:spPr>
          <a:xfrm>
            <a:off x="5084064" y="1408176"/>
            <a:ext cx="1078992" cy="256032"/>
          </a:xfrm>
          <a:prstGeom prst="rect">
            <a:avLst/>
          </a:prstGeom>
          <a:noFill/>
          <a:ln/>
        </p:spPr>
        <p:txBody>
          <a:bodyPr wrap="square" lIns="0" tIns="0" rIns="0" bIns="0" rtlCol="0" anchor="ctr"/>
          <a:lstStyle/>
          <a:p>
            <a:pPr marL="0" indent="0" algn="ctr">
              <a:buNone/>
            </a:pPr>
            <a:r>
              <a:rPr lang="en-US" sz="1400" b="1" dirty="0">
                <a:solidFill>
                  <a:srgbClr val="1B2A4A"/>
                </a:solidFill>
                <a:latin typeface="Trebuchet MS" pitchFamily="34" charset="0"/>
                <a:ea typeface="Trebuchet MS" pitchFamily="34" charset="-122"/>
                <a:cs typeface="Trebuchet MS" pitchFamily="34" charset="-120"/>
              </a:rPr>
              <a:t>5</a:t>
            </a:r>
            <a:endParaRPr lang="en-US" sz="1400" dirty="0"/>
          </a:p>
        </p:txBody>
      </p:sp>
      <p:sp>
        <p:nvSpPr>
          <p:cNvPr id="22" name="Text 20"/>
          <p:cNvSpPr/>
          <p:nvPr/>
        </p:nvSpPr>
        <p:spPr>
          <a:xfrm>
            <a:off x="5084064" y="1645920"/>
            <a:ext cx="1078992" cy="5943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Softmax +</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Temperature</a:t>
            </a:r>
            <a:endParaRPr lang="en-US" sz="1050" dirty="0"/>
          </a:p>
        </p:txBody>
      </p:sp>
      <p:sp>
        <p:nvSpPr>
          <p:cNvPr id="23" name="Shape 21"/>
          <p:cNvSpPr/>
          <p:nvPr/>
        </p:nvSpPr>
        <p:spPr>
          <a:xfrm>
            <a:off x="6163056" y="1828800"/>
            <a:ext cx="128016" cy="0"/>
          </a:xfrm>
          <a:prstGeom prst="line">
            <a:avLst/>
          </a:prstGeom>
          <a:noFill/>
          <a:ln w="19050">
            <a:solidFill>
              <a:srgbClr val="64748B"/>
            </a:solidFill>
            <a:prstDash val="solid"/>
          </a:ln>
        </p:spPr>
        <p:txBody>
          <a:bodyPr/>
          <a:lstStyle/>
          <a:p>
            <a:endParaRPr lang="es-ES"/>
          </a:p>
        </p:txBody>
      </p:sp>
      <p:sp>
        <p:nvSpPr>
          <p:cNvPr id="24" name="Shape 22"/>
          <p:cNvSpPr/>
          <p:nvPr/>
        </p:nvSpPr>
        <p:spPr>
          <a:xfrm>
            <a:off x="6291072" y="1371600"/>
            <a:ext cx="1078992" cy="914400"/>
          </a:xfrm>
          <a:prstGeom prst="rect">
            <a:avLst/>
          </a:prstGeom>
          <a:solidFill>
            <a:srgbClr val="0D9488"/>
          </a:solidFill>
          <a:ln w="12700">
            <a:solidFill>
              <a:srgbClr val="0D9488"/>
            </a:solidFill>
            <a:prstDash val="solid"/>
          </a:ln>
          <a:effectLst>
            <a:outerShdw blurRad="50800" dist="25400" dir="8100000" algn="bl" rotWithShape="0">
              <a:srgbClr val="000000">
                <a:alpha val="15000"/>
              </a:srgbClr>
            </a:outerShdw>
          </a:effectLst>
        </p:spPr>
        <p:txBody>
          <a:bodyPr/>
          <a:lstStyle/>
          <a:p>
            <a:endParaRPr lang="es-ES"/>
          </a:p>
        </p:txBody>
      </p:sp>
      <p:sp>
        <p:nvSpPr>
          <p:cNvPr id="25" name="Text 23"/>
          <p:cNvSpPr/>
          <p:nvPr/>
        </p:nvSpPr>
        <p:spPr>
          <a:xfrm>
            <a:off x="6291072" y="1408176"/>
            <a:ext cx="1078992" cy="256032"/>
          </a:xfrm>
          <a:prstGeom prst="rect">
            <a:avLst/>
          </a:prstGeom>
          <a:noFill/>
          <a:ln/>
        </p:spPr>
        <p:txBody>
          <a:bodyPr wrap="square" lIns="0" tIns="0" rIns="0" bIns="0" rtlCol="0" anchor="ctr"/>
          <a:lstStyle/>
          <a:p>
            <a:pPr marL="0" indent="0" algn="ctr">
              <a:buNone/>
            </a:pPr>
            <a:r>
              <a:rPr lang="en-US" sz="1400" b="1" dirty="0">
                <a:solidFill>
                  <a:srgbClr val="1B2A4A"/>
                </a:solidFill>
                <a:latin typeface="Trebuchet MS" pitchFamily="34" charset="0"/>
                <a:ea typeface="Trebuchet MS" pitchFamily="34" charset="-122"/>
                <a:cs typeface="Trebuchet MS" pitchFamily="34" charset="-120"/>
              </a:rPr>
              <a:t>6</a:t>
            </a:r>
            <a:endParaRPr lang="en-US" sz="1400" dirty="0"/>
          </a:p>
        </p:txBody>
      </p:sp>
      <p:sp>
        <p:nvSpPr>
          <p:cNvPr id="26" name="Text 24"/>
          <p:cNvSpPr/>
          <p:nvPr/>
        </p:nvSpPr>
        <p:spPr>
          <a:xfrm>
            <a:off x="6291072" y="1645920"/>
            <a:ext cx="1078992" cy="5943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top-k / top-p</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Filtering</a:t>
            </a:r>
            <a:endParaRPr lang="en-US" sz="1050" dirty="0"/>
          </a:p>
        </p:txBody>
      </p:sp>
      <p:sp>
        <p:nvSpPr>
          <p:cNvPr id="27" name="Shape 25"/>
          <p:cNvSpPr/>
          <p:nvPr/>
        </p:nvSpPr>
        <p:spPr>
          <a:xfrm>
            <a:off x="7370064" y="1828800"/>
            <a:ext cx="128016" cy="0"/>
          </a:xfrm>
          <a:prstGeom prst="line">
            <a:avLst/>
          </a:prstGeom>
          <a:noFill/>
          <a:ln w="19050">
            <a:solidFill>
              <a:srgbClr val="64748B"/>
            </a:solidFill>
            <a:prstDash val="solid"/>
          </a:ln>
        </p:spPr>
        <p:txBody>
          <a:bodyPr/>
          <a:lstStyle/>
          <a:p>
            <a:endParaRPr lang="es-ES"/>
          </a:p>
        </p:txBody>
      </p:sp>
      <p:sp>
        <p:nvSpPr>
          <p:cNvPr id="28" name="Shape 26"/>
          <p:cNvSpPr/>
          <p:nvPr/>
        </p:nvSpPr>
        <p:spPr>
          <a:xfrm>
            <a:off x="7498080" y="1371600"/>
            <a:ext cx="1078992" cy="914400"/>
          </a:xfrm>
          <a:prstGeom prst="rect">
            <a:avLst/>
          </a:prstGeom>
          <a:solidFill>
            <a:srgbClr val="0D9488"/>
          </a:solidFill>
          <a:ln w="12700">
            <a:solidFill>
              <a:srgbClr val="0D9488"/>
            </a:solidFill>
            <a:prstDash val="solid"/>
          </a:ln>
          <a:effectLst>
            <a:outerShdw blurRad="50800" dist="25400" dir="8100000" algn="bl" rotWithShape="0">
              <a:srgbClr val="000000">
                <a:alpha val="15000"/>
              </a:srgbClr>
            </a:outerShdw>
          </a:effectLst>
        </p:spPr>
        <p:txBody>
          <a:bodyPr/>
          <a:lstStyle/>
          <a:p>
            <a:endParaRPr lang="es-ES"/>
          </a:p>
        </p:txBody>
      </p:sp>
      <p:sp>
        <p:nvSpPr>
          <p:cNvPr id="29" name="Text 27"/>
          <p:cNvSpPr/>
          <p:nvPr/>
        </p:nvSpPr>
        <p:spPr>
          <a:xfrm>
            <a:off x="7498080" y="1408176"/>
            <a:ext cx="1078992" cy="256032"/>
          </a:xfrm>
          <a:prstGeom prst="rect">
            <a:avLst/>
          </a:prstGeom>
          <a:noFill/>
          <a:ln/>
        </p:spPr>
        <p:txBody>
          <a:bodyPr wrap="square" lIns="0" tIns="0" rIns="0" bIns="0" rtlCol="0" anchor="ctr"/>
          <a:lstStyle/>
          <a:p>
            <a:pPr marL="0" indent="0" algn="ctr">
              <a:buNone/>
            </a:pPr>
            <a:r>
              <a:rPr lang="en-US" sz="1400" b="1" dirty="0">
                <a:solidFill>
                  <a:srgbClr val="1B2A4A"/>
                </a:solidFill>
                <a:latin typeface="Trebuchet MS" pitchFamily="34" charset="0"/>
                <a:ea typeface="Trebuchet MS" pitchFamily="34" charset="-122"/>
                <a:cs typeface="Trebuchet MS" pitchFamily="34" charset="-120"/>
              </a:rPr>
              <a:t>7</a:t>
            </a:r>
            <a:endParaRPr lang="en-US" sz="1400" dirty="0"/>
          </a:p>
        </p:txBody>
      </p:sp>
      <p:sp>
        <p:nvSpPr>
          <p:cNvPr id="30" name="Text 28"/>
          <p:cNvSpPr/>
          <p:nvPr/>
        </p:nvSpPr>
        <p:spPr>
          <a:xfrm>
            <a:off x="7498080" y="1645920"/>
            <a:ext cx="1078992" cy="5943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Sampling</a:t>
            </a:r>
            <a:endParaRPr lang="en-US" sz="1050" dirty="0"/>
          </a:p>
        </p:txBody>
      </p:sp>
      <p:sp>
        <p:nvSpPr>
          <p:cNvPr id="31" name="Shape 29"/>
          <p:cNvSpPr/>
          <p:nvPr/>
        </p:nvSpPr>
        <p:spPr>
          <a:xfrm>
            <a:off x="256032" y="2487168"/>
            <a:ext cx="4700016" cy="0"/>
          </a:xfrm>
          <a:prstGeom prst="line">
            <a:avLst/>
          </a:prstGeom>
          <a:noFill/>
          <a:ln w="12700">
            <a:solidFill>
              <a:srgbClr val="1B2A4A"/>
            </a:solidFill>
            <a:prstDash val="solid"/>
          </a:ln>
        </p:spPr>
        <p:txBody>
          <a:bodyPr/>
          <a:lstStyle/>
          <a:p>
            <a:endParaRPr lang="es-ES"/>
          </a:p>
        </p:txBody>
      </p:sp>
      <p:sp>
        <p:nvSpPr>
          <p:cNvPr id="32" name="Text 30"/>
          <p:cNvSpPr/>
          <p:nvPr/>
        </p:nvSpPr>
        <p:spPr>
          <a:xfrm>
            <a:off x="256032" y="2542032"/>
            <a:ext cx="4700016" cy="274320"/>
          </a:xfrm>
          <a:prstGeom prst="rect">
            <a:avLst/>
          </a:prstGeom>
          <a:noFill/>
          <a:ln/>
        </p:spPr>
        <p:txBody>
          <a:bodyPr wrap="square" rtlCol="0" anchor="ctr"/>
          <a:lstStyle/>
          <a:p>
            <a:pPr marL="0" indent="0" algn="ctr">
              <a:buNone/>
            </a:pPr>
            <a:r>
              <a:rPr lang="en-US" sz="1100" b="1" dirty="0">
                <a:solidFill>
                  <a:srgbClr val="1B2A4A"/>
                </a:solidFill>
                <a:latin typeface="Calibri" pitchFamily="34" charset="0"/>
                <a:ea typeface="Calibri" pitchFamily="34" charset="-122"/>
                <a:cs typeface="Calibri" pitchFamily="34" charset="-120"/>
              </a:rPr>
              <a:t>Inside the Model</a:t>
            </a:r>
            <a:endParaRPr lang="en-US" sz="1100" dirty="0"/>
          </a:p>
        </p:txBody>
      </p:sp>
      <p:sp>
        <p:nvSpPr>
          <p:cNvPr id="33" name="Shape 31"/>
          <p:cNvSpPr/>
          <p:nvPr/>
        </p:nvSpPr>
        <p:spPr>
          <a:xfrm>
            <a:off x="5084064" y="2487168"/>
            <a:ext cx="3493008" cy="0"/>
          </a:xfrm>
          <a:prstGeom prst="line">
            <a:avLst/>
          </a:prstGeom>
          <a:noFill/>
          <a:ln w="12700">
            <a:solidFill>
              <a:srgbClr val="0D9488"/>
            </a:solidFill>
            <a:prstDash val="solid"/>
          </a:ln>
        </p:spPr>
        <p:txBody>
          <a:bodyPr/>
          <a:lstStyle/>
          <a:p>
            <a:endParaRPr lang="es-ES"/>
          </a:p>
        </p:txBody>
      </p:sp>
      <p:sp>
        <p:nvSpPr>
          <p:cNvPr id="34" name="Text 32"/>
          <p:cNvSpPr/>
          <p:nvPr/>
        </p:nvSpPr>
        <p:spPr>
          <a:xfrm>
            <a:off x="5084064" y="2542032"/>
            <a:ext cx="3493008" cy="274320"/>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Inside the Inference Engine</a:t>
            </a:r>
            <a:endParaRPr lang="en-US" sz="1100" dirty="0"/>
          </a:p>
        </p:txBody>
      </p:sp>
      <p:sp>
        <p:nvSpPr>
          <p:cNvPr id="35" name="Text 33"/>
          <p:cNvSpPr/>
          <p:nvPr/>
        </p:nvSpPr>
        <p:spPr>
          <a:xfrm>
            <a:off x="365760" y="4206240"/>
            <a:ext cx="8412480" cy="548640"/>
          </a:xfrm>
          <a:prstGeom prst="rect">
            <a:avLst/>
          </a:prstGeom>
          <a:noFill/>
          <a:ln/>
        </p:spPr>
        <p:txBody>
          <a:bodyPr wrap="square" rtlCol="0" anchor="ctr"/>
          <a:lstStyle/>
          <a:p>
            <a:pPr marL="0" indent="0" algn="ctr">
              <a:buNone/>
            </a:pPr>
            <a:r>
              <a:rPr lang="en-US" sz="1300" i="1" dirty="0">
                <a:solidFill>
                  <a:srgbClr val="64748B"/>
                </a:solidFill>
                <a:latin typeface="Calibri" pitchFamily="34" charset="0"/>
                <a:ea typeface="Calibri" pitchFamily="34" charset="-122"/>
                <a:cs typeface="Calibri" pitchFamily="34" charset="-120"/>
              </a:rPr>
              <a:t>The model has no memory — the loop repeats, appending one token at a time, until end-of-sequence.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Shape 1"/>
          <p:cNvSpPr/>
          <p:nvPr/>
        </p:nvSpPr>
        <p:spPr>
          <a:xfrm>
            <a:off x="0" y="0"/>
            <a:ext cx="1280160" cy="658368"/>
          </a:xfrm>
          <a:prstGeom prst="rect">
            <a:avLst/>
          </a:prstGeom>
          <a:solidFill>
            <a:srgbClr val="0D9488"/>
          </a:solidFill>
          <a:ln w="12700">
            <a:solidFill>
              <a:srgbClr val="0D9488"/>
            </a:solidFill>
            <a:prstDash val="solid"/>
          </a:ln>
        </p:spPr>
        <p:txBody>
          <a:bodyPr/>
          <a:lstStyle/>
          <a:p>
            <a:endParaRPr lang="es-ES"/>
          </a:p>
        </p:txBody>
      </p:sp>
      <p:sp>
        <p:nvSpPr>
          <p:cNvPr id="4" name="Text 2"/>
          <p:cNvSpPr/>
          <p:nvPr/>
        </p:nvSpPr>
        <p:spPr>
          <a:xfrm>
            <a:off x="0" y="0"/>
            <a:ext cx="128016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Step 1</a:t>
            </a:r>
            <a:endParaRPr lang="en-US" sz="1300" dirty="0"/>
          </a:p>
        </p:txBody>
      </p:sp>
      <p:sp>
        <p:nvSpPr>
          <p:cNvPr id="5" name="Text 3"/>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Tokenization</a:t>
            </a:r>
            <a:endParaRPr lang="en-US" sz="2000" dirty="0"/>
          </a:p>
        </p:txBody>
      </p:sp>
      <p:sp>
        <p:nvSpPr>
          <p:cNvPr id="6" name="Text 4"/>
          <p:cNvSpPr/>
          <p:nvPr/>
        </p:nvSpPr>
        <p:spPr>
          <a:xfrm>
            <a:off x="457200" y="822960"/>
            <a:ext cx="8229600" cy="457200"/>
          </a:xfrm>
          <a:prstGeom prst="rect">
            <a:avLst/>
          </a:prstGeom>
          <a:noFill/>
          <a:ln/>
        </p:spPr>
        <p:txBody>
          <a:bodyPr wrap="square" rtlCol="0" anchor="ctr"/>
          <a:lstStyle/>
          <a:p>
            <a:pPr marL="0" indent="0">
              <a:buNone/>
            </a:pPr>
            <a:r>
              <a:rPr lang="en-US" sz="1600" dirty="0">
                <a:solidFill>
                  <a:srgbClr val="1E293B"/>
                </a:solidFill>
                <a:latin typeface="Calibri" pitchFamily="34" charset="0"/>
                <a:ea typeface="Calibri" pitchFamily="34" charset="-122"/>
                <a:cs typeface="Calibri" pitchFamily="34" charset="-120"/>
              </a:rPr>
              <a:t>The prompt is split into tokens — roughly words or word-pieces.</a:t>
            </a:r>
            <a:endParaRPr lang="en-US" sz="1600" dirty="0"/>
          </a:p>
        </p:txBody>
      </p:sp>
      <p:sp>
        <p:nvSpPr>
          <p:cNvPr id="7" name="Shape 5"/>
          <p:cNvSpPr/>
          <p:nvPr/>
        </p:nvSpPr>
        <p:spPr>
          <a:xfrm>
            <a:off x="640080" y="1508760"/>
            <a:ext cx="1280160" cy="777240"/>
          </a:xfrm>
          <a:prstGeom prst="rect">
            <a:avLst/>
          </a:prstGeom>
          <a:solidFill>
            <a:srgbClr val="1B2A4A"/>
          </a:solidFill>
          <a:ln w="25400">
            <a:solidFill>
              <a:srgbClr val="0D9488"/>
            </a:solidFill>
            <a:prstDash val="solid"/>
          </a:ln>
        </p:spPr>
        <p:txBody>
          <a:bodyPr/>
          <a:lstStyle/>
          <a:p>
            <a:endParaRPr lang="es-ES"/>
          </a:p>
        </p:txBody>
      </p:sp>
      <p:sp>
        <p:nvSpPr>
          <p:cNvPr id="8" name="Text 6"/>
          <p:cNvSpPr/>
          <p:nvPr/>
        </p:nvSpPr>
        <p:spPr>
          <a:xfrm>
            <a:off x="640080" y="1508760"/>
            <a:ext cx="128016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In</a:t>
            </a:r>
            <a:endParaRPr lang="en-US" sz="1800" dirty="0"/>
          </a:p>
        </p:txBody>
      </p:sp>
      <p:sp>
        <p:nvSpPr>
          <p:cNvPr id="9" name="Shape 7"/>
          <p:cNvSpPr/>
          <p:nvPr/>
        </p:nvSpPr>
        <p:spPr>
          <a:xfrm>
            <a:off x="1920240" y="1897380"/>
            <a:ext cx="256032" cy="0"/>
          </a:xfrm>
          <a:prstGeom prst="line">
            <a:avLst/>
          </a:prstGeom>
          <a:noFill/>
          <a:ln w="25400">
            <a:solidFill>
              <a:srgbClr val="0D9488"/>
            </a:solidFill>
            <a:prstDash val="solid"/>
          </a:ln>
        </p:spPr>
        <p:txBody>
          <a:bodyPr/>
          <a:lstStyle/>
          <a:p>
            <a:endParaRPr lang="es-ES"/>
          </a:p>
        </p:txBody>
      </p:sp>
      <p:sp>
        <p:nvSpPr>
          <p:cNvPr id="10" name="Shape 8"/>
          <p:cNvSpPr/>
          <p:nvPr/>
        </p:nvSpPr>
        <p:spPr>
          <a:xfrm>
            <a:off x="2176272" y="1508760"/>
            <a:ext cx="1280160" cy="777240"/>
          </a:xfrm>
          <a:prstGeom prst="rect">
            <a:avLst/>
          </a:prstGeom>
          <a:solidFill>
            <a:srgbClr val="1B2A4A"/>
          </a:solidFill>
          <a:ln w="25400">
            <a:solidFill>
              <a:srgbClr val="0D9488"/>
            </a:solidFill>
            <a:prstDash val="solid"/>
          </a:ln>
        </p:spPr>
        <p:txBody>
          <a:bodyPr/>
          <a:lstStyle/>
          <a:p>
            <a:endParaRPr lang="es-ES"/>
          </a:p>
        </p:txBody>
      </p:sp>
      <p:sp>
        <p:nvSpPr>
          <p:cNvPr id="11" name="Text 9"/>
          <p:cNvSpPr/>
          <p:nvPr/>
        </p:nvSpPr>
        <p:spPr>
          <a:xfrm>
            <a:off x="2176272" y="1508760"/>
            <a:ext cx="128016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Martorell</a:t>
            </a:r>
            <a:endParaRPr lang="en-US" sz="1800" dirty="0"/>
          </a:p>
        </p:txBody>
      </p:sp>
      <p:sp>
        <p:nvSpPr>
          <p:cNvPr id="12" name="Shape 10"/>
          <p:cNvSpPr/>
          <p:nvPr/>
        </p:nvSpPr>
        <p:spPr>
          <a:xfrm>
            <a:off x="3456432" y="1897380"/>
            <a:ext cx="256032" cy="0"/>
          </a:xfrm>
          <a:prstGeom prst="line">
            <a:avLst/>
          </a:prstGeom>
          <a:noFill/>
          <a:ln w="25400">
            <a:solidFill>
              <a:srgbClr val="0D9488"/>
            </a:solidFill>
            <a:prstDash val="solid"/>
          </a:ln>
        </p:spPr>
        <p:txBody>
          <a:bodyPr/>
          <a:lstStyle/>
          <a:p>
            <a:endParaRPr lang="es-ES"/>
          </a:p>
        </p:txBody>
      </p:sp>
      <p:sp>
        <p:nvSpPr>
          <p:cNvPr id="13" name="Shape 11"/>
          <p:cNvSpPr/>
          <p:nvPr/>
        </p:nvSpPr>
        <p:spPr>
          <a:xfrm>
            <a:off x="3712464" y="1508760"/>
            <a:ext cx="1280160" cy="777240"/>
          </a:xfrm>
          <a:prstGeom prst="rect">
            <a:avLst/>
          </a:prstGeom>
          <a:solidFill>
            <a:srgbClr val="1B2A4A"/>
          </a:solidFill>
          <a:ln w="25400">
            <a:solidFill>
              <a:srgbClr val="0D9488"/>
            </a:solidFill>
            <a:prstDash val="solid"/>
          </a:ln>
        </p:spPr>
        <p:txBody>
          <a:bodyPr/>
          <a:lstStyle/>
          <a:p>
            <a:endParaRPr lang="es-ES"/>
          </a:p>
        </p:txBody>
      </p:sp>
      <p:sp>
        <p:nvSpPr>
          <p:cNvPr id="14" name="Text 12"/>
          <p:cNvSpPr/>
          <p:nvPr/>
        </p:nvSpPr>
        <p:spPr>
          <a:xfrm>
            <a:off x="3712464" y="1508760"/>
            <a:ext cx="128016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the</a:t>
            </a:r>
            <a:endParaRPr lang="en-US" sz="1800" dirty="0"/>
          </a:p>
        </p:txBody>
      </p:sp>
      <p:sp>
        <p:nvSpPr>
          <p:cNvPr id="15" name="Shape 13"/>
          <p:cNvSpPr/>
          <p:nvPr/>
        </p:nvSpPr>
        <p:spPr>
          <a:xfrm>
            <a:off x="4992624" y="1897380"/>
            <a:ext cx="256032" cy="0"/>
          </a:xfrm>
          <a:prstGeom prst="line">
            <a:avLst/>
          </a:prstGeom>
          <a:noFill/>
          <a:ln w="25400">
            <a:solidFill>
              <a:srgbClr val="0D9488"/>
            </a:solidFill>
            <a:prstDash val="solid"/>
          </a:ln>
        </p:spPr>
        <p:txBody>
          <a:bodyPr/>
          <a:lstStyle/>
          <a:p>
            <a:endParaRPr lang="es-ES"/>
          </a:p>
        </p:txBody>
      </p:sp>
      <p:sp>
        <p:nvSpPr>
          <p:cNvPr id="16" name="Shape 14"/>
          <p:cNvSpPr/>
          <p:nvPr/>
        </p:nvSpPr>
        <p:spPr>
          <a:xfrm>
            <a:off x="5248656" y="1508760"/>
            <a:ext cx="1280160" cy="777240"/>
          </a:xfrm>
          <a:prstGeom prst="rect">
            <a:avLst/>
          </a:prstGeom>
          <a:solidFill>
            <a:srgbClr val="1B2A4A"/>
          </a:solidFill>
          <a:ln w="25400">
            <a:solidFill>
              <a:srgbClr val="0D9488"/>
            </a:solidFill>
            <a:prstDash val="solid"/>
          </a:ln>
        </p:spPr>
        <p:txBody>
          <a:bodyPr/>
          <a:lstStyle/>
          <a:p>
            <a:endParaRPr lang="es-ES"/>
          </a:p>
        </p:txBody>
      </p:sp>
      <p:sp>
        <p:nvSpPr>
          <p:cNvPr id="17" name="Text 15"/>
          <p:cNvSpPr/>
          <p:nvPr/>
        </p:nvSpPr>
        <p:spPr>
          <a:xfrm>
            <a:off x="5248656" y="1508760"/>
            <a:ext cx="128016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sunset</a:t>
            </a:r>
            <a:endParaRPr lang="en-US" sz="1800" dirty="0"/>
          </a:p>
        </p:txBody>
      </p:sp>
      <p:sp>
        <p:nvSpPr>
          <p:cNvPr id="18" name="Shape 16"/>
          <p:cNvSpPr/>
          <p:nvPr/>
        </p:nvSpPr>
        <p:spPr>
          <a:xfrm>
            <a:off x="6528816" y="1897380"/>
            <a:ext cx="256032" cy="0"/>
          </a:xfrm>
          <a:prstGeom prst="line">
            <a:avLst/>
          </a:prstGeom>
          <a:noFill/>
          <a:ln w="25400">
            <a:solidFill>
              <a:srgbClr val="0D9488"/>
            </a:solidFill>
            <a:prstDash val="solid"/>
          </a:ln>
        </p:spPr>
        <p:txBody>
          <a:bodyPr/>
          <a:lstStyle/>
          <a:p>
            <a:endParaRPr lang="es-ES"/>
          </a:p>
        </p:txBody>
      </p:sp>
      <p:sp>
        <p:nvSpPr>
          <p:cNvPr id="19" name="Shape 17"/>
          <p:cNvSpPr/>
          <p:nvPr/>
        </p:nvSpPr>
        <p:spPr>
          <a:xfrm>
            <a:off x="6784848" y="1508760"/>
            <a:ext cx="1280160" cy="777240"/>
          </a:xfrm>
          <a:prstGeom prst="rect">
            <a:avLst/>
          </a:prstGeom>
          <a:solidFill>
            <a:srgbClr val="1B2A4A"/>
          </a:solidFill>
          <a:ln w="25400">
            <a:solidFill>
              <a:srgbClr val="0D9488"/>
            </a:solidFill>
            <a:prstDash val="solid"/>
          </a:ln>
        </p:spPr>
        <p:txBody>
          <a:bodyPr/>
          <a:lstStyle/>
          <a:p>
            <a:endParaRPr lang="es-ES"/>
          </a:p>
        </p:txBody>
      </p:sp>
      <p:sp>
        <p:nvSpPr>
          <p:cNvPr id="20" name="Text 18"/>
          <p:cNvSpPr/>
          <p:nvPr/>
        </p:nvSpPr>
        <p:spPr>
          <a:xfrm>
            <a:off x="6784848" y="1508760"/>
            <a:ext cx="128016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is</a:t>
            </a:r>
            <a:endParaRPr lang="en-US" sz="1800" dirty="0"/>
          </a:p>
        </p:txBody>
      </p:sp>
      <p:sp>
        <p:nvSpPr>
          <p:cNvPr id="21" name="Text 19"/>
          <p:cNvSpPr/>
          <p:nvPr/>
        </p:nvSpPr>
        <p:spPr>
          <a:xfrm>
            <a:off x="457200" y="2487168"/>
            <a:ext cx="8229600" cy="41148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Each token will be processed independently through the rest of the pipeline.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Shape 1"/>
          <p:cNvSpPr/>
          <p:nvPr/>
        </p:nvSpPr>
        <p:spPr>
          <a:xfrm>
            <a:off x="0" y="0"/>
            <a:ext cx="1280160" cy="658368"/>
          </a:xfrm>
          <a:prstGeom prst="rect">
            <a:avLst/>
          </a:prstGeom>
          <a:solidFill>
            <a:srgbClr val="0D9488"/>
          </a:solidFill>
          <a:ln w="12700">
            <a:solidFill>
              <a:srgbClr val="0D9488"/>
            </a:solidFill>
            <a:prstDash val="solid"/>
          </a:ln>
        </p:spPr>
        <p:txBody>
          <a:bodyPr/>
          <a:lstStyle/>
          <a:p>
            <a:endParaRPr lang="es-ES"/>
          </a:p>
        </p:txBody>
      </p:sp>
      <p:sp>
        <p:nvSpPr>
          <p:cNvPr id="4" name="Text 2"/>
          <p:cNvSpPr/>
          <p:nvPr/>
        </p:nvSpPr>
        <p:spPr>
          <a:xfrm>
            <a:off x="0" y="0"/>
            <a:ext cx="128016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Step 2a</a:t>
            </a:r>
            <a:endParaRPr lang="en-US" sz="1300" dirty="0"/>
          </a:p>
        </p:txBody>
      </p:sp>
      <p:sp>
        <p:nvSpPr>
          <p:cNvPr id="5" name="Text 3"/>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Embedding — Visualising the Dimensions</a:t>
            </a:r>
            <a:endParaRPr lang="en-US" sz="2000" dirty="0"/>
          </a:p>
        </p:txBody>
      </p:sp>
      <p:sp>
        <p:nvSpPr>
          <p:cNvPr id="6" name="Text 4"/>
          <p:cNvSpPr/>
          <p:nvPr/>
        </p:nvSpPr>
        <p:spPr>
          <a:xfrm>
            <a:off x="515089" y="1086096"/>
            <a:ext cx="7863840" cy="347472"/>
          </a:xfrm>
          <a:prstGeom prst="rect">
            <a:avLst/>
          </a:prstGeom>
          <a:noFill/>
          <a:ln/>
        </p:spPr>
        <p:txBody>
          <a:bodyPr wrap="square"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Geography  (0 = not geographic  →  100 = highly geographic)</a:t>
            </a:r>
            <a:endParaRPr lang="en-US" sz="1200" dirty="0"/>
          </a:p>
        </p:txBody>
      </p:sp>
      <p:sp>
        <p:nvSpPr>
          <p:cNvPr id="7" name="Shape 5"/>
          <p:cNvSpPr/>
          <p:nvPr/>
        </p:nvSpPr>
        <p:spPr>
          <a:xfrm>
            <a:off x="640080" y="1941946"/>
            <a:ext cx="7863840" cy="0"/>
          </a:xfrm>
          <a:prstGeom prst="line">
            <a:avLst/>
          </a:prstGeom>
          <a:noFill/>
          <a:ln w="25400">
            <a:solidFill>
              <a:srgbClr val="1B2A4A"/>
            </a:solidFill>
            <a:prstDash val="solid"/>
          </a:ln>
        </p:spPr>
        <p:txBody>
          <a:bodyPr/>
          <a:lstStyle/>
          <a:p>
            <a:endParaRPr lang="es-ES"/>
          </a:p>
        </p:txBody>
      </p:sp>
      <p:sp>
        <p:nvSpPr>
          <p:cNvPr id="8" name="Shape 6"/>
          <p:cNvSpPr/>
          <p:nvPr/>
        </p:nvSpPr>
        <p:spPr>
          <a:xfrm>
            <a:off x="640080" y="1832218"/>
            <a:ext cx="0" cy="219456"/>
          </a:xfrm>
          <a:prstGeom prst="line">
            <a:avLst/>
          </a:prstGeom>
          <a:noFill/>
          <a:ln w="19050">
            <a:solidFill>
              <a:srgbClr val="1B2A4A"/>
            </a:solidFill>
            <a:prstDash val="solid"/>
          </a:ln>
        </p:spPr>
        <p:txBody>
          <a:bodyPr/>
          <a:lstStyle/>
          <a:p>
            <a:endParaRPr lang="es-ES"/>
          </a:p>
        </p:txBody>
      </p:sp>
      <p:sp>
        <p:nvSpPr>
          <p:cNvPr id="9" name="Text 7"/>
          <p:cNvSpPr/>
          <p:nvPr/>
        </p:nvSpPr>
        <p:spPr>
          <a:xfrm>
            <a:off x="384048" y="2051674"/>
            <a:ext cx="512064" cy="256032"/>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0</a:t>
            </a:r>
            <a:endParaRPr lang="en-US" sz="1100" dirty="0"/>
          </a:p>
        </p:txBody>
      </p:sp>
      <p:sp>
        <p:nvSpPr>
          <p:cNvPr id="10" name="Shape 8"/>
          <p:cNvSpPr/>
          <p:nvPr/>
        </p:nvSpPr>
        <p:spPr>
          <a:xfrm>
            <a:off x="8503920" y="1832218"/>
            <a:ext cx="0" cy="219456"/>
          </a:xfrm>
          <a:prstGeom prst="line">
            <a:avLst/>
          </a:prstGeom>
          <a:noFill/>
          <a:ln w="19050">
            <a:solidFill>
              <a:srgbClr val="1B2A4A"/>
            </a:solidFill>
            <a:prstDash val="solid"/>
          </a:ln>
        </p:spPr>
        <p:txBody>
          <a:bodyPr/>
          <a:lstStyle/>
          <a:p>
            <a:endParaRPr lang="es-ES"/>
          </a:p>
        </p:txBody>
      </p:sp>
      <p:sp>
        <p:nvSpPr>
          <p:cNvPr id="11" name="Text 9"/>
          <p:cNvSpPr/>
          <p:nvPr/>
        </p:nvSpPr>
        <p:spPr>
          <a:xfrm>
            <a:off x="8247888" y="2051674"/>
            <a:ext cx="512064" cy="256032"/>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100</a:t>
            </a:r>
            <a:endParaRPr lang="en-US" sz="1100" dirty="0"/>
          </a:p>
        </p:txBody>
      </p:sp>
      <p:sp>
        <p:nvSpPr>
          <p:cNvPr id="12" name="Shape 10"/>
          <p:cNvSpPr/>
          <p:nvPr/>
        </p:nvSpPr>
        <p:spPr>
          <a:xfrm>
            <a:off x="1269187" y="1777354"/>
            <a:ext cx="0" cy="329184"/>
          </a:xfrm>
          <a:prstGeom prst="line">
            <a:avLst/>
          </a:prstGeom>
          <a:noFill/>
          <a:ln w="31750">
            <a:solidFill>
              <a:srgbClr val="0D9488"/>
            </a:solidFill>
            <a:prstDash val="solid"/>
          </a:ln>
        </p:spPr>
        <p:txBody>
          <a:bodyPr/>
          <a:lstStyle/>
          <a:p>
            <a:endParaRPr lang="es-ES"/>
          </a:p>
        </p:txBody>
      </p:sp>
      <p:sp>
        <p:nvSpPr>
          <p:cNvPr id="13" name="Shape 11"/>
          <p:cNvSpPr/>
          <p:nvPr/>
        </p:nvSpPr>
        <p:spPr>
          <a:xfrm>
            <a:off x="1177747" y="1850506"/>
            <a:ext cx="182880" cy="182880"/>
          </a:xfrm>
          <a:prstGeom prst="ellipse">
            <a:avLst/>
          </a:prstGeom>
          <a:solidFill>
            <a:srgbClr val="0D9488"/>
          </a:solidFill>
          <a:ln w="12700">
            <a:solidFill>
              <a:srgbClr val="0D9488"/>
            </a:solidFill>
            <a:prstDash val="solid"/>
          </a:ln>
        </p:spPr>
        <p:txBody>
          <a:bodyPr/>
          <a:lstStyle/>
          <a:p>
            <a:endParaRPr lang="es-ES"/>
          </a:p>
        </p:txBody>
      </p:sp>
      <p:sp>
        <p:nvSpPr>
          <p:cNvPr id="14" name="Text 12"/>
          <p:cNvSpPr/>
          <p:nvPr/>
        </p:nvSpPr>
        <p:spPr>
          <a:xfrm>
            <a:off x="583387" y="1503034"/>
            <a:ext cx="1371600" cy="292608"/>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sunset  8</a:t>
            </a:r>
            <a:endParaRPr lang="en-US" sz="1100" dirty="0"/>
          </a:p>
        </p:txBody>
      </p:sp>
      <p:sp>
        <p:nvSpPr>
          <p:cNvPr id="15" name="Shape 13"/>
          <p:cNvSpPr/>
          <p:nvPr/>
        </p:nvSpPr>
        <p:spPr>
          <a:xfrm>
            <a:off x="6931152" y="1777354"/>
            <a:ext cx="0" cy="329184"/>
          </a:xfrm>
          <a:prstGeom prst="line">
            <a:avLst/>
          </a:prstGeom>
          <a:noFill/>
          <a:ln w="31750">
            <a:solidFill>
              <a:srgbClr val="1B2A4A"/>
            </a:solidFill>
            <a:prstDash val="solid"/>
          </a:ln>
        </p:spPr>
        <p:txBody>
          <a:bodyPr/>
          <a:lstStyle/>
          <a:p>
            <a:endParaRPr lang="es-ES"/>
          </a:p>
        </p:txBody>
      </p:sp>
      <p:sp>
        <p:nvSpPr>
          <p:cNvPr id="16" name="Shape 14"/>
          <p:cNvSpPr/>
          <p:nvPr/>
        </p:nvSpPr>
        <p:spPr>
          <a:xfrm>
            <a:off x="6839712" y="1850506"/>
            <a:ext cx="182880" cy="182880"/>
          </a:xfrm>
          <a:prstGeom prst="ellipse">
            <a:avLst/>
          </a:prstGeom>
          <a:solidFill>
            <a:srgbClr val="1B2A4A"/>
          </a:solidFill>
          <a:ln w="12700">
            <a:solidFill>
              <a:srgbClr val="1B2A4A"/>
            </a:solidFill>
            <a:prstDash val="solid"/>
          </a:ln>
        </p:spPr>
        <p:txBody>
          <a:bodyPr/>
          <a:lstStyle/>
          <a:p>
            <a:endParaRPr lang="es-ES"/>
          </a:p>
        </p:txBody>
      </p:sp>
      <p:sp>
        <p:nvSpPr>
          <p:cNvPr id="17" name="Text 15"/>
          <p:cNvSpPr/>
          <p:nvPr/>
        </p:nvSpPr>
        <p:spPr>
          <a:xfrm>
            <a:off x="6245352" y="2111804"/>
            <a:ext cx="1371600" cy="292608"/>
          </a:xfrm>
          <a:prstGeom prst="rect">
            <a:avLst/>
          </a:prstGeom>
          <a:noFill/>
          <a:ln/>
        </p:spPr>
        <p:txBody>
          <a:bodyPr wrap="square" rtlCol="0" anchor="ctr"/>
          <a:lstStyle/>
          <a:p>
            <a:pPr marL="0" indent="0" algn="ctr">
              <a:buNone/>
            </a:pPr>
            <a:r>
              <a:rPr lang="en-US" sz="1100" b="1" dirty="0">
                <a:solidFill>
                  <a:srgbClr val="1B2A4A"/>
                </a:solidFill>
                <a:latin typeface="Calibri" pitchFamily="34" charset="0"/>
                <a:ea typeface="Calibri" pitchFamily="34" charset="-122"/>
                <a:cs typeface="Calibri" pitchFamily="34" charset="-120"/>
              </a:rPr>
              <a:t>Martorell  80</a:t>
            </a:r>
            <a:endParaRPr lang="en-US" sz="1100" dirty="0"/>
          </a:p>
        </p:txBody>
      </p:sp>
      <p:sp>
        <p:nvSpPr>
          <p:cNvPr id="18" name="Text 16"/>
          <p:cNvSpPr/>
          <p:nvPr/>
        </p:nvSpPr>
        <p:spPr>
          <a:xfrm>
            <a:off x="534823" y="2801750"/>
            <a:ext cx="7863840" cy="347472"/>
          </a:xfrm>
          <a:prstGeom prst="rect">
            <a:avLst/>
          </a:prstGeom>
          <a:noFill/>
          <a:ln/>
        </p:spPr>
        <p:txBody>
          <a:bodyPr wrap="square"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Meteorology  (0 = not weather-related  →  100 = highly meteorological)</a:t>
            </a:r>
            <a:endParaRPr lang="en-US" sz="1200" dirty="0"/>
          </a:p>
        </p:txBody>
      </p:sp>
      <p:sp>
        <p:nvSpPr>
          <p:cNvPr id="19" name="Shape 17"/>
          <p:cNvSpPr/>
          <p:nvPr/>
        </p:nvSpPr>
        <p:spPr>
          <a:xfrm>
            <a:off x="640080" y="3657600"/>
            <a:ext cx="7863840" cy="0"/>
          </a:xfrm>
          <a:prstGeom prst="line">
            <a:avLst/>
          </a:prstGeom>
          <a:noFill/>
          <a:ln w="25400">
            <a:solidFill>
              <a:srgbClr val="1B2A4A"/>
            </a:solidFill>
            <a:prstDash val="solid"/>
          </a:ln>
        </p:spPr>
        <p:txBody>
          <a:bodyPr/>
          <a:lstStyle/>
          <a:p>
            <a:endParaRPr lang="es-ES"/>
          </a:p>
        </p:txBody>
      </p:sp>
      <p:sp>
        <p:nvSpPr>
          <p:cNvPr id="20" name="Shape 18"/>
          <p:cNvSpPr/>
          <p:nvPr/>
        </p:nvSpPr>
        <p:spPr>
          <a:xfrm>
            <a:off x="640080" y="3547872"/>
            <a:ext cx="0" cy="219456"/>
          </a:xfrm>
          <a:prstGeom prst="line">
            <a:avLst/>
          </a:prstGeom>
          <a:noFill/>
          <a:ln w="19050">
            <a:solidFill>
              <a:srgbClr val="1B2A4A"/>
            </a:solidFill>
            <a:prstDash val="solid"/>
          </a:ln>
        </p:spPr>
        <p:txBody>
          <a:bodyPr/>
          <a:lstStyle/>
          <a:p>
            <a:endParaRPr lang="es-ES"/>
          </a:p>
        </p:txBody>
      </p:sp>
      <p:sp>
        <p:nvSpPr>
          <p:cNvPr id="21" name="Text 19"/>
          <p:cNvSpPr/>
          <p:nvPr/>
        </p:nvSpPr>
        <p:spPr>
          <a:xfrm>
            <a:off x="384048" y="3767328"/>
            <a:ext cx="512064" cy="256032"/>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0</a:t>
            </a:r>
            <a:endParaRPr lang="en-US" sz="1100" dirty="0"/>
          </a:p>
        </p:txBody>
      </p:sp>
      <p:sp>
        <p:nvSpPr>
          <p:cNvPr id="22" name="Shape 20"/>
          <p:cNvSpPr/>
          <p:nvPr/>
        </p:nvSpPr>
        <p:spPr>
          <a:xfrm>
            <a:off x="8503920" y="3547872"/>
            <a:ext cx="0" cy="219456"/>
          </a:xfrm>
          <a:prstGeom prst="line">
            <a:avLst/>
          </a:prstGeom>
          <a:noFill/>
          <a:ln w="19050">
            <a:solidFill>
              <a:srgbClr val="1B2A4A"/>
            </a:solidFill>
            <a:prstDash val="solid"/>
          </a:ln>
        </p:spPr>
        <p:txBody>
          <a:bodyPr/>
          <a:lstStyle/>
          <a:p>
            <a:endParaRPr lang="es-ES"/>
          </a:p>
        </p:txBody>
      </p:sp>
      <p:sp>
        <p:nvSpPr>
          <p:cNvPr id="23" name="Text 21"/>
          <p:cNvSpPr/>
          <p:nvPr/>
        </p:nvSpPr>
        <p:spPr>
          <a:xfrm>
            <a:off x="8247888" y="3767328"/>
            <a:ext cx="512064" cy="256032"/>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100</a:t>
            </a:r>
            <a:endParaRPr lang="en-US" sz="1100" dirty="0"/>
          </a:p>
        </p:txBody>
      </p:sp>
      <p:sp>
        <p:nvSpPr>
          <p:cNvPr id="24" name="Shape 22"/>
          <p:cNvSpPr/>
          <p:nvPr/>
        </p:nvSpPr>
        <p:spPr>
          <a:xfrm>
            <a:off x="2606040" y="3493008"/>
            <a:ext cx="0" cy="329184"/>
          </a:xfrm>
          <a:prstGeom prst="line">
            <a:avLst/>
          </a:prstGeom>
          <a:noFill/>
          <a:ln w="31750">
            <a:solidFill>
              <a:srgbClr val="1B2A4A"/>
            </a:solidFill>
            <a:prstDash val="solid"/>
          </a:ln>
        </p:spPr>
        <p:txBody>
          <a:bodyPr/>
          <a:lstStyle/>
          <a:p>
            <a:endParaRPr lang="es-ES"/>
          </a:p>
        </p:txBody>
      </p:sp>
      <p:sp>
        <p:nvSpPr>
          <p:cNvPr id="25" name="Shape 23"/>
          <p:cNvSpPr/>
          <p:nvPr/>
        </p:nvSpPr>
        <p:spPr>
          <a:xfrm>
            <a:off x="2514600" y="3566160"/>
            <a:ext cx="182880" cy="182880"/>
          </a:xfrm>
          <a:prstGeom prst="ellipse">
            <a:avLst/>
          </a:prstGeom>
          <a:solidFill>
            <a:srgbClr val="1B2A4A"/>
          </a:solidFill>
          <a:ln w="12700">
            <a:solidFill>
              <a:srgbClr val="1B2A4A"/>
            </a:solidFill>
            <a:prstDash val="solid"/>
          </a:ln>
        </p:spPr>
        <p:txBody>
          <a:bodyPr/>
          <a:lstStyle/>
          <a:p>
            <a:endParaRPr lang="es-ES"/>
          </a:p>
        </p:txBody>
      </p:sp>
      <p:sp>
        <p:nvSpPr>
          <p:cNvPr id="26" name="Text 24"/>
          <p:cNvSpPr/>
          <p:nvPr/>
        </p:nvSpPr>
        <p:spPr>
          <a:xfrm>
            <a:off x="1920240" y="3218688"/>
            <a:ext cx="1371600" cy="292608"/>
          </a:xfrm>
          <a:prstGeom prst="rect">
            <a:avLst/>
          </a:prstGeom>
          <a:noFill/>
          <a:ln/>
        </p:spPr>
        <p:txBody>
          <a:bodyPr wrap="square" rtlCol="0" anchor="ctr"/>
          <a:lstStyle/>
          <a:p>
            <a:pPr marL="0" indent="0" algn="ctr">
              <a:buNone/>
            </a:pPr>
            <a:r>
              <a:rPr lang="en-US" sz="1100" b="1" dirty="0">
                <a:solidFill>
                  <a:srgbClr val="1B2A4A"/>
                </a:solidFill>
                <a:latin typeface="Calibri" pitchFamily="34" charset="0"/>
                <a:ea typeface="Calibri" pitchFamily="34" charset="-122"/>
                <a:cs typeface="Calibri" pitchFamily="34" charset="-120"/>
              </a:rPr>
              <a:t>Martorell  25</a:t>
            </a:r>
            <a:endParaRPr lang="en-US" sz="1100" dirty="0"/>
          </a:p>
        </p:txBody>
      </p:sp>
      <p:sp>
        <p:nvSpPr>
          <p:cNvPr id="27" name="Shape 25"/>
          <p:cNvSpPr/>
          <p:nvPr/>
        </p:nvSpPr>
        <p:spPr>
          <a:xfrm>
            <a:off x="5751576" y="3493008"/>
            <a:ext cx="0" cy="329184"/>
          </a:xfrm>
          <a:prstGeom prst="line">
            <a:avLst/>
          </a:prstGeom>
          <a:noFill/>
          <a:ln w="31750">
            <a:solidFill>
              <a:srgbClr val="0D9488"/>
            </a:solidFill>
            <a:prstDash val="solid"/>
          </a:ln>
        </p:spPr>
        <p:txBody>
          <a:bodyPr/>
          <a:lstStyle/>
          <a:p>
            <a:endParaRPr lang="es-ES"/>
          </a:p>
        </p:txBody>
      </p:sp>
      <p:sp>
        <p:nvSpPr>
          <p:cNvPr id="28" name="Shape 26"/>
          <p:cNvSpPr/>
          <p:nvPr/>
        </p:nvSpPr>
        <p:spPr>
          <a:xfrm>
            <a:off x="5660136" y="3566160"/>
            <a:ext cx="182880" cy="182880"/>
          </a:xfrm>
          <a:prstGeom prst="ellipse">
            <a:avLst/>
          </a:prstGeom>
          <a:solidFill>
            <a:srgbClr val="0D9488"/>
          </a:solidFill>
          <a:ln w="12700">
            <a:solidFill>
              <a:srgbClr val="0D9488"/>
            </a:solidFill>
            <a:prstDash val="solid"/>
          </a:ln>
        </p:spPr>
        <p:txBody>
          <a:bodyPr/>
          <a:lstStyle/>
          <a:p>
            <a:endParaRPr lang="es-ES"/>
          </a:p>
        </p:txBody>
      </p:sp>
      <p:sp>
        <p:nvSpPr>
          <p:cNvPr id="29" name="Text 27"/>
          <p:cNvSpPr/>
          <p:nvPr/>
        </p:nvSpPr>
        <p:spPr>
          <a:xfrm>
            <a:off x="5065776" y="3886663"/>
            <a:ext cx="1371600" cy="292608"/>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sunset  65</a:t>
            </a:r>
            <a:endParaRPr lang="en-US" sz="1100" dirty="0"/>
          </a:p>
        </p:txBody>
      </p:sp>
      <p:sp>
        <p:nvSpPr>
          <p:cNvPr id="30" name="Text 28"/>
          <p:cNvSpPr/>
          <p:nvPr/>
        </p:nvSpPr>
        <p:spPr>
          <a:xfrm>
            <a:off x="457200" y="4466088"/>
            <a:ext cx="8412480" cy="320040"/>
          </a:xfrm>
          <a:prstGeom prst="rect">
            <a:avLst/>
          </a:prstGeom>
          <a:noFill/>
          <a:ln/>
        </p:spPr>
        <p:txBody>
          <a:bodyPr wrap="square" rtlCol="0" anchor="ctr"/>
          <a:lstStyle/>
          <a:p>
            <a:pPr marL="0" indent="0" algn="ctr">
              <a:buNone/>
            </a:pPr>
            <a:r>
              <a:rPr lang="en-US" sz="1250" dirty="0">
                <a:solidFill>
                  <a:srgbClr val="64748B"/>
                </a:solidFill>
                <a:latin typeface="Consolas" pitchFamily="34" charset="0"/>
                <a:ea typeface="Consolas" pitchFamily="34" charset="-122"/>
                <a:cs typeface="Consolas" pitchFamily="34" charset="-120"/>
              </a:rPr>
              <a:t>Martorell → [geo: 80, met: 25]                    sunset → [geo: 8, met: 65]</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Shape 1"/>
          <p:cNvSpPr/>
          <p:nvPr/>
        </p:nvSpPr>
        <p:spPr>
          <a:xfrm>
            <a:off x="0" y="0"/>
            <a:ext cx="1280160" cy="658368"/>
          </a:xfrm>
          <a:prstGeom prst="rect">
            <a:avLst/>
          </a:prstGeom>
          <a:solidFill>
            <a:srgbClr val="0D9488"/>
          </a:solidFill>
          <a:ln w="12700">
            <a:solidFill>
              <a:srgbClr val="0D9488"/>
            </a:solidFill>
            <a:prstDash val="solid"/>
          </a:ln>
        </p:spPr>
        <p:txBody>
          <a:bodyPr/>
          <a:lstStyle/>
          <a:p>
            <a:endParaRPr lang="es-ES"/>
          </a:p>
        </p:txBody>
      </p:sp>
      <p:sp>
        <p:nvSpPr>
          <p:cNvPr id="4" name="Text 2"/>
          <p:cNvSpPr/>
          <p:nvPr/>
        </p:nvSpPr>
        <p:spPr>
          <a:xfrm>
            <a:off x="0" y="0"/>
            <a:ext cx="128016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Step 2b</a:t>
            </a:r>
            <a:endParaRPr lang="en-US" sz="1300" dirty="0"/>
          </a:p>
        </p:txBody>
      </p:sp>
      <p:sp>
        <p:nvSpPr>
          <p:cNvPr id="5" name="Text 3"/>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Embedding</a:t>
            </a:r>
            <a:endParaRPr lang="en-US" sz="2000" dirty="0"/>
          </a:p>
        </p:txBody>
      </p:sp>
      <p:sp>
        <p:nvSpPr>
          <p:cNvPr id="6" name="Text 4"/>
          <p:cNvSpPr/>
          <p:nvPr/>
        </p:nvSpPr>
        <p:spPr>
          <a:xfrm>
            <a:off x="457200" y="777240"/>
            <a:ext cx="8229600" cy="50292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Each token is converted into a vector — a list of numbers representing its meaning across many dimensions.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97280" y="1417320"/>
          <a:ext cx="6949440" cy="1188720"/>
        </p:xfrm>
        <a:graphic>
          <a:graphicData uri="http://schemas.openxmlformats.org/drawingml/2006/table">
            <a:tbl>
              <a:tblPr/>
              <a:tblGrid>
                <a:gridCol w="2316480">
                  <a:extLst>
                    <a:ext uri="{9D8B030D-6E8A-4147-A177-3AD203B41FA5}">
                      <a16:colId xmlns:a16="http://schemas.microsoft.com/office/drawing/2014/main" val="20000"/>
                    </a:ext>
                  </a:extLst>
                </a:gridCol>
                <a:gridCol w="2316480">
                  <a:extLst>
                    <a:ext uri="{9D8B030D-6E8A-4147-A177-3AD203B41FA5}">
                      <a16:colId xmlns:a16="http://schemas.microsoft.com/office/drawing/2014/main" val="20001"/>
                    </a:ext>
                  </a:extLst>
                </a:gridCol>
                <a:gridCol w="2316480">
                  <a:extLst>
                    <a:ext uri="{9D8B030D-6E8A-4147-A177-3AD203B41FA5}">
                      <a16:colId xmlns:a16="http://schemas.microsoft.com/office/drawing/2014/main" val="20002"/>
                    </a:ext>
                  </a:extLst>
                </a:gridCol>
              </a:tblGrid>
              <a:tr h="39624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Token</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Geography (0–100)</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Meteorology (0–100)</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96240">
                <a:tc>
                  <a:txBody>
                    <a:bodyPr/>
                    <a:lstStyle/>
                    <a:p>
                      <a:pPr marL="0" indent="0" algn="ctr">
                        <a:buNone/>
                      </a:pPr>
                      <a:r>
                        <a:rPr lang="en-US" sz="1400" dirty="0">
                          <a:solidFill>
                            <a:srgbClr val="1E293B"/>
                          </a:solidFill>
                          <a:latin typeface="Consolas" pitchFamily="34" charset="0"/>
                          <a:ea typeface="Consolas" pitchFamily="34" charset="-122"/>
                          <a:cs typeface="Consolas" pitchFamily="34" charset="-120"/>
                        </a:rPr>
                        <a:t>sunset</a:t>
                      </a:r>
                      <a:endParaRPr lang="en-US" sz="14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65</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96240">
                <a:tc>
                  <a:txBody>
                    <a:bodyPr/>
                    <a:lstStyle/>
                    <a:p>
                      <a:pPr marL="0" indent="0" algn="ctr">
                        <a:buNone/>
                      </a:pPr>
                      <a:r>
                        <a:rPr lang="en-US" sz="1400" dirty="0">
                          <a:solidFill>
                            <a:srgbClr val="1E293B"/>
                          </a:solidFill>
                          <a:latin typeface="Consolas" pitchFamily="34" charset="0"/>
                          <a:ea typeface="Consolas" pitchFamily="34" charset="-122"/>
                          <a:cs typeface="Consolas" pitchFamily="34" charset="-120"/>
                        </a:rPr>
                        <a:t>Martorell</a:t>
                      </a:r>
                      <a:endParaRPr lang="en-US" sz="14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AF4F2"/>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AF4F2"/>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AF4F2"/>
                    </a:solidFill>
                  </a:tcPr>
                </a:tc>
                <a:extLst>
                  <a:ext uri="{0D108BD9-81ED-4DB2-BD59-A6C34878D82A}">
                    <a16:rowId xmlns:a16="http://schemas.microsoft.com/office/drawing/2014/main" val="10002"/>
                  </a:ext>
                </a:extLst>
              </a:tr>
            </a:tbl>
          </a:graphicData>
        </a:graphic>
      </p:graphicFrame>
      <p:sp>
        <p:nvSpPr>
          <p:cNvPr id="8" name="Text 5"/>
          <p:cNvSpPr/>
          <p:nvPr/>
        </p:nvSpPr>
        <p:spPr>
          <a:xfrm>
            <a:off x="457200" y="2788920"/>
            <a:ext cx="8229600" cy="640080"/>
          </a:xfrm>
          <a:prstGeom prst="rect">
            <a:avLst/>
          </a:prstGeom>
          <a:noFill/>
          <a:ln/>
        </p:spPr>
        <p:txBody>
          <a:bodyPr wrap="square" rtlCol="0" anchor="ctr"/>
          <a:lstStyle/>
          <a:p>
            <a:pPr marL="0" indent="0">
              <a:buNone/>
            </a:pPr>
            <a:r>
              <a:rPr lang="en-US" sz="1350" i="1" dirty="0">
                <a:solidFill>
                  <a:srgbClr val="64748B"/>
                </a:solidFill>
                <a:latin typeface="Calibri" pitchFamily="34" charset="0"/>
                <a:ea typeface="Calibri" pitchFamily="34" charset="-122"/>
                <a:cs typeface="Calibri" pitchFamily="34" charset="-120"/>
              </a:rPr>
              <a:t>"sunset" scores low on Geography — it can mean many things</a:t>
            </a:r>
            <a:endParaRPr lang="en-US" sz="1350" dirty="0"/>
          </a:p>
          <a:p>
            <a:pPr marL="0" indent="0">
              <a:buNone/>
            </a:pPr>
            <a:r>
              <a:rPr lang="en-US" sz="1350" i="1" dirty="0">
                <a:solidFill>
                  <a:srgbClr val="64748B"/>
                </a:solidFill>
                <a:latin typeface="Calibri" pitchFamily="34" charset="0"/>
                <a:ea typeface="Calibri" pitchFamily="34" charset="-122"/>
                <a:cs typeface="Calibri" pitchFamily="34" charset="-120"/>
              </a:rPr>
              <a:t>(e.g. "Google decided to sunset the product"), so it doesn't fully commit yet.</a:t>
            </a:r>
            <a:endParaRPr lang="en-US" sz="1350" dirty="0"/>
          </a:p>
        </p:txBody>
      </p:sp>
      <p:sp>
        <p:nvSpPr>
          <p:cNvPr id="9" name="Text 6"/>
          <p:cNvSpPr/>
          <p:nvPr/>
        </p:nvSpPr>
        <p:spPr>
          <a:xfrm>
            <a:off x="457200" y="3520440"/>
            <a:ext cx="8229600" cy="36576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In practice, modern models use thousands of dimensions — not just two.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Shape 1"/>
          <p:cNvSpPr/>
          <p:nvPr/>
        </p:nvSpPr>
        <p:spPr>
          <a:xfrm>
            <a:off x="0" y="0"/>
            <a:ext cx="1280160" cy="658368"/>
          </a:xfrm>
          <a:prstGeom prst="rect">
            <a:avLst/>
          </a:prstGeom>
          <a:solidFill>
            <a:srgbClr val="0D9488"/>
          </a:solidFill>
          <a:ln w="12700">
            <a:solidFill>
              <a:srgbClr val="0D9488"/>
            </a:solidFill>
            <a:prstDash val="solid"/>
          </a:ln>
        </p:spPr>
        <p:txBody>
          <a:bodyPr/>
          <a:lstStyle/>
          <a:p>
            <a:endParaRPr lang="es-ES"/>
          </a:p>
        </p:txBody>
      </p:sp>
      <p:sp>
        <p:nvSpPr>
          <p:cNvPr id="4" name="Text 2"/>
          <p:cNvSpPr/>
          <p:nvPr/>
        </p:nvSpPr>
        <p:spPr>
          <a:xfrm>
            <a:off x="0" y="0"/>
            <a:ext cx="128016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Step 3a</a:t>
            </a:r>
            <a:endParaRPr lang="en-US" sz="1300" dirty="0"/>
          </a:p>
        </p:txBody>
      </p:sp>
      <p:sp>
        <p:nvSpPr>
          <p:cNvPr id="5" name="Text 3"/>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Transformer Layers — Attention</a:t>
            </a:r>
            <a:endParaRPr lang="en-US" sz="2000" dirty="0"/>
          </a:p>
        </p:txBody>
      </p:sp>
      <p:sp>
        <p:nvSpPr>
          <p:cNvPr id="6" name="Text 4"/>
          <p:cNvSpPr/>
          <p:nvPr/>
        </p:nvSpPr>
        <p:spPr>
          <a:xfrm>
            <a:off x="457200" y="804672"/>
            <a:ext cx="8229600" cy="457200"/>
          </a:xfrm>
          <a:prstGeom prst="rect">
            <a:avLst/>
          </a:prstGeom>
          <a:noFill/>
          <a:ln/>
        </p:spPr>
        <p:txBody>
          <a:bodyPr wrap="square" rtlCol="0" anchor="ctr"/>
          <a:lstStyle/>
          <a:p>
            <a:pPr marL="0" indent="0">
              <a:buNone/>
            </a:pPr>
            <a:r>
              <a:rPr lang="en-US" sz="1700" b="1" i="1" dirty="0">
                <a:solidFill>
                  <a:srgbClr val="0D9488"/>
                </a:solidFill>
                <a:latin typeface="Calibri" pitchFamily="34" charset="0"/>
                <a:ea typeface="Calibri" pitchFamily="34" charset="-122"/>
                <a:cs typeface="Calibri" pitchFamily="34" charset="-120"/>
              </a:rPr>
              <a:t>"Attention is about how words talk to each other."</a:t>
            </a:r>
            <a:endParaRPr lang="en-US" sz="1700" dirty="0"/>
          </a:p>
        </p:txBody>
      </p:sp>
      <p:sp>
        <p:nvSpPr>
          <p:cNvPr id="7" name="Text 5"/>
          <p:cNvSpPr/>
          <p:nvPr/>
        </p:nvSpPr>
        <p:spPr>
          <a:xfrm>
            <a:off x="457200" y="1371600"/>
            <a:ext cx="8229600" cy="59436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Each token looks at all previous tokens and absorbs relevant meaning from them.</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After attention, "sunset" has been influenced by "Martorell":</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2084832"/>
          <a:ext cx="7680960" cy="1310640"/>
        </p:xfrm>
        <a:graphic>
          <a:graphicData uri="http://schemas.openxmlformats.org/drawingml/2006/table">
            <a:tbl>
              <a:tblPr/>
              <a:tblGrid>
                <a:gridCol w="25603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9624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Token</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Meteorology — before attention</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Meteorology — after attention</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96240">
                <a:tc>
                  <a:txBody>
                    <a:bodyPr/>
                    <a:lstStyle/>
                    <a:p>
                      <a:pPr marL="0" indent="0" algn="ctr">
                        <a:buNone/>
                      </a:pPr>
                      <a:r>
                        <a:rPr lang="en-US" sz="1400" dirty="0">
                          <a:solidFill>
                            <a:srgbClr val="1E293B"/>
                          </a:solidFill>
                          <a:latin typeface="Consolas" pitchFamily="34" charset="0"/>
                          <a:ea typeface="Consolas" pitchFamily="34" charset="-122"/>
                          <a:cs typeface="Consolas" pitchFamily="34" charset="-120"/>
                        </a:rPr>
                        <a:t>sunset</a:t>
                      </a:r>
                      <a:endParaRPr lang="en-US" sz="14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65</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rgbClr val="0D9488"/>
                          </a:solidFill>
                          <a:latin typeface="Calibri" pitchFamily="34" charset="0"/>
                          <a:ea typeface="Calibri" pitchFamily="34" charset="-122"/>
                          <a:cs typeface="Calibri" pitchFamily="34" charset="-120"/>
                        </a:rPr>
                        <a:t>85 ↑</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AF4F2"/>
                    </a:solidFill>
                  </a:tcPr>
                </a:tc>
                <a:extLst>
                  <a:ext uri="{0D108BD9-81ED-4DB2-BD59-A6C34878D82A}">
                    <a16:rowId xmlns:a16="http://schemas.microsoft.com/office/drawing/2014/main" val="10001"/>
                  </a:ext>
                </a:extLst>
              </a:tr>
              <a:tr h="396240">
                <a:tc>
                  <a:txBody>
                    <a:bodyPr/>
                    <a:lstStyle/>
                    <a:p>
                      <a:pPr marL="0" indent="0" algn="ctr">
                        <a:buNone/>
                      </a:pPr>
                      <a:r>
                        <a:rPr lang="en-US" sz="1400" dirty="0">
                          <a:solidFill>
                            <a:srgbClr val="1E293B"/>
                          </a:solidFill>
                          <a:latin typeface="Consolas" pitchFamily="34" charset="0"/>
                          <a:ea typeface="Consolas" pitchFamily="34" charset="-122"/>
                          <a:cs typeface="Consolas" pitchFamily="34" charset="-120"/>
                        </a:rPr>
                        <a:t>Martorell</a:t>
                      </a:r>
                      <a:endParaRPr lang="en-US" sz="14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Text 6"/>
          <p:cNvSpPr/>
          <p:nvPr/>
        </p:nvSpPr>
        <p:spPr>
          <a:xfrm>
            <a:off x="457200" y="3429000"/>
            <a:ext cx="8229600" cy="411480"/>
          </a:xfrm>
          <a:prstGeom prst="rect">
            <a:avLst/>
          </a:prstGeom>
          <a:noFill/>
          <a:ln/>
        </p:spPr>
        <p:txBody>
          <a:bodyPr wrap="square" rtlCol="0" anchor="ctr"/>
          <a:lstStyle/>
          <a:p>
            <a:pPr marL="0" indent="0">
              <a:buNone/>
            </a:pPr>
            <a:r>
              <a:rPr lang="en-US" sz="1350" i="1" dirty="0">
                <a:solidFill>
                  <a:srgbClr val="64748B"/>
                </a:solidFill>
                <a:latin typeface="Calibri" pitchFamily="34" charset="0"/>
                <a:ea typeface="Calibri" pitchFamily="34" charset="-122"/>
                <a:cs typeface="Calibri" pitchFamily="34" charset="-120"/>
              </a:rPr>
              <a:t>⚠  Tokens only attend to previous tokens — not future ones.</a:t>
            </a:r>
            <a:endParaRPr lang="en-US" sz="1350" dirty="0"/>
          </a:p>
        </p:txBody>
      </p:sp>
      <p:sp>
        <p:nvSpPr>
          <p:cNvPr id="10" name="Text 7"/>
          <p:cNvSpPr/>
          <p:nvPr/>
        </p:nvSpPr>
        <p:spPr>
          <a:xfrm>
            <a:off x="457200" y="3840480"/>
            <a:ext cx="8229600" cy="36576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GPT-3 stacked 96 of these transformer layers, run sequentially.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Shape 1"/>
          <p:cNvSpPr/>
          <p:nvPr/>
        </p:nvSpPr>
        <p:spPr>
          <a:xfrm>
            <a:off x="0" y="0"/>
            <a:ext cx="1280160" cy="658368"/>
          </a:xfrm>
          <a:prstGeom prst="rect">
            <a:avLst/>
          </a:prstGeom>
          <a:solidFill>
            <a:srgbClr val="0D9488"/>
          </a:solidFill>
          <a:ln w="12700">
            <a:solidFill>
              <a:srgbClr val="0D9488"/>
            </a:solidFill>
            <a:prstDash val="solid"/>
          </a:ln>
        </p:spPr>
        <p:txBody>
          <a:bodyPr/>
          <a:lstStyle/>
          <a:p>
            <a:endParaRPr lang="es-ES"/>
          </a:p>
        </p:txBody>
      </p:sp>
      <p:sp>
        <p:nvSpPr>
          <p:cNvPr id="4" name="Text 2"/>
          <p:cNvSpPr/>
          <p:nvPr/>
        </p:nvSpPr>
        <p:spPr>
          <a:xfrm>
            <a:off x="0" y="0"/>
            <a:ext cx="128016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Step 3b</a:t>
            </a:r>
            <a:endParaRPr lang="en-US" sz="1300" dirty="0"/>
          </a:p>
        </p:txBody>
      </p:sp>
      <p:sp>
        <p:nvSpPr>
          <p:cNvPr id="5" name="Text 3"/>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Transformer Layers — Feed-Forward Network</a:t>
            </a:r>
            <a:endParaRPr lang="en-US" sz="2000" dirty="0"/>
          </a:p>
        </p:txBody>
      </p:sp>
      <p:sp>
        <p:nvSpPr>
          <p:cNvPr id="6" name="Text 4"/>
          <p:cNvSpPr/>
          <p:nvPr/>
        </p:nvSpPr>
        <p:spPr>
          <a:xfrm>
            <a:off x="457200" y="804672"/>
            <a:ext cx="8229600" cy="457200"/>
          </a:xfrm>
          <a:prstGeom prst="rect">
            <a:avLst/>
          </a:prstGeom>
          <a:noFill/>
          <a:ln/>
        </p:spPr>
        <p:txBody>
          <a:bodyPr wrap="square" rtlCol="0" anchor="ctr"/>
          <a:lstStyle/>
          <a:p>
            <a:pPr marL="0" indent="0">
              <a:buNone/>
            </a:pPr>
            <a:r>
              <a:rPr lang="en-US" sz="1700" b="1" i="1" dirty="0">
                <a:solidFill>
                  <a:srgbClr val="0D9488"/>
                </a:solidFill>
                <a:latin typeface="Calibri" pitchFamily="34" charset="0"/>
                <a:ea typeface="Calibri" pitchFamily="34" charset="-122"/>
                <a:cs typeface="Calibri" pitchFamily="34" charset="-120"/>
              </a:rPr>
              <a:t>"The feed-forward network is about how each word processes what it heard."</a:t>
            </a:r>
            <a:endParaRPr lang="en-US" sz="1700" dirty="0"/>
          </a:p>
        </p:txBody>
      </p:sp>
      <p:sp>
        <p:nvSpPr>
          <p:cNvPr id="7" name="Shape 5"/>
          <p:cNvSpPr/>
          <p:nvPr/>
        </p:nvSpPr>
        <p:spPr>
          <a:xfrm>
            <a:off x="457200" y="1463040"/>
            <a:ext cx="3931920" cy="2560320"/>
          </a:xfrm>
          <a:prstGeom prst="rect">
            <a:avLst/>
          </a:prstGeom>
          <a:solidFill>
            <a:srgbClr val="1B2A4A"/>
          </a:solidFill>
          <a:ln w="12700">
            <a:solidFill>
              <a:srgbClr val="1B2A4A"/>
            </a:solidFill>
            <a:prstDash val="solid"/>
          </a:ln>
          <a:effectLst>
            <a:outerShdw blurRad="76200" dist="25400" dir="8100000" algn="bl" rotWithShape="0">
              <a:srgbClr val="000000">
                <a:alpha val="15000"/>
              </a:srgbClr>
            </a:outerShdw>
          </a:effectLst>
        </p:spPr>
        <p:txBody>
          <a:bodyPr/>
          <a:lstStyle/>
          <a:p>
            <a:endParaRPr lang="es-ES"/>
          </a:p>
        </p:txBody>
      </p:sp>
      <p:sp>
        <p:nvSpPr>
          <p:cNvPr id="8" name="Text 6"/>
          <p:cNvSpPr/>
          <p:nvPr/>
        </p:nvSpPr>
        <p:spPr>
          <a:xfrm>
            <a:off x="457200" y="1572768"/>
            <a:ext cx="393192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Attention</a:t>
            </a:r>
            <a:endParaRPr lang="en-US" sz="1600" dirty="0"/>
          </a:p>
        </p:txBody>
      </p:sp>
      <p:sp>
        <p:nvSpPr>
          <p:cNvPr id="9" name="Shape 7"/>
          <p:cNvSpPr/>
          <p:nvPr/>
        </p:nvSpPr>
        <p:spPr>
          <a:xfrm>
            <a:off x="640080" y="2084832"/>
            <a:ext cx="3566160" cy="0"/>
          </a:xfrm>
          <a:prstGeom prst="line">
            <a:avLst/>
          </a:prstGeom>
          <a:noFill/>
          <a:ln w="9525">
            <a:solidFill>
              <a:srgbClr val="FFFFFF"/>
            </a:solidFill>
            <a:prstDash val="solid"/>
          </a:ln>
        </p:spPr>
        <p:txBody>
          <a:bodyPr/>
          <a:lstStyle/>
          <a:p>
            <a:endParaRPr lang="es-ES"/>
          </a:p>
        </p:txBody>
      </p:sp>
      <p:sp>
        <p:nvSpPr>
          <p:cNvPr id="10" name="Text 8"/>
          <p:cNvSpPr/>
          <p:nvPr/>
        </p:nvSpPr>
        <p:spPr>
          <a:xfrm>
            <a:off x="594360" y="2176272"/>
            <a:ext cx="3657600" cy="1737360"/>
          </a:xfrm>
          <a:prstGeom prst="rect">
            <a:avLst/>
          </a:prstGeom>
          <a:noFill/>
          <a:ln/>
        </p:spPr>
        <p:txBody>
          <a:bodyPr wrap="square" rtlCol="0" anchor="t"/>
          <a:lstStyle/>
          <a:p>
            <a:pPr marL="0" indent="0">
              <a:buNone/>
            </a:pPr>
            <a:r>
              <a:rPr lang="en-US" sz="1350" dirty="0">
                <a:solidFill>
                  <a:srgbClr val="FFFFFF"/>
                </a:solidFill>
                <a:latin typeface="Calibri" pitchFamily="34" charset="0"/>
                <a:ea typeface="Calibri" pitchFamily="34" charset="-122"/>
                <a:cs typeface="Calibri" pitchFamily="34" charset="-120"/>
              </a:rPr>
              <a:t>Words talk to each other.</a:t>
            </a:r>
            <a:endParaRPr lang="en-US" sz="1350" dirty="0"/>
          </a:p>
          <a:p>
            <a:pPr marL="0" indent="0">
              <a:buNone/>
            </a:pPr>
            <a:r>
              <a:rPr lang="en-US" sz="1350" dirty="0">
                <a:solidFill>
                  <a:srgbClr val="FFFFFF"/>
                </a:solidFill>
                <a:latin typeface="Calibri" pitchFamily="34" charset="0"/>
                <a:ea typeface="Calibri" pitchFamily="34" charset="-122"/>
                <a:cs typeface="Calibri" pitchFamily="34" charset="-120"/>
              </a:rPr>
              <a:t>Context flows between tokens.</a:t>
            </a:r>
            <a:endParaRPr lang="en-US" sz="1350" dirty="0"/>
          </a:p>
          <a:p>
            <a:pPr marL="0" indent="0">
              <a:buNone/>
            </a:pPr>
            <a:r>
              <a:rPr lang="en-US" sz="1350" dirty="0">
                <a:solidFill>
                  <a:srgbClr val="FFFFFF"/>
                </a:solidFill>
                <a:latin typeface="Calibri" pitchFamily="34" charset="0"/>
                <a:ea typeface="Calibri" pitchFamily="34" charset="-122"/>
                <a:cs typeface="Calibri" pitchFamily="34" charset="-120"/>
              </a:rPr>
              <a:t>Runs sequentially.</a:t>
            </a:r>
            <a:endParaRPr lang="en-US" sz="1350" dirty="0"/>
          </a:p>
        </p:txBody>
      </p:sp>
      <p:sp>
        <p:nvSpPr>
          <p:cNvPr id="11" name="Shape 9"/>
          <p:cNvSpPr/>
          <p:nvPr/>
        </p:nvSpPr>
        <p:spPr>
          <a:xfrm>
            <a:off x="4846320" y="1463040"/>
            <a:ext cx="3931920" cy="2560320"/>
          </a:xfrm>
          <a:prstGeom prst="rect">
            <a:avLst/>
          </a:prstGeom>
          <a:solidFill>
            <a:srgbClr val="0D9488"/>
          </a:solidFill>
          <a:ln w="12700">
            <a:solidFill>
              <a:srgbClr val="0D9488"/>
            </a:solidFill>
            <a:prstDash val="solid"/>
          </a:ln>
          <a:effectLst>
            <a:outerShdw blurRad="76200" dist="25400" dir="8100000" algn="bl" rotWithShape="0">
              <a:srgbClr val="000000">
                <a:alpha val="15000"/>
              </a:srgbClr>
            </a:outerShdw>
          </a:effectLst>
        </p:spPr>
        <p:txBody>
          <a:bodyPr/>
          <a:lstStyle/>
          <a:p>
            <a:endParaRPr lang="es-ES"/>
          </a:p>
        </p:txBody>
      </p:sp>
      <p:sp>
        <p:nvSpPr>
          <p:cNvPr id="12" name="Text 10"/>
          <p:cNvSpPr/>
          <p:nvPr/>
        </p:nvSpPr>
        <p:spPr>
          <a:xfrm>
            <a:off x="4846320" y="1572768"/>
            <a:ext cx="393192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Feed-Forward Network</a:t>
            </a:r>
            <a:endParaRPr lang="en-US" sz="1600" dirty="0"/>
          </a:p>
        </p:txBody>
      </p:sp>
      <p:sp>
        <p:nvSpPr>
          <p:cNvPr id="13" name="Shape 11"/>
          <p:cNvSpPr/>
          <p:nvPr/>
        </p:nvSpPr>
        <p:spPr>
          <a:xfrm>
            <a:off x="5029200" y="2084832"/>
            <a:ext cx="3566160" cy="0"/>
          </a:xfrm>
          <a:prstGeom prst="line">
            <a:avLst/>
          </a:prstGeom>
          <a:noFill/>
          <a:ln w="9525">
            <a:solidFill>
              <a:srgbClr val="FFFFFF"/>
            </a:solidFill>
            <a:prstDash val="solid"/>
          </a:ln>
        </p:spPr>
        <p:txBody>
          <a:bodyPr/>
          <a:lstStyle/>
          <a:p>
            <a:endParaRPr lang="es-ES"/>
          </a:p>
        </p:txBody>
      </p:sp>
      <p:sp>
        <p:nvSpPr>
          <p:cNvPr id="14" name="Text 12"/>
          <p:cNvSpPr/>
          <p:nvPr/>
        </p:nvSpPr>
        <p:spPr>
          <a:xfrm>
            <a:off x="4983480" y="2176272"/>
            <a:ext cx="3657600" cy="1737360"/>
          </a:xfrm>
          <a:prstGeom prst="rect">
            <a:avLst/>
          </a:prstGeom>
          <a:noFill/>
          <a:ln/>
        </p:spPr>
        <p:txBody>
          <a:bodyPr wrap="square" rtlCol="0" anchor="t"/>
          <a:lstStyle/>
          <a:p>
            <a:pPr marL="0" indent="0">
              <a:buNone/>
            </a:pPr>
            <a:r>
              <a:rPr lang="en-US" sz="1350">
                <a:solidFill>
                  <a:srgbClr val="FFFFFF"/>
                </a:solidFill>
                <a:latin typeface="Calibri" pitchFamily="34" charset="0"/>
                <a:ea typeface="Calibri" pitchFamily="34" charset="-122"/>
                <a:cs typeface="Calibri" pitchFamily="34" charset="-120"/>
              </a:rPr>
              <a:t>Is a type of neural network without loops.</a:t>
            </a:r>
          </a:p>
          <a:p>
            <a:pPr marL="0" indent="0">
              <a:buNone/>
            </a:pPr>
            <a:r>
              <a:rPr lang="en-US" sz="1350">
                <a:solidFill>
                  <a:srgbClr val="FFFFFF"/>
                </a:solidFill>
                <a:latin typeface="Calibri" pitchFamily="34" charset="0"/>
                <a:ea typeface="Calibri" pitchFamily="34" charset="-122"/>
                <a:cs typeface="Calibri" pitchFamily="34" charset="-120"/>
              </a:rPr>
              <a:t>Each </a:t>
            </a:r>
            <a:r>
              <a:rPr lang="en-US" sz="1350" dirty="0">
                <a:solidFill>
                  <a:srgbClr val="FFFFFF"/>
                </a:solidFill>
                <a:latin typeface="Calibri" pitchFamily="34" charset="0"/>
                <a:ea typeface="Calibri" pitchFamily="34" charset="-122"/>
                <a:cs typeface="Calibri" pitchFamily="34" charset="-120"/>
              </a:rPr>
              <a:t>token processes what it learned.</a:t>
            </a:r>
            <a:endParaRPr lang="en-US" sz="1350" dirty="0"/>
          </a:p>
          <a:p>
            <a:pPr marL="0" indent="0">
              <a:buNone/>
            </a:pPr>
            <a:r>
              <a:rPr lang="en-US" sz="1350" dirty="0">
                <a:solidFill>
                  <a:srgbClr val="FFFFFF"/>
                </a:solidFill>
                <a:latin typeface="Calibri" pitchFamily="34" charset="0"/>
                <a:ea typeface="Calibri" pitchFamily="34" charset="-122"/>
                <a:cs typeface="Calibri" pitchFamily="34" charset="-120"/>
              </a:rPr>
              <a:t>Enriched with knowledge from weights.</a:t>
            </a:r>
            <a:endParaRPr lang="en-US" sz="1350" dirty="0"/>
          </a:p>
          <a:p>
            <a:pPr marL="0" indent="0">
              <a:buNone/>
            </a:pPr>
            <a:r>
              <a:rPr lang="en-US" sz="1350" dirty="0">
                <a:solidFill>
                  <a:srgbClr val="FFFFFF"/>
                </a:solidFill>
                <a:latin typeface="Calibri" pitchFamily="34" charset="0"/>
                <a:ea typeface="Calibri" pitchFamily="34" charset="-122"/>
                <a:cs typeface="Calibri" pitchFamily="34" charset="-120"/>
              </a:rPr>
              <a:t>Runs in parallel across all tokens.</a:t>
            </a:r>
            <a:endParaRPr lang="en-US" sz="1350" dirty="0"/>
          </a:p>
        </p:txBody>
      </p:sp>
      <p:sp>
        <p:nvSpPr>
          <p:cNvPr id="15" name="Text 13"/>
          <p:cNvSpPr/>
          <p:nvPr/>
        </p:nvSpPr>
        <p:spPr>
          <a:xfrm>
            <a:off x="457200" y="4251960"/>
            <a:ext cx="8229600" cy="365760"/>
          </a:xfrm>
          <a:prstGeom prst="rect">
            <a:avLst/>
          </a:prstGeom>
          <a:noFill/>
          <a:ln/>
        </p:spPr>
        <p:txBody>
          <a:bodyPr wrap="square" rtlCol="0" anchor="ctr"/>
          <a:lstStyle/>
          <a:p>
            <a:pPr marL="0" indent="0" algn="ctr">
              <a:buNone/>
            </a:pPr>
            <a:r>
              <a:rPr lang="en-US" sz="1300" i="1" dirty="0">
                <a:solidFill>
                  <a:srgbClr val="64748B"/>
                </a:solidFill>
                <a:latin typeface="Calibri" pitchFamily="34" charset="0"/>
                <a:ea typeface="Calibri" pitchFamily="34" charset="-122"/>
                <a:cs typeface="Calibri" pitchFamily="34" charset="-120"/>
              </a:rPr>
              <a:t>The weights — trained on vast text — are what give the model its "knowledge".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Shape 1"/>
          <p:cNvSpPr/>
          <p:nvPr/>
        </p:nvSpPr>
        <p:spPr>
          <a:xfrm>
            <a:off x="0" y="0"/>
            <a:ext cx="1280160" cy="658368"/>
          </a:xfrm>
          <a:prstGeom prst="rect">
            <a:avLst/>
          </a:prstGeom>
          <a:solidFill>
            <a:srgbClr val="0D9488"/>
          </a:solidFill>
          <a:ln w="12700">
            <a:solidFill>
              <a:srgbClr val="0D9488"/>
            </a:solidFill>
            <a:prstDash val="solid"/>
          </a:ln>
        </p:spPr>
        <p:txBody>
          <a:bodyPr/>
          <a:lstStyle/>
          <a:p>
            <a:endParaRPr lang="es-ES"/>
          </a:p>
        </p:txBody>
      </p:sp>
      <p:sp>
        <p:nvSpPr>
          <p:cNvPr id="4" name="Text 2"/>
          <p:cNvSpPr/>
          <p:nvPr/>
        </p:nvSpPr>
        <p:spPr>
          <a:xfrm>
            <a:off x="0" y="0"/>
            <a:ext cx="128016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Step 4</a:t>
            </a:r>
            <a:endParaRPr lang="en-US" sz="1300" dirty="0"/>
          </a:p>
        </p:txBody>
      </p:sp>
      <p:sp>
        <p:nvSpPr>
          <p:cNvPr id="5" name="Text 3"/>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Output Candidates</a:t>
            </a:r>
            <a:endParaRPr lang="en-US" sz="2000" dirty="0"/>
          </a:p>
        </p:txBody>
      </p:sp>
      <p:sp>
        <p:nvSpPr>
          <p:cNvPr id="6" name="Text 4"/>
          <p:cNvSpPr/>
          <p:nvPr/>
        </p:nvSpPr>
        <p:spPr>
          <a:xfrm>
            <a:off x="457200" y="804672"/>
            <a:ext cx="8229600" cy="45720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The model scores every possible </a:t>
            </a:r>
            <a:r>
              <a:rPr lang="en-US" sz="1500">
                <a:solidFill>
                  <a:srgbClr val="1E293B"/>
                </a:solidFill>
                <a:latin typeface="Calibri" pitchFamily="34" charset="0"/>
                <a:ea typeface="Calibri" pitchFamily="34" charset="-122"/>
                <a:cs typeface="Calibri" pitchFamily="34" charset="-120"/>
              </a:rPr>
              <a:t>next token (up to 100K!). </a:t>
            </a:r>
            <a:r>
              <a:rPr lang="en-US" sz="1500" dirty="0">
                <a:solidFill>
                  <a:srgbClr val="1E293B"/>
                </a:solidFill>
                <a:latin typeface="Calibri" pitchFamily="34" charset="0"/>
                <a:ea typeface="Calibri" pitchFamily="34" charset="-122"/>
                <a:cs typeface="Calibri" pitchFamily="34" charset="-120"/>
              </a:rPr>
              <a:t>This is the last step the model itself performs.</a:t>
            </a:r>
            <a:endParaRPr lang="en-US" sz="1500" dirty="0"/>
          </a:p>
        </p:txBody>
      </p:sp>
      <p:sp>
        <p:nvSpPr>
          <p:cNvPr id="7" name="Text 5"/>
          <p:cNvSpPr/>
          <p:nvPr/>
        </p:nvSpPr>
        <p:spPr>
          <a:xfrm>
            <a:off x="274320" y="1298910"/>
            <a:ext cx="1691640" cy="438912"/>
          </a:xfrm>
          <a:prstGeom prst="rect">
            <a:avLst/>
          </a:prstGeom>
          <a:noFill/>
          <a:ln/>
        </p:spPr>
        <p:txBody>
          <a:bodyPr wrap="square" lIns="0" tIns="0" rIns="0" bIns="0" rtlCol="0" anchor="ctr"/>
          <a:lstStyle/>
          <a:p>
            <a:pPr marL="0" indent="0" algn="r">
              <a:buNone/>
            </a:pPr>
            <a:r>
              <a:rPr lang="en-US" sz="1300" dirty="0">
                <a:solidFill>
                  <a:srgbClr val="1E293B"/>
                </a:solidFill>
                <a:latin typeface="Consolas" pitchFamily="34" charset="0"/>
                <a:ea typeface="Consolas" pitchFamily="34" charset="-122"/>
                <a:cs typeface="Consolas" pitchFamily="34" charset="-120"/>
              </a:rPr>
              <a:t>orange</a:t>
            </a:r>
            <a:endParaRPr lang="en-US" sz="1300" dirty="0"/>
          </a:p>
        </p:txBody>
      </p:sp>
      <p:sp>
        <p:nvSpPr>
          <p:cNvPr id="8" name="Shape 6"/>
          <p:cNvSpPr/>
          <p:nvPr/>
        </p:nvSpPr>
        <p:spPr>
          <a:xfrm>
            <a:off x="2103120" y="1362918"/>
            <a:ext cx="5303520" cy="310896"/>
          </a:xfrm>
          <a:prstGeom prst="rect">
            <a:avLst/>
          </a:prstGeom>
          <a:solidFill>
            <a:srgbClr val="E2E8F0"/>
          </a:solidFill>
          <a:ln w="12700">
            <a:solidFill>
              <a:srgbClr val="E2E8F0"/>
            </a:solidFill>
            <a:prstDash val="solid"/>
          </a:ln>
        </p:spPr>
        <p:txBody>
          <a:bodyPr/>
          <a:lstStyle/>
          <a:p>
            <a:endParaRPr lang="es-ES"/>
          </a:p>
        </p:txBody>
      </p:sp>
      <p:sp>
        <p:nvSpPr>
          <p:cNvPr id="9" name="Shape 7"/>
          <p:cNvSpPr/>
          <p:nvPr/>
        </p:nvSpPr>
        <p:spPr>
          <a:xfrm>
            <a:off x="2103120" y="1362918"/>
            <a:ext cx="5303520" cy="310896"/>
          </a:xfrm>
          <a:prstGeom prst="rect">
            <a:avLst/>
          </a:prstGeom>
          <a:solidFill>
            <a:srgbClr val="0D9488"/>
          </a:solidFill>
          <a:ln w="12700">
            <a:solidFill>
              <a:srgbClr val="0D9488"/>
            </a:solidFill>
            <a:prstDash val="solid"/>
          </a:ln>
        </p:spPr>
        <p:txBody>
          <a:bodyPr/>
          <a:lstStyle/>
          <a:p>
            <a:endParaRPr lang="es-ES"/>
          </a:p>
        </p:txBody>
      </p:sp>
      <p:sp>
        <p:nvSpPr>
          <p:cNvPr id="10" name="Text 8"/>
          <p:cNvSpPr/>
          <p:nvPr/>
        </p:nvSpPr>
        <p:spPr>
          <a:xfrm>
            <a:off x="7479792" y="1298910"/>
            <a:ext cx="457200" cy="43891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70</a:t>
            </a:r>
            <a:endParaRPr lang="en-US" sz="1200" dirty="0"/>
          </a:p>
        </p:txBody>
      </p:sp>
      <p:sp>
        <p:nvSpPr>
          <p:cNvPr id="11" name="Text 9"/>
          <p:cNvSpPr/>
          <p:nvPr/>
        </p:nvSpPr>
        <p:spPr>
          <a:xfrm>
            <a:off x="274320" y="1737822"/>
            <a:ext cx="1691640" cy="438912"/>
          </a:xfrm>
          <a:prstGeom prst="rect">
            <a:avLst/>
          </a:prstGeom>
          <a:noFill/>
          <a:ln/>
        </p:spPr>
        <p:txBody>
          <a:bodyPr wrap="square" lIns="0" tIns="0" rIns="0" bIns="0" rtlCol="0" anchor="ctr"/>
          <a:lstStyle/>
          <a:p>
            <a:pPr marL="0" indent="0" algn="r">
              <a:buNone/>
            </a:pPr>
            <a:r>
              <a:rPr lang="en-US" sz="1300" dirty="0">
                <a:solidFill>
                  <a:srgbClr val="1E293B"/>
                </a:solidFill>
                <a:latin typeface="Consolas" pitchFamily="34" charset="0"/>
                <a:ea typeface="Consolas" pitchFamily="34" charset="-122"/>
                <a:cs typeface="Consolas" pitchFamily="34" charset="-120"/>
              </a:rPr>
              <a:t>beautiful</a:t>
            </a:r>
            <a:endParaRPr lang="en-US" sz="1300" dirty="0"/>
          </a:p>
        </p:txBody>
      </p:sp>
      <p:sp>
        <p:nvSpPr>
          <p:cNvPr id="12" name="Shape 10"/>
          <p:cNvSpPr/>
          <p:nvPr/>
        </p:nvSpPr>
        <p:spPr>
          <a:xfrm>
            <a:off x="2103120" y="1801830"/>
            <a:ext cx="5303520" cy="310896"/>
          </a:xfrm>
          <a:prstGeom prst="rect">
            <a:avLst/>
          </a:prstGeom>
          <a:solidFill>
            <a:srgbClr val="E2E8F0"/>
          </a:solidFill>
          <a:ln w="12700">
            <a:solidFill>
              <a:srgbClr val="E2E8F0"/>
            </a:solidFill>
            <a:prstDash val="solid"/>
          </a:ln>
        </p:spPr>
        <p:txBody>
          <a:bodyPr/>
          <a:lstStyle/>
          <a:p>
            <a:endParaRPr lang="es-ES"/>
          </a:p>
        </p:txBody>
      </p:sp>
      <p:sp>
        <p:nvSpPr>
          <p:cNvPr id="13" name="Shape 11"/>
          <p:cNvSpPr/>
          <p:nvPr/>
        </p:nvSpPr>
        <p:spPr>
          <a:xfrm>
            <a:off x="2103120" y="1801830"/>
            <a:ext cx="3788229" cy="310896"/>
          </a:xfrm>
          <a:prstGeom prst="rect">
            <a:avLst/>
          </a:prstGeom>
          <a:solidFill>
            <a:srgbClr val="1B2A4A"/>
          </a:solidFill>
          <a:ln w="12700">
            <a:solidFill>
              <a:srgbClr val="1B2A4A"/>
            </a:solidFill>
            <a:prstDash val="solid"/>
          </a:ln>
        </p:spPr>
        <p:txBody>
          <a:bodyPr/>
          <a:lstStyle/>
          <a:p>
            <a:endParaRPr lang="es-ES"/>
          </a:p>
        </p:txBody>
      </p:sp>
      <p:sp>
        <p:nvSpPr>
          <p:cNvPr id="14" name="Text 12"/>
          <p:cNvSpPr/>
          <p:nvPr/>
        </p:nvSpPr>
        <p:spPr>
          <a:xfrm>
            <a:off x="5964501" y="1737822"/>
            <a:ext cx="457200" cy="43891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50</a:t>
            </a:r>
            <a:endParaRPr lang="en-US" sz="1200" dirty="0"/>
          </a:p>
        </p:txBody>
      </p:sp>
      <p:sp>
        <p:nvSpPr>
          <p:cNvPr id="15" name="Text 13"/>
          <p:cNvSpPr/>
          <p:nvPr/>
        </p:nvSpPr>
        <p:spPr>
          <a:xfrm>
            <a:off x="274320" y="2176734"/>
            <a:ext cx="1691640" cy="438912"/>
          </a:xfrm>
          <a:prstGeom prst="rect">
            <a:avLst/>
          </a:prstGeom>
          <a:noFill/>
          <a:ln/>
        </p:spPr>
        <p:txBody>
          <a:bodyPr wrap="square" lIns="0" tIns="0" rIns="0" bIns="0" rtlCol="0" anchor="ctr"/>
          <a:lstStyle/>
          <a:p>
            <a:pPr marL="0" indent="0" algn="r">
              <a:buNone/>
            </a:pPr>
            <a:r>
              <a:rPr lang="en-US" sz="1300" dirty="0">
                <a:solidFill>
                  <a:srgbClr val="1E293B"/>
                </a:solidFill>
                <a:latin typeface="Consolas" pitchFamily="34" charset="0"/>
                <a:ea typeface="Consolas" pitchFamily="34" charset="-122"/>
                <a:cs typeface="Consolas" pitchFamily="34" charset="-120"/>
              </a:rPr>
              <a:t>industrial</a:t>
            </a:r>
            <a:endParaRPr lang="en-US" sz="1300" dirty="0"/>
          </a:p>
        </p:txBody>
      </p:sp>
      <p:sp>
        <p:nvSpPr>
          <p:cNvPr id="16" name="Shape 14"/>
          <p:cNvSpPr/>
          <p:nvPr/>
        </p:nvSpPr>
        <p:spPr>
          <a:xfrm>
            <a:off x="2103120" y="2240742"/>
            <a:ext cx="5303520" cy="310896"/>
          </a:xfrm>
          <a:prstGeom prst="rect">
            <a:avLst/>
          </a:prstGeom>
          <a:solidFill>
            <a:srgbClr val="E2E8F0"/>
          </a:solidFill>
          <a:ln w="12700">
            <a:solidFill>
              <a:srgbClr val="E2E8F0"/>
            </a:solidFill>
            <a:prstDash val="solid"/>
          </a:ln>
        </p:spPr>
        <p:txBody>
          <a:bodyPr/>
          <a:lstStyle/>
          <a:p>
            <a:endParaRPr lang="es-ES"/>
          </a:p>
        </p:txBody>
      </p:sp>
      <p:sp>
        <p:nvSpPr>
          <p:cNvPr id="17" name="Shape 15"/>
          <p:cNvSpPr/>
          <p:nvPr/>
        </p:nvSpPr>
        <p:spPr>
          <a:xfrm>
            <a:off x="2103120" y="2240742"/>
            <a:ext cx="2272937" cy="310896"/>
          </a:xfrm>
          <a:prstGeom prst="rect">
            <a:avLst/>
          </a:prstGeom>
          <a:solidFill>
            <a:srgbClr val="1B2A4A"/>
          </a:solidFill>
          <a:ln w="12700">
            <a:solidFill>
              <a:srgbClr val="1B2A4A"/>
            </a:solidFill>
            <a:prstDash val="solid"/>
          </a:ln>
        </p:spPr>
        <p:txBody>
          <a:bodyPr/>
          <a:lstStyle/>
          <a:p>
            <a:endParaRPr lang="es-ES"/>
          </a:p>
        </p:txBody>
      </p:sp>
      <p:sp>
        <p:nvSpPr>
          <p:cNvPr id="18" name="Text 16"/>
          <p:cNvSpPr/>
          <p:nvPr/>
        </p:nvSpPr>
        <p:spPr>
          <a:xfrm>
            <a:off x="4449209" y="2176734"/>
            <a:ext cx="457200" cy="43891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30</a:t>
            </a:r>
            <a:endParaRPr lang="en-US" sz="1200" dirty="0"/>
          </a:p>
        </p:txBody>
      </p:sp>
      <p:sp>
        <p:nvSpPr>
          <p:cNvPr id="19" name="Text 17"/>
          <p:cNvSpPr/>
          <p:nvPr/>
        </p:nvSpPr>
        <p:spPr>
          <a:xfrm>
            <a:off x="274320" y="2615646"/>
            <a:ext cx="1691640" cy="438912"/>
          </a:xfrm>
          <a:prstGeom prst="rect">
            <a:avLst/>
          </a:prstGeom>
          <a:noFill/>
          <a:ln/>
        </p:spPr>
        <p:txBody>
          <a:bodyPr wrap="square" lIns="0" tIns="0" rIns="0" bIns="0" rtlCol="0" anchor="ctr"/>
          <a:lstStyle/>
          <a:p>
            <a:pPr marL="0" indent="0" algn="r">
              <a:buNone/>
            </a:pPr>
            <a:r>
              <a:rPr lang="en-US" sz="1300" dirty="0">
                <a:solidFill>
                  <a:srgbClr val="1E293B"/>
                </a:solidFill>
                <a:latin typeface="Consolas" pitchFamily="34" charset="0"/>
                <a:ea typeface="Consolas" pitchFamily="34" charset="-122"/>
                <a:cs typeface="Consolas" pitchFamily="34" charset="-120"/>
              </a:rPr>
              <a:t>hazy</a:t>
            </a:r>
            <a:endParaRPr lang="en-US" sz="1300" dirty="0"/>
          </a:p>
        </p:txBody>
      </p:sp>
      <p:sp>
        <p:nvSpPr>
          <p:cNvPr id="20" name="Shape 18"/>
          <p:cNvSpPr/>
          <p:nvPr/>
        </p:nvSpPr>
        <p:spPr>
          <a:xfrm>
            <a:off x="2103120" y="2679654"/>
            <a:ext cx="5303520" cy="310896"/>
          </a:xfrm>
          <a:prstGeom prst="rect">
            <a:avLst/>
          </a:prstGeom>
          <a:solidFill>
            <a:srgbClr val="E2E8F0"/>
          </a:solidFill>
          <a:ln w="12700">
            <a:solidFill>
              <a:srgbClr val="E2E8F0"/>
            </a:solidFill>
            <a:prstDash val="solid"/>
          </a:ln>
        </p:spPr>
        <p:txBody>
          <a:bodyPr/>
          <a:lstStyle/>
          <a:p>
            <a:endParaRPr lang="es-ES"/>
          </a:p>
        </p:txBody>
      </p:sp>
      <p:sp>
        <p:nvSpPr>
          <p:cNvPr id="21" name="Shape 19"/>
          <p:cNvSpPr/>
          <p:nvPr/>
        </p:nvSpPr>
        <p:spPr>
          <a:xfrm>
            <a:off x="2103120" y="2679654"/>
            <a:ext cx="1515291" cy="310896"/>
          </a:xfrm>
          <a:prstGeom prst="rect">
            <a:avLst/>
          </a:prstGeom>
          <a:solidFill>
            <a:srgbClr val="1B2A4A"/>
          </a:solidFill>
          <a:ln w="12700">
            <a:solidFill>
              <a:srgbClr val="1B2A4A"/>
            </a:solidFill>
            <a:prstDash val="solid"/>
          </a:ln>
        </p:spPr>
        <p:txBody>
          <a:bodyPr/>
          <a:lstStyle/>
          <a:p>
            <a:endParaRPr lang="es-ES"/>
          </a:p>
        </p:txBody>
      </p:sp>
      <p:sp>
        <p:nvSpPr>
          <p:cNvPr id="22" name="Text 20"/>
          <p:cNvSpPr/>
          <p:nvPr/>
        </p:nvSpPr>
        <p:spPr>
          <a:xfrm>
            <a:off x="3691563" y="2615646"/>
            <a:ext cx="457200" cy="43891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20</a:t>
            </a:r>
            <a:endParaRPr lang="en-US" sz="1200" dirty="0"/>
          </a:p>
        </p:txBody>
      </p:sp>
      <p:sp>
        <p:nvSpPr>
          <p:cNvPr id="23" name="Text 21"/>
          <p:cNvSpPr/>
          <p:nvPr/>
        </p:nvSpPr>
        <p:spPr>
          <a:xfrm>
            <a:off x="274320" y="3054558"/>
            <a:ext cx="1691640" cy="438912"/>
          </a:xfrm>
          <a:prstGeom prst="rect">
            <a:avLst/>
          </a:prstGeom>
          <a:noFill/>
          <a:ln/>
        </p:spPr>
        <p:txBody>
          <a:bodyPr wrap="square" lIns="0" tIns="0" rIns="0" bIns="0" rtlCol="0" anchor="ctr"/>
          <a:lstStyle/>
          <a:p>
            <a:pPr marL="0" indent="0" algn="r">
              <a:buNone/>
            </a:pPr>
            <a:r>
              <a:rPr lang="en-US" sz="1300" dirty="0">
                <a:solidFill>
                  <a:srgbClr val="1E293B"/>
                </a:solidFill>
                <a:latin typeface="Consolas" pitchFamily="34" charset="0"/>
                <a:ea typeface="Consolas" pitchFamily="34" charset="-122"/>
                <a:cs typeface="Consolas" pitchFamily="34" charset="-120"/>
              </a:rPr>
              <a:t>smoky</a:t>
            </a:r>
            <a:endParaRPr lang="en-US" sz="1300" dirty="0"/>
          </a:p>
        </p:txBody>
      </p:sp>
      <p:sp>
        <p:nvSpPr>
          <p:cNvPr id="24" name="Shape 22"/>
          <p:cNvSpPr/>
          <p:nvPr/>
        </p:nvSpPr>
        <p:spPr>
          <a:xfrm>
            <a:off x="2103120" y="3118566"/>
            <a:ext cx="5303520" cy="310896"/>
          </a:xfrm>
          <a:prstGeom prst="rect">
            <a:avLst/>
          </a:prstGeom>
          <a:solidFill>
            <a:srgbClr val="E2E8F0"/>
          </a:solidFill>
          <a:ln w="12700">
            <a:solidFill>
              <a:srgbClr val="E2E8F0"/>
            </a:solidFill>
            <a:prstDash val="solid"/>
          </a:ln>
        </p:spPr>
        <p:txBody>
          <a:bodyPr/>
          <a:lstStyle/>
          <a:p>
            <a:endParaRPr lang="es-ES"/>
          </a:p>
        </p:txBody>
      </p:sp>
      <p:sp>
        <p:nvSpPr>
          <p:cNvPr id="25" name="Shape 23"/>
          <p:cNvSpPr/>
          <p:nvPr/>
        </p:nvSpPr>
        <p:spPr>
          <a:xfrm>
            <a:off x="2103120" y="3118566"/>
            <a:ext cx="1136469" cy="310896"/>
          </a:xfrm>
          <a:prstGeom prst="rect">
            <a:avLst/>
          </a:prstGeom>
          <a:solidFill>
            <a:srgbClr val="1B2A4A"/>
          </a:solidFill>
          <a:ln w="12700">
            <a:solidFill>
              <a:srgbClr val="1B2A4A"/>
            </a:solidFill>
            <a:prstDash val="solid"/>
          </a:ln>
        </p:spPr>
        <p:txBody>
          <a:bodyPr/>
          <a:lstStyle/>
          <a:p>
            <a:endParaRPr lang="es-ES"/>
          </a:p>
        </p:txBody>
      </p:sp>
      <p:sp>
        <p:nvSpPr>
          <p:cNvPr id="26" name="Text 24"/>
          <p:cNvSpPr/>
          <p:nvPr/>
        </p:nvSpPr>
        <p:spPr>
          <a:xfrm>
            <a:off x="3312741" y="3054558"/>
            <a:ext cx="457200" cy="43891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15</a:t>
            </a:r>
            <a:endParaRPr lang="en-US" sz="1200" dirty="0"/>
          </a:p>
        </p:txBody>
      </p:sp>
      <p:sp>
        <p:nvSpPr>
          <p:cNvPr id="27" name="Text 25"/>
          <p:cNvSpPr/>
          <p:nvPr/>
        </p:nvSpPr>
        <p:spPr>
          <a:xfrm>
            <a:off x="274320" y="3493470"/>
            <a:ext cx="1691640" cy="438912"/>
          </a:xfrm>
          <a:prstGeom prst="rect">
            <a:avLst/>
          </a:prstGeom>
          <a:noFill/>
          <a:ln/>
        </p:spPr>
        <p:txBody>
          <a:bodyPr wrap="square" lIns="0" tIns="0" rIns="0" bIns="0" rtlCol="0" anchor="ctr"/>
          <a:lstStyle/>
          <a:p>
            <a:pPr marL="0" indent="0" algn="r">
              <a:buNone/>
            </a:pPr>
            <a:r>
              <a:rPr lang="en-US" sz="1300" dirty="0">
                <a:solidFill>
                  <a:srgbClr val="1E293B"/>
                </a:solidFill>
                <a:latin typeface="Consolas" pitchFamily="34" charset="0"/>
                <a:ea typeface="Consolas" pitchFamily="34" charset="-122"/>
                <a:cs typeface="Consolas" pitchFamily="34" charset="-120"/>
              </a:rPr>
              <a:t>forgotten</a:t>
            </a:r>
            <a:endParaRPr lang="en-US" sz="1300" dirty="0"/>
          </a:p>
        </p:txBody>
      </p:sp>
      <p:sp>
        <p:nvSpPr>
          <p:cNvPr id="28" name="Shape 26"/>
          <p:cNvSpPr/>
          <p:nvPr/>
        </p:nvSpPr>
        <p:spPr>
          <a:xfrm>
            <a:off x="2103120" y="3557478"/>
            <a:ext cx="5303520" cy="310896"/>
          </a:xfrm>
          <a:prstGeom prst="rect">
            <a:avLst/>
          </a:prstGeom>
          <a:solidFill>
            <a:srgbClr val="E2E8F0"/>
          </a:solidFill>
          <a:ln w="12700">
            <a:solidFill>
              <a:srgbClr val="E2E8F0"/>
            </a:solidFill>
            <a:prstDash val="solid"/>
          </a:ln>
        </p:spPr>
        <p:txBody>
          <a:bodyPr/>
          <a:lstStyle/>
          <a:p>
            <a:endParaRPr lang="es-ES"/>
          </a:p>
        </p:txBody>
      </p:sp>
      <p:sp>
        <p:nvSpPr>
          <p:cNvPr id="29" name="Shape 27"/>
          <p:cNvSpPr/>
          <p:nvPr/>
        </p:nvSpPr>
        <p:spPr>
          <a:xfrm>
            <a:off x="2103120" y="3557478"/>
            <a:ext cx="757646" cy="310896"/>
          </a:xfrm>
          <a:prstGeom prst="rect">
            <a:avLst/>
          </a:prstGeom>
          <a:solidFill>
            <a:srgbClr val="1B2A4A"/>
          </a:solidFill>
          <a:ln w="12700">
            <a:solidFill>
              <a:srgbClr val="1B2A4A"/>
            </a:solidFill>
            <a:prstDash val="solid"/>
          </a:ln>
        </p:spPr>
        <p:txBody>
          <a:bodyPr/>
          <a:lstStyle/>
          <a:p>
            <a:endParaRPr lang="es-ES"/>
          </a:p>
        </p:txBody>
      </p:sp>
      <p:sp>
        <p:nvSpPr>
          <p:cNvPr id="30" name="Text 28"/>
          <p:cNvSpPr/>
          <p:nvPr/>
        </p:nvSpPr>
        <p:spPr>
          <a:xfrm>
            <a:off x="2933918" y="3493470"/>
            <a:ext cx="457200" cy="43891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10</a:t>
            </a:r>
            <a:endParaRPr lang="en-US" sz="1200" dirty="0"/>
          </a:p>
        </p:txBody>
      </p:sp>
      <p:sp>
        <p:nvSpPr>
          <p:cNvPr id="31" name="Text 29"/>
          <p:cNvSpPr/>
          <p:nvPr/>
        </p:nvSpPr>
        <p:spPr>
          <a:xfrm>
            <a:off x="274320" y="3932382"/>
            <a:ext cx="1691640" cy="438912"/>
          </a:xfrm>
          <a:prstGeom prst="rect">
            <a:avLst/>
          </a:prstGeom>
          <a:noFill/>
          <a:ln/>
        </p:spPr>
        <p:txBody>
          <a:bodyPr wrap="square" lIns="0" tIns="0" rIns="0" bIns="0" rtlCol="0" anchor="ctr"/>
          <a:lstStyle/>
          <a:p>
            <a:pPr marL="0" indent="0" algn="r">
              <a:buNone/>
            </a:pPr>
            <a:r>
              <a:rPr lang="en-US" sz="1300" dirty="0">
                <a:solidFill>
                  <a:srgbClr val="1E293B"/>
                </a:solidFill>
                <a:latin typeface="Consolas" pitchFamily="34" charset="0"/>
                <a:ea typeface="Consolas" pitchFamily="34" charset="-122"/>
                <a:cs typeface="Consolas" pitchFamily="34" charset="-120"/>
              </a:rPr>
              <a:t>chocolate</a:t>
            </a:r>
            <a:endParaRPr lang="en-US" sz="1300" dirty="0"/>
          </a:p>
        </p:txBody>
      </p:sp>
      <p:sp>
        <p:nvSpPr>
          <p:cNvPr id="32" name="Shape 30"/>
          <p:cNvSpPr/>
          <p:nvPr/>
        </p:nvSpPr>
        <p:spPr>
          <a:xfrm>
            <a:off x="2103120" y="3996390"/>
            <a:ext cx="5303520" cy="310896"/>
          </a:xfrm>
          <a:prstGeom prst="rect">
            <a:avLst/>
          </a:prstGeom>
          <a:solidFill>
            <a:srgbClr val="E2E8F0"/>
          </a:solidFill>
          <a:ln w="12700">
            <a:solidFill>
              <a:srgbClr val="E2E8F0"/>
            </a:solidFill>
            <a:prstDash val="solid"/>
          </a:ln>
        </p:spPr>
        <p:txBody>
          <a:bodyPr/>
          <a:lstStyle/>
          <a:p>
            <a:endParaRPr lang="es-ES"/>
          </a:p>
        </p:txBody>
      </p:sp>
      <p:sp>
        <p:nvSpPr>
          <p:cNvPr id="33" name="Shape 31"/>
          <p:cNvSpPr/>
          <p:nvPr/>
        </p:nvSpPr>
        <p:spPr>
          <a:xfrm>
            <a:off x="2103120" y="3996390"/>
            <a:ext cx="378823" cy="310896"/>
          </a:xfrm>
          <a:prstGeom prst="rect">
            <a:avLst/>
          </a:prstGeom>
          <a:solidFill>
            <a:srgbClr val="1B2A4A"/>
          </a:solidFill>
          <a:ln w="12700">
            <a:solidFill>
              <a:srgbClr val="1B2A4A"/>
            </a:solidFill>
            <a:prstDash val="solid"/>
          </a:ln>
        </p:spPr>
        <p:txBody>
          <a:bodyPr/>
          <a:lstStyle/>
          <a:p>
            <a:endParaRPr lang="es-ES"/>
          </a:p>
        </p:txBody>
      </p:sp>
      <p:sp>
        <p:nvSpPr>
          <p:cNvPr id="34" name="Text 32"/>
          <p:cNvSpPr/>
          <p:nvPr/>
        </p:nvSpPr>
        <p:spPr>
          <a:xfrm>
            <a:off x="2555095" y="3932382"/>
            <a:ext cx="457200" cy="43891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a:t>
            </a:r>
            <a:endParaRPr lang="en-US" sz="1200" dirty="0"/>
          </a:p>
        </p:txBody>
      </p:sp>
      <p:sp>
        <p:nvSpPr>
          <p:cNvPr id="35" name="Shape 33"/>
          <p:cNvSpPr/>
          <p:nvPr/>
        </p:nvSpPr>
        <p:spPr>
          <a:xfrm>
            <a:off x="365760" y="4538778"/>
            <a:ext cx="8412480" cy="0"/>
          </a:xfrm>
          <a:prstGeom prst="line">
            <a:avLst/>
          </a:prstGeom>
          <a:noFill/>
          <a:ln w="19050">
            <a:solidFill>
              <a:srgbClr val="0D9488"/>
            </a:solidFill>
            <a:prstDash val="dash"/>
          </a:ln>
        </p:spPr>
        <p:txBody>
          <a:bodyPr/>
          <a:lstStyle/>
          <a:p>
            <a:endParaRPr lang="es-ES"/>
          </a:p>
        </p:txBody>
      </p:sp>
      <p:sp>
        <p:nvSpPr>
          <p:cNvPr id="36" name="Text 34"/>
          <p:cNvSpPr/>
          <p:nvPr/>
        </p:nvSpPr>
        <p:spPr>
          <a:xfrm>
            <a:off x="365760" y="4584498"/>
            <a:ext cx="8412480" cy="347472"/>
          </a:xfrm>
          <a:prstGeom prst="rect">
            <a:avLst/>
          </a:prstGeom>
          <a:noFill/>
          <a:ln/>
        </p:spPr>
        <p:txBody>
          <a:bodyPr wrap="square" rtlCol="0" anchor="ctr"/>
          <a:lstStyle/>
          <a:p>
            <a:pPr marL="0" indent="0">
              <a:buNone/>
            </a:pPr>
            <a:r>
              <a:rPr lang="en-US" sz="1300" b="1" i="1" dirty="0">
                <a:solidFill>
                  <a:srgbClr val="0D9488"/>
                </a:solidFill>
                <a:latin typeface="Calibri" pitchFamily="34" charset="0"/>
                <a:ea typeface="Calibri" pitchFamily="34" charset="-122"/>
                <a:cs typeface="Calibri" pitchFamily="34" charset="-120"/>
              </a:rPr>
              <a:t>Everything from here on is handled by the Inference Engine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Shape 1"/>
          <p:cNvSpPr/>
          <p:nvPr/>
        </p:nvSpPr>
        <p:spPr>
          <a:xfrm>
            <a:off x="0" y="0"/>
            <a:ext cx="1280160" cy="658368"/>
          </a:xfrm>
          <a:prstGeom prst="rect">
            <a:avLst/>
          </a:prstGeom>
          <a:solidFill>
            <a:srgbClr val="0D9488"/>
          </a:solidFill>
          <a:ln w="12700">
            <a:solidFill>
              <a:srgbClr val="0D9488"/>
            </a:solidFill>
            <a:prstDash val="solid"/>
          </a:ln>
        </p:spPr>
        <p:txBody>
          <a:bodyPr/>
          <a:lstStyle/>
          <a:p>
            <a:endParaRPr lang="es-ES"/>
          </a:p>
        </p:txBody>
      </p:sp>
      <p:sp>
        <p:nvSpPr>
          <p:cNvPr id="4" name="Text 2"/>
          <p:cNvSpPr/>
          <p:nvPr/>
        </p:nvSpPr>
        <p:spPr>
          <a:xfrm>
            <a:off x="0" y="0"/>
            <a:ext cx="128016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Step 5</a:t>
            </a:r>
            <a:endParaRPr lang="en-US" sz="1300" dirty="0"/>
          </a:p>
        </p:txBody>
      </p:sp>
      <p:sp>
        <p:nvSpPr>
          <p:cNvPr id="5" name="Text 3"/>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Softmax + Temperature</a:t>
            </a:r>
            <a:endParaRPr lang="en-US" sz="2000" dirty="0"/>
          </a:p>
        </p:txBody>
      </p:sp>
      <p:sp>
        <p:nvSpPr>
          <p:cNvPr id="6" name="Text 4"/>
          <p:cNvSpPr/>
          <p:nvPr/>
        </p:nvSpPr>
        <p:spPr>
          <a:xfrm>
            <a:off x="457200" y="777240"/>
            <a:ext cx="8229600" cy="45720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Raw scores → probabilities via Softmax. Temperature controls how spread out those probabilities are.</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420504150"/>
              </p:ext>
            </p:extLst>
          </p:nvPr>
        </p:nvGraphicFramePr>
        <p:xfrm>
          <a:off x="822960" y="1325880"/>
          <a:ext cx="7498080" cy="3108960"/>
        </p:xfrm>
        <a:graphic>
          <a:graphicData uri="http://schemas.openxmlformats.org/drawingml/2006/table">
            <a:tbl>
              <a:tblPr/>
              <a:tblGrid>
                <a:gridCol w="1874520">
                  <a:extLst>
                    <a:ext uri="{9D8B030D-6E8A-4147-A177-3AD203B41FA5}">
                      <a16:colId xmlns:a16="http://schemas.microsoft.com/office/drawing/2014/main" val="20000"/>
                    </a:ext>
                  </a:extLst>
                </a:gridCol>
                <a:gridCol w="1387717">
                  <a:extLst>
                    <a:ext uri="{9D8B030D-6E8A-4147-A177-3AD203B41FA5}">
                      <a16:colId xmlns:a16="http://schemas.microsoft.com/office/drawing/2014/main" val="20001"/>
                    </a:ext>
                  </a:extLst>
                </a:gridCol>
                <a:gridCol w="1526193">
                  <a:extLst>
                    <a:ext uri="{9D8B030D-6E8A-4147-A177-3AD203B41FA5}">
                      <a16:colId xmlns:a16="http://schemas.microsoft.com/office/drawing/2014/main" val="20002"/>
                    </a:ext>
                  </a:extLst>
                </a:gridCol>
                <a:gridCol w="1341997">
                  <a:extLst>
                    <a:ext uri="{9D8B030D-6E8A-4147-A177-3AD203B41FA5}">
                      <a16:colId xmlns:a16="http://schemas.microsoft.com/office/drawing/2014/main" val="20003"/>
                    </a:ext>
                  </a:extLst>
                </a:gridCol>
                <a:gridCol w="1367653">
                  <a:extLst>
                    <a:ext uri="{9D8B030D-6E8A-4147-A177-3AD203B41FA5}">
                      <a16:colId xmlns:a16="http://schemas.microsoft.com/office/drawing/2014/main" val="1129703190"/>
                    </a:ext>
                  </a:extLst>
                </a:gridCol>
              </a:tblGrid>
              <a:tr h="38862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Token</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300" b="1">
                          <a:solidFill>
                            <a:srgbClr val="FFFFFF"/>
                          </a:solidFill>
                          <a:latin typeface="Calibri" pitchFamily="34" charset="0"/>
                          <a:ea typeface="Calibri" pitchFamily="34" charset="-122"/>
                          <a:cs typeface="Calibri" pitchFamily="34" charset="-120"/>
                        </a:rPr>
                        <a:t>Score T=0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T=0  (focused)</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300" b="1">
                          <a:solidFill>
                            <a:srgbClr val="FFFFFF"/>
                          </a:solidFill>
                          <a:latin typeface="Calibri" pitchFamily="34" charset="0"/>
                          <a:ea typeface="Calibri" pitchFamily="34" charset="-122"/>
                          <a:cs typeface="Calibri" pitchFamily="34" charset="-120"/>
                        </a:rPr>
                        <a:t>Score T=2</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T=2  (spread out)</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8620">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orange</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B2A4A"/>
                          </a:solidFill>
                          <a:latin typeface="Calibri" pitchFamily="34" charset="0"/>
                          <a:ea typeface="Calibri" pitchFamily="34" charset="-122"/>
                          <a:cs typeface="Calibri" pitchFamily="34" charset="-120"/>
                        </a:rPr>
                        <a:t>0.350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a:solidFill>
                            <a:srgbClr val="0D9488"/>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D9488"/>
                          </a:solidFill>
                          <a:latin typeface="Calibri" pitchFamily="34" charset="0"/>
                          <a:ea typeface="Calibri" pitchFamily="34" charset="-122"/>
                          <a:cs typeface="Calibri" pitchFamily="34" charset="-120"/>
                        </a:rPr>
                        <a:t>0.225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8620">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beautiful</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b="1" dirty="0">
                          <a:solidFill>
                            <a:srgbClr val="1B2A4A"/>
                          </a:solidFill>
                          <a:latin typeface="Calibri" pitchFamily="34" charset="0"/>
                          <a:ea typeface="Calibri" pitchFamily="34" charset="-122"/>
                          <a:cs typeface="Calibri" pitchFamily="34" charset="-120"/>
                        </a:rPr>
                        <a:t>0.250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a:solidFill>
                            <a:srgbClr val="0D9488"/>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dirty="0">
                          <a:solidFill>
                            <a:srgbClr val="0D9488"/>
                          </a:solidFill>
                          <a:latin typeface="Calibri" pitchFamily="34" charset="0"/>
                          <a:ea typeface="Calibri" pitchFamily="34" charset="-122"/>
                          <a:cs typeface="Calibri" pitchFamily="34" charset="-120"/>
                        </a:rPr>
                        <a:t>0.200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88620">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industrial</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B2A4A"/>
                          </a:solidFill>
                          <a:latin typeface="Calibri" pitchFamily="34" charset="0"/>
                          <a:ea typeface="Calibri" pitchFamily="34" charset="-122"/>
                          <a:cs typeface="Calibri" pitchFamily="34" charset="-120"/>
                        </a:rPr>
                        <a:t>0.150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a:solidFill>
                            <a:srgbClr val="0D9488"/>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D9488"/>
                          </a:solidFill>
                          <a:latin typeface="Calibri" pitchFamily="34" charset="0"/>
                          <a:ea typeface="Calibri" pitchFamily="34" charset="-122"/>
                          <a:cs typeface="Calibri" pitchFamily="34" charset="-120"/>
                        </a:rPr>
                        <a:t>0.175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8620">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hazy</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b="1" dirty="0">
                          <a:solidFill>
                            <a:srgbClr val="1B2A4A"/>
                          </a:solidFill>
                          <a:latin typeface="Calibri" pitchFamily="34" charset="0"/>
                          <a:ea typeface="Calibri" pitchFamily="34" charset="-122"/>
                          <a:cs typeface="Calibri" pitchFamily="34" charset="-120"/>
                        </a:rPr>
                        <a:t>0.100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a:solidFill>
                            <a:srgbClr val="0D9488"/>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dirty="0">
                          <a:solidFill>
                            <a:srgbClr val="0D9488"/>
                          </a:solidFill>
                          <a:latin typeface="Calibri" pitchFamily="34" charset="0"/>
                          <a:ea typeface="Calibri" pitchFamily="34" charset="-122"/>
                          <a:cs typeface="Calibri" pitchFamily="34" charset="-120"/>
                        </a:rPr>
                        <a:t>0.150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88620">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smoky</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B2A4A"/>
                          </a:solidFill>
                          <a:latin typeface="Calibri" pitchFamily="34" charset="0"/>
                          <a:ea typeface="Calibri" pitchFamily="34" charset="-122"/>
                          <a:cs typeface="Calibri" pitchFamily="34" charset="-120"/>
                        </a:rPr>
                        <a:t>0.075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a:solidFill>
                            <a:srgbClr val="0D9488"/>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D9488"/>
                          </a:solidFill>
                          <a:latin typeface="Calibri" pitchFamily="34" charset="0"/>
                          <a:ea typeface="Calibri" pitchFamily="34" charset="-122"/>
                          <a:cs typeface="Calibri" pitchFamily="34" charset="-120"/>
                        </a:rPr>
                        <a:t>0.125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8620">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forgotten</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b="1" dirty="0">
                          <a:solidFill>
                            <a:srgbClr val="1B2A4A"/>
                          </a:solidFill>
                          <a:latin typeface="Calibri" pitchFamily="34" charset="0"/>
                          <a:ea typeface="Calibri" pitchFamily="34" charset="-122"/>
                          <a:cs typeface="Calibri" pitchFamily="34" charset="-120"/>
                        </a:rPr>
                        <a:t>0.050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a:solidFill>
                            <a:srgbClr val="0D9488"/>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dirty="0">
                          <a:solidFill>
                            <a:srgbClr val="0D9488"/>
                          </a:solidFill>
                          <a:latin typeface="Calibri" pitchFamily="34" charset="0"/>
                          <a:ea typeface="Calibri" pitchFamily="34" charset="-122"/>
                          <a:cs typeface="Calibri" pitchFamily="34" charset="-120"/>
                        </a:rPr>
                        <a:t>0.075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388620">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chocolate</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B2A4A"/>
                          </a:solidFill>
                          <a:latin typeface="Calibri" pitchFamily="34" charset="0"/>
                          <a:ea typeface="Calibri" pitchFamily="34" charset="-122"/>
                          <a:cs typeface="Calibri" pitchFamily="34" charset="-120"/>
                        </a:rPr>
                        <a:t>0.025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a:solidFill>
                            <a:srgbClr val="0D9488"/>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D9488"/>
                          </a:solidFill>
                          <a:latin typeface="Calibri" pitchFamily="34" charset="0"/>
                          <a:ea typeface="Calibri" pitchFamily="34" charset="-122"/>
                          <a:cs typeface="Calibri" pitchFamily="34" charset="-120"/>
                        </a:rPr>
                        <a:t>0.050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5"/>
          <p:cNvSpPr/>
          <p:nvPr/>
        </p:nvSpPr>
        <p:spPr>
          <a:xfrm>
            <a:off x="457200" y="4572000"/>
            <a:ext cx="8229600" cy="347472"/>
          </a:xfrm>
          <a:prstGeom prst="rect">
            <a:avLst/>
          </a:prstGeom>
          <a:noFill/>
          <a:ln/>
        </p:spPr>
        <p:txBody>
          <a:bodyPr wrap="square" rtlCol="0" anchor="ctr"/>
          <a:lstStyle/>
          <a:p>
            <a:pPr marL="0" indent="0" algn="ctr">
              <a:buNone/>
            </a:pPr>
            <a:r>
              <a:rPr lang="en-US" sz="1300" i="1" dirty="0">
                <a:solidFill>
                  <a:srgbClr val="64748B"/>
                </a:solidFill>
                <a:latin typeface="Calibri" pitchFamily="34" charset="0"/>
                <a:ea typeface="Calibri" pitchFamily="34" charset="-122"/>
                <a:cs typeface="Calibri" pitchFamily="34" charset="-120"/>
              </a:rPr>
              <a:t>Low T → decisive &amp; repetitive    |    High T → creative &amp; unpredictable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Shape 1"/>
          <p:cNvSpPr/>
          <p:nvPr/>
        </p:nvSpPr>
        <p:spPr>
          <a:xfrm>
            <a:off x="0" y="0"/>
            <a:ext cx="1280160" cy="658368"/>
          </a:xfrm>
          <a:prstGeom prst="rect">
            <a:avLst/>
          </a:prstGeom>
          <a:solidFill>
            <a:srgbClr val="0D9488"/>
          </a:solidFill>
          <a:ln w="12700">
            <a:solidFill>
              <a:srgbClr val="0D9488"/>
            </a:solidFill>
            <a:prstDash val="solid"/>
          </a:ln>
        </p:spPr>
        <p:txBody>
          <a:bodyPr/>
          <a:lstStyle/>
          <a:p>
            <a:endParaRPr lang="es-ES"/>
          </a:p>
        </p:txBody>
      </p:sp>
      <p:sp>
        <p:nvSpPr>
          <p:cNvPr id="4" name="Text 2"/>
          <p:cNvSpPr/>
          <p:nvPr/>
        </p:nvSpPr>
        <p:spPr>
          <a:xfrm>
            <a:off x="0" y="0"/>
            <a:ext cx="128016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Step 6a</a:t>
            </a:r>
            <a:endParaRPr lang="en-US" sz="1300" dirty="0"/>
          </a:p>
        </p:txBody>
      </p:sp>
      <p:sp>
        <p:nvSpPr>
          <p:cNvPr id="5" name="Text 3"/>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Filtering — top-k</a:t>
            </a:r>
            <a:endParaRPr lang="en-US" sz="2000" dirty="0"/>
          </a:p>
        </p:txBody>
      </p:sp>
      <p:sp>
        <p:nvSpPr>
          <p:cNvPr id="6" name="Text 4"/>
          <p:cNvSpPr/>
          <p:nvPr/>
        </p:nvSpPr>
        <p:spPr>
          <a:xfrm>
            <a:off x="457200" y="777240"/>
            <a:ext cx="8229600" cy="45720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top-k keeps only the k most probable tokens and renormalizes probabilities among them.</a:t>
            </a:r>
            <a:endParaRPr lang="en-US" sz="1500" dirty="0"/>
          </a:p>
        </p:txBody>
      </p:sp>
      <p:sp>
        <p:nvSpPr>
          <p:cNvPr id="7" name="Text 5"/>
          <p:cNvSpPr/>
          <p:nvPr/>
        </p:nvSpPr>
        <p:spPr>
          <a:xfrm>
            <a:off x="457200" y="1261872"/>
            <a:ext cx="4572000" cy="320040"/>
          </a:xfrm>
          <a:prstGeom prst="rect">
            <a:avLst/>
          </a:prstGeom>
          <a:noFill/>
          <a:ln/>
        </p:spPr>
        <p:txBody>
          <a:bodyPr wrap="square"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Example: T=0, top-k=3</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2960" y="1664208"/>
          <a:ext cx="7498080" cy="3063240"/>
        </p:xfrm>
        <a:graphic>
          <a:graphicData uri="http://schemas.openxmlformats.org/drawingml/2006/table">
            <a:tbl>
              <a:tblPr/>
              <a:tblGrid>
                <a:gridCol w="18745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tblGrid>
              <a:tr h="382905">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Token</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Score</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Original prob.</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Renormalized prob.</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2905">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orange</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0.350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D9488"/>
                          </a:solidFill>
                          <a:latin typeface="Calibri" pitchFamily="34" charset="0"/>
                          <a:ea typeface="Calibri" pitchFamily="34" charset="-122"/>
                          <a:cs typeface="Calibri" pitchFamily="34" charset="-120"/>
                        </a:rPr>
                        <a:t>0.467</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AF4F2"/>
                    </a:solidFill>
                  </a:tcPr>
                </a:tc>
                <a:extLst>
                  <a:ext uri="{0D108BD9-81ED-4DB2-BD59-A6C34878D82A}">
                    <a16:rowId xmlns:a16="http://schemas.microsoft.com/office/drawing/2014/main" val="10001"/>
                  </a:ext>
                </a:extLst>
              </a:tr>
              <a:tr h="382905">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beautiful</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0.250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D9488"/>
                          </a:solidFill>
                          <a:latin typeface="Calibri" pitchFamily="34" charset="0"/>
                          <a:ea typeface="Calibri" pitchFamily="34" charset="-122"/>
                          <a:cs typeface="Calibri" pitchFamily="34" charset="-120"/>
                        </a:rPr>
                        <a:t>0.333</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AF4F2"/>
                    </a:solidFill>
                  </a:tcPr>
                </a:tc>
                <a:extLst>
                  <a:ext uri="{0D108BD9-81ED-4DB2-BD59-A6C34878D82A}">
                    <a16:rowId xmlns:a16="http://schemas.microsoft.com/office/drawing/2014/main" val="10002"/>
                  </a:ext>
                </a:extLst>
              </a:tr>
              <a:tr h="382905">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industrial</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0.150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D9488"/>
                          </a:solidFill>
                          <a:latin typeface="Calibri" pitchFamily="34" charset="0"/>
                          <a:ea typeface="Calibri" pitchFamily="34" charset="-122"/>
                          <a:cs typeface="Calibri" pitchFamily="34" charset="-120"/>
                        </a:rPr>
                        <a:t>0.200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AF4F2"/>
                    </a:solidFill>
                  </a:tcPr>
                </a:tc>
                <a:extLst>
                  <a:ext uri="{0D108BD9-81ED-4DB2-BD59-A6C34878D82A}">
                    <a16:rowId xmlns:a16="http://schemas.microsoft.com/office/drawing/2014/main" val="10003"/>
                  </a:ext>
                </a:extLst>
              </a:tr>
              <a:tr h="382905">
                <a:tc>
                  <a:txBody>
                    <a:bodyPr/>
                    <a:lstStyle/>
                    <a:p>
                      <a:pPr marL="0" indent="0" algn="ctr">
                        <a:buNone/>
                      </a:pPr>
                      <a:r>
                        <a:rPr lang="en-US" sz="1300" i="1" dirty="0">
                          <a:solidFill>
                            <a:srgbClr val="64748B"/>
                          </a:solidFill>
                          <a:latin typeface="Consolas" pitchFamily="34" charset="0"/>
                          <a:ea typeface="Consolas" pitchFamily="34" charset="-122"/>
                          <a:cs typeface="Consolas" pitchFamily="34" charset="-120"/>
                        </a:rPr>
                        <a:t>(hazy)</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0.100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82905">
                <a:tc>
                  <a:txBody>
                    <a:bodyPr/>
                    <a:lstStyle/>
                    <a:p>
                      <a:pPr marL="0" indent="0" algn="ctr">
                        <a:buNone/>
                      </a:pPr>
                      <a:r>
                        <a:rPr lang="en-US" sz="1300" i="1" dirty="0">
                          <a:solidFill>
                            <a:srgbClr val="64748B"/>
                          </a:solidFill>
                          <a:latin typeface="Consolas" pitchFamily="34" charset="0"/>
                          <a:ea typeface="Consolas" pitchFamily="34" charset="-122"/>
                          <a:cs typeface="Consolas" pitchFamily="34" charset="-120"/>
                        </a:rPr>
                        <a:t>(smoky)</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0.075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5"/>
                  </a:ext>
                </a:extLst>
              </a:tr>
              <a:tr h="382905">
                <a:tc>
                  <a:txBody>
                    <a:bodyPr/>
                    <a:lstStyle/>
                    <a:p>
                      <a:pPr marL="0" indent="0" algn="ctr">
                        <a:buNone/>
                      </a:pPr>
                      <a:r>
                        <a:rPr lang="en-US" sz="1300" i="1" dirty="0">
                          <a:solidFill>
                            <a:srgbClr val="64748B"/>
                          </a:solidFill>
                          <a:latin typeface="Consolas" pitchFamily="34" charset="0"/>
                          <a:ea typeface="Consolas" pitchFamily="34" charset="-122"/>
                          <a:cs typeface="Consolas" pitchFamily="34" charset="-120"/>
                        </a:rPr>
                        <a:t>(forgotten)</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0.050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382905">
                <a:tc>
                  <a:txBody>
                    <a:bodyPr/>
                    <a:lstStyle/>
                    <a:p>
                      <a:pPr marL="0" indent="0" algn="ctr">
                        <a:buNone/>
                      </a:pPr>
                      <a:r>
                        <a:rPr lang="en-US" sz="1300" i="1" dirty="0">
                          <a:solidFill>
                            <a:srgbClr val="64748B"/>
                          </a:solidFill>
                          <a:latin typeface="Consolas" pitchFamily="34" charset="0"/>
                          <a:ea typeface="Consolas" pitchFamily="34" charset="-122"/>
                          <a:cs typeface="Consolas" pitchFamily="34" charset="-120"/>
                        </a:rPr>
                        <a:t>(chocolate)</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0.025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300" i="1"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Shape 1"/>
          <p:cNvSpPr/>
          <p:nvPr/>
        </p:nvSpPr>
        <p:spPr>
          <a:xfrm>
            <a:off x="0" y="0"/>
            <a:ext cx="1280160" cy="658368"/>
          </a:xfrm>
          <a:prstGeom prst="rect">
            <a:avLst/>
          </a:prstGeom>
          <a:solidFill>
            <a:srgbClr val="0D9488"/>
          </a:solidFill>
          <a:ln w="12700">
            <a:solidFill>
              <a:srgbClr val="0D9488"/>
            </a:solidFill>
            <a:prstDash val="solid"/>
          </a:ln>
        </p:spPr>
        <p:txBody>
          <a:bodyPr/>
          <a:lstStyle/>
          <a:p>
            <a:endParaRPr lang="es-ES"/>
          </a:p>
        </p:txBody>
      </p:sp>
      <p:sp>
        <p:nvSpPr>
          <p:cNvPr id="4" name="Text 2"/>
          <p:cNvSpPr/>
          <p:nvPr/>
        </p:nvSpPr>
        <p:spPr>
          <a:xfrm>
            <a:off x="0" y="0"/>
            <a:ext cx="128016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Step 6b</a:t>
            </a:r>
            <a:endParaRPr lang="en-US" sz="1300" dirty="0"/>
          </a:p>
        </p:txBody>
      </p:sp>
      <p:sp>
        <p:nvSpPr>
          <p:cNvPr id="5" name="Text 3"/>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Filtering — top-p (Nucleus Sampling)</a:t>
            </a:r>
            <a:endParaRPr lang="en-US" sz="2000" dirty="0"/>
          </a:p>
        </p:txBody>
      </p:sp>
      <p:sp>
        <p:nvSpPr>
          <p:cNvPr id="6" name="Text 4"/>
          <p:cNvSpPr/>
          <p:nvPr/>
        </p:nvSpPr>
        <p:spPr>
          <a:xfrm>
            <a:off x="457200" y="777240"/>
            <a:ext cx="8229600" cy="50292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top-p keeps adding tokens in probability order until the cumulative total hits or crosses p — including the token that pushed it over.</a:t>
            </a:r>
            <a:endParaRPr lang="en-US" sz="1500" dirty="0"/>
          </a:p>
        </p:txBody>
      </p:sp>
      <p:sp>
        <p:nvSpPr>
          <p:cNvPr id="7" name="Text 5"/>
          <p:cNvSpPr/>
          <p:nvPr/>
        </p:nvSpPr>
        <p:spPr>
          <a:xfrm>
            <a:off x="457200" y="1325880"/>
            <a:ext cx="4572000" cy="320040"/>
          </a:xfrm>
          <a:prstGeom prst="rect">
            <a:avLst/>
          </a:prstGeom>
          <a:noFill/>
          <a:ln/>
        </p:spPr>
        <p:txBody>
          <a:bodyPr wrap="square"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Example: T=0, top-p=0.80</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751564115"/>
              </p:ext>
            </p:extLst>
          </p:nvPr>
        </p:nvGraphicFramePr>
        <p:xfrm>
          <a:off x="457200" y="1719072"/>
          <a:ext cx="8229600" cy="2798064"/>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66344">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Token</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Probability</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Cumulative</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Included?</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Renormalized</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66344">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orange</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0.35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0.35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2C55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D9488"/>
                          </a:solidFill>
                          <a:latin typeface="Calibri" pitchFamily="34" charset="0"/>
                          <a:ea typeface="Calibri" pitchFamily="34" charset="-122"/>
                          <a:cs typeface="Calibri" pitchFamily="34" charset="-120"/>
                        </a:rPr>
                        <a:t>0.412</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6344">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beautiful</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0.25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dirty="0">
                          <a:solidFill>
                            <a:srgbClr val="22C55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300" b="1" dirty="0">
                          <a:solidFill>
                            <a:srgbClr val="0D9488"/>
                          </a:solidFill>
                          <a:latin typeface="Calibri" pitchFamily="34" charset="0"/>
                          <a:ea typeface="Calibri" pitchFamily="34" charset="-122"/>
                          <a:cs typeface="Calibri" pitchFamily="34" charset="-120"/>
                        </a:rPr>
                        <a:t>0.294</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466344">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industrial</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0.15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2C55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D9488"/>
                          </a:solidFill>
                          <a:latin typeface="Calibri" pitchFamily="34" charset="0"/>
                          <a:ea typeface="Calibri" pitchFamily="34" charset="-122"/>
                          <a:cs typeface="Calibri" pitchFamily="34" charset="-120"/>
                        </a:rPr>
                        <a:t>0.176</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6344">
                <a:tc>
                  <a:txBody>
                    <a:bodyPr/>
                    <a:lstStyle/>
                    <a:p>
                      <a:pPr marL="0" indent="0" algn="ctr">
                        <a:buNone/>
                      </a:pPr>
                      <a:r>
                        <a:rPr lang="en-US" sz="1300" dirty="0">
                          <a:solidFill>
                            <a:srgbClr val="1E293B"/>
                          </a:solidFill>
                          <a:latin typeface="Consolas" pitchFamily="34" charset="0"/>
                          <a:ea typeface="Consolas" pitchFamily="34" charset="-122"/>
                          <a:cs typeface="Consolas" pitchFamily="34" charset="-120"/>
                        </a:rPr>
                        <a:t>hazy</a:t>
                      </a:r>
                      <a:endParaRPr lang="en-US" sz="1300" dirty="0">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9C3"/>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9C3"/>
                    </a:solidFill>
                  </a:tcPr>
                </a:tc>
                <a:tc>
                  <a:txBody>
                    <a:bodyPr/>
                    <a:lstStyle/>
                    <a:p>
                      <a:pPr marL="0" indent="0" algn="ctr">
                        <a:buNone/>
                      </a:pPr>
                      <a:r>
                        <a:rPr lang="en-US" sz="1300" b="1" dirty="0">
                          <a:solidFill>
                            <a:srgbClr val="EF4444"/>
                          </a:solidFill>
                          <a:latin typeface="Calibri" pitchFamily="34" charset="0"/>
                          <a:ea typeface="Calibri" pitchFamily="34" charset="-122"/>
                          <a:cs typeface="Calibri" pitchFamily="34" charset="-120"/>
                        </a:rPr>
                        <a:t>0.85 ✦</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9C3"/>
                    </a:solidFill>
                  </a:tcPr>
                </a:tc>
                <a:tc>
                  <a:txBody>
                    <a:bodyPr/>
                    <a:lstStyle/>
                    <a:p>
                      <a:pPr marL="0" indent="0" algn="ctr">
                        <a:buNone/>
                      </a:pPr>
                      <a:r>
                        <a:rPr lang="en-US" sz="1000" b="1" dirty="0">
                          <a:solidFill>
                            <a:srgbClr val="EF4444"/>
                          </a:solidFill>
                          <a:latin typeface="Calibri" pitchFamily="34" charset="0"/>
                          <a:ea typeface="Calibri" pitchFamily="34" charset="-122"/>
                          <a:cs typeface="Calibri" pitchFamily="34" charset="-120"/>
                        </a:rPr>
                        <a:t>✅ crossed 0.80 — stop after</a:t>
                      </a:r>
                      <a:endParaRPr lang="en-US" sz="10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9C3"/>
                    </a:solidFill>
                  </a:tcPr>
                </a:tc>
                <a:tc>
                  <a:txBody>
                    <a:bodyPr/>
                    <a:lstStyle/>
                    <a:p>
                      <a:pPr marL="0" indent="0" algn="ctr">
                        <a:buNone/>
                      </a:pPr>
                      <a:r>
                        <a:rPr lang="en-US" sz="1300" b="1" dirty="0">
                          <a:solidFill>
                            <a:srgbClr val="0D9488"/>
                          </a:solidFill>
                          <a:latin typeface="Calibri" pitchFamily="34" charset="0"/>
                          <a:ea typeface="Calibri" pitchFamily="34" charset="-122"/>
                          <a:cs typeface="Calibri" pitchFamily="34" charset="-120"/>
                        </a:rPr>
                        <a:t>0.118</a:t>
                      </a:r>
                      <a:endParaRPr lang="en-US" sz="13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9C3"/>
                    </a:solidFill>
                  </a:tcPr>
                </a:tc>
                <a:extLst>
                  <a:ext uri="{0D108BD9-81ED-4DB2-BD59-A6C34878D82A}">
                    <a16:rowId xmlns:a16="http://schemas.microsoft.com/office/drawing/2014/main" val="10004"/>
                  </a:ext>
                </a:extLst>
              </a:tr>
              <a:tr h="466344">
                <a:tc>
                  <a:txBody>
                    <a:bodyPr/>
                    <a:lstStyle/>
                    <a:p>
                      <a:pPr marL="0" indent="0" algn="ctr">
                        <a:buNone/>
                      </a:pPr>
                      <a:r>
                        <a:rPr lang="en-US" sz="1300" i="1" dirty="0">
                          <a:solidFill>
                            <a:schemeClr val="bg1">
                              <a:lumMod val="75000"/>
                            </a:schemeClr>
                          </a:solidFill>
                          <a:latin typeface="Consolas" pitchFamily="34" charset="0"/>
                          <a:ea typeface="Consolas" pitchFamily="34" charset="-122"/>
                          <a:cs typeface="Consolas" pitchFamily="34" charset="-120"/>
                        </a:rPr>
                        <a:t>(smoky)</a:t>
                      </a:r>
                      <a:endParaRPr lang="en-US" sz="1300" dirty="0">
                        <a:solidFill>
                          <a:schemeClr val="bg1">
                            <a:lumMod val="75000"/>
                          </a:schemeClr>
                        </a:solidFill>
                        <a:latin typeface="Consolas" charset="0"/>
                        <a:ea typeface="Consolas" charset="0"/>
                        <a:cs typeface="Consola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300" i="1" dirty="0">
                          <a:solidFill>
                            <a:schemeClr val="bg1">
                              <a:lumMod val="75000"/>
                            </a:schemeClr>
                          </a:solidFill>
                          <a:latin typeface="Calibri" pitchFamily="34" charset="0"/>
                          <a:ea typeface="Calibri" pitchFamily="34" charset="-122"/>
                          <a:cs typeface="Calibri" pitchFamily="34" charset="-120"/>
                        </a:rPr>
                        <a:t>15</a:t>
                      </a:r>
                      <a:endParaRPr lang="en-US" sz="1300" dirty="0">
                        <a:solidFill>
                          <a:schemeClr val="bg1">
                            <a:lumMod val="75000"/>
                          </a:schemeClr>
                        </a:solidFill>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300" i="1" dirty="0">
                          <a:solidFill>
                            <a:schemeClr val="bg1">
                              <a:lumMod val="75000"/>
                            </a:schemeClr>
                          </a:solidFill>
                          <a:latin typeface="Calibri" pitchFamily="34" charset="0"/>
                          <a:ea typeface="Calibri" pitchFamily="34" charset="-122"/>
                          <a:cs typeface="Calibri" pitchFamily="34" charset="-120"/>
                        </a:rPr>
                        <a:t>0.075</a:t>
                      </a:r>
                      <a:endParaRPr lang="en-US" sz="1300" dirty="0">
                        <a:solidFill>
                          <a:schemeClr val="bg1">
                            <a:lumMod val="75000"/>
                          </a:schemeClr>
                        </a:solidFill>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300" i="1" dirty="0">
                          <a:solidFill>
                            <a:schemeClr val="bg1">
                              <a:lumMod val="75000"/>
                            </a:schemeClr>
                          </a:solidFill>
                          <a:latin typeface="Calibri" pitchFamily="34" charset="0"/>
                          <a:ea typeface="Calibri" pitchFamily="34" charset="-122"/>
                          <a:cs typeface="Calibri" pitchFamily="34" charset="-120"/>
                        </a:rPr>
                        <a:t>—</a:t>
                      </a:r>
                      <a:endParaRPr lang="en-US" sz="1300" dirty="0">
                        <a:solidFill>
                          <a:schemeClr val="bg1">
                            <a:lumMod val="75000"/>
                          </a:schemeClr>
                        </a:solidFill>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i="1">
                          <a:solidFill>
                            <a:schemeClr val="bg1">
                              <a:lumMod val="75000"/>
                            </a:schemeClr>
                          </a:solidFill>
                          <a:latin typeface="Calibri" pitchFamily="34" charset="0"/>
                          <a:ea typeface="Calibri" pitchFamily="34" charset="-122"/>
                          <a:cs typeface="Calibri" pitchFamily="34" charset="-120"/>
                        </a:rPr>
                        <a:t>—</a:t>
                      </a:r>
                      <a:endParaRPr lang="en-US" sz="1300">
                        <a:solidFill>
                          <a:schemeClr val="bg1">
                            <a:lumMod val="75000"/>
                          </a:schemeClr>
                        </a:solidFill>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241005199"/>
                  </a:ext>
                </a:extLst>
              </a:tr>
            </a:tbl>
          </a:graphicData>
        </a:graphic>
      </p:graphicFrame>
      <p:sp>
        <p:nvSpPr>
          <p:cNvPr id="9" name="Text 6"/>
          <p:cNvSpPr/>
          <p:nvPr/>
        </p:nvSpPr>
        <p:spPr>
          <a:xfrm>
            <a:off x="457200" y="4517136"/>
            <a:ext cx="8229600" cy="41148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 token that crosses the threshold is included — that's what makes it "nucleus" sampling.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Shape 1"/>
          <p:cNvSpPr/>
          <p:nvPr/>
        </p:nvSpPr>
        <p:spPr>
          <a:xfrm>
            <a:off x="0" y="0"/>
            <a:ext cx="1280160" cy="658368"/>
          </a:xfrm>
          <a:prstGeom prst="rect">
            <a:avLst/>
          </a:prstGeom>
          <a:solidFill>
            <a:srgbClr val="0D9488"/>
          </a:solidFill>
          <a:ln w="12700">
            <a:solidFill>
              <a:srgbClr val="0D9488"/>
            </a:solidFill>
            <a:prstDash val="solid"/>
          </a:ln>
        </p:spPr>
        <p:txBody>
          <a:bodyPr/>
          <a:lstStyle/>
          <a:p>
            <a:endParaRPr lang="es-ES"/>
          </a:p>
        </p:txBody>
      </p:sp>
      <p:sp>
        <p:nvSpPr>
          <p:cNvPr id="4" name="Text 2"/>
          <p:cNvSpPr/>
          <p:nvPr/>
        </p:nvSpPr>
        <p:spPr>
          <a:xfrm>
            <a:off x="0" y="0"/>
            <a:ext cx="128016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Steps 7–8</a:t>
            </a:r>
            <a:endParaRPr lang="en-US" sz="1300" dirty="0"/>
          </a:p>
        </p:txBody>
      </p:sp>
      <p:sp>
        <p:nvSpPr>
          <p:cNvPr id="5" name="Text 3"/>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Sampling &amp; The Inference Loop</a:t>
            </a:r>
            <a:endParaRPr lang="en-US" sz="2000" dirty="0"/>
          </a:p>
        </p:txBody>
      </p:sp>
      <p:sp>
        <p:nvSpPr>
          <p:cNvPr id="6" name="Shape 4"/>
          <p:cNvSpPr/>
          <p:nvPr/>
        </p:nvSpPr>
        <p:spPr>
          <a:xfrm>
            <a:off x="365760" y="822960"/>
            <a:ext cx="3840480" cy="1828800"/>
          </a:xfrm>
          <a:prstGeom prst="rect">
            <a:avLst/>
          </a:prstGeom>
          <a:solidFill>
            <a:srgbClr val="1B2A4A"/>
          </a:solidFill>
          <a:ln w="12700">
            <a:solidFill>
              <a:srgbClr val="1B2A4A"/>
            </a:solidFill>
            <a:prstDash val="solid"/>
          </a:ln>
          <a:effectLst>
            <a:outerShdw blurRad="50800" dist="25400" dir="8100000" algn="bl" rotWithShape="0">
              <a:srgbClr val="000000">
                <a:alpha val="15000"/>
              </a:srgbClr>
            </a:outerShdw>
          </a:effectLst>
        </p:spPr>
        <p:txBody>
          <a:bodyPr/>
          <a:lstStyle/>
          <a:p>
            <a:endParaRPr lang="es-ES"/>
          </a:p>
        </p:txBody>
      </p:sp>
      <p:sp>
        <p:nvSpPr>
          <p:cNvPr id="7" name="Text 5"/>
          <p:cNvSpPr/>
          <p:nvPr/>
        </p:nvSpPr>
        <p:spPr>
          <a:xfrm>
            <a:off x="365760" y="868680"/>
            <a:ext cx="3840480" cy="411480"/>
          </a:xfrm>
          <a:prstGeom prst="rect">
            <a:avLst/>
          </a:prstGeom>
          <a:noFill/>
          <a:ln/>
        </p:spPr>
        <p:txBody>
          <a:bodyPr wrap="square" lIns="0" tIns="0" rIns="0" bIns="0" rtlCol="0" anchor="ctr"/>
          <a:lstStyle/>
          <a:p>
            <a:pPr marL="0" indent="0" algn="ctr">
              <a:buNone/>
            </a:pPr>
            <a:r>
              <a:rPr lang="en-US" sz="1500" b="1" dirty="0">
                <a:solidFill>
                  <a:srgbClr val="0D9488"/>
                </a:solidFill>
                <a:latin typeface="Trebuchet MS" pitchFamily="34" charset="0"/>
                <a:ea typeface="Trebuchet MS" pitchFamily="34" charset="-122"/>
                <a:cs typeface="Trebuchet MS" pitchFamily="34" charset="-120"/>
              </a:rPr>
              <a:t>Step 7 — Sampling</a:t>
            </a:r>
            <a:endParaRPr lang="en-US" sz="1500" dirty="0"/>
          </a:p>
        </p:txBody>
      </p:sp>
      <p:sp>
        <p:nvSpPr>
          <p:cNvPr id="8" name="Text 6"/>
          <p:cNvSpPr/>
          <p:nvPr/>
        </p:nvSpPr>
        <p:spPr>
          <a:xfrm>
            <a:off x="502920" y="1325880"/>
            <a:ext cx="3566160" cy="11887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 token is picked at random from the filtered candidates, weighted by their probabilities.</a:t>
            </a:r>
            <a:endParaRPr lang="en-US" sz="1300" dirty="0"/>
          </a:p>
          <a:p>
            <a:pPr marL="0" indent="0">
              <a:buNone/>
            </a:pP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This is the actual "roll of the dice."</a:t>
            </a:r>
            <a:endParaRPr lang="en-US" sz="1300" dirty="0"/>
          </a:p>
        </p:txBody>
      </p:sp>
      <p:sp>
        <p:nvSpPr>
          <p:cNvPr id="9" name="Shape 7"/>
          <p:cNvSpPr/>
          <p:nvPr/>
        </p:nvSpPr>
        <p:spPr>
          <a:xfrm>
            <a:off x="4937760" y="822960"/>
            <a:ext cx="3840480" cy="1828800"/>
          </a:xfrm>
          <a:prstGeom prst="rect">
            <a:avLst/>
          </a:prstGeom>
          <a:solidFill>
            <a:srgbClr val="0D9488"/>
          </a:solidFill>
          <a:ln w="12700">
            <a:solidFill>
              <a:srgbClr val="0D9488"/>
            </a:solidFill>
            <a:prstDash val="solid"/>
          </a:ln>
          <a:effectLst>
            <a:outerShdw blurRad="50800" dist="25400" dir="8100000" algn="bl" rotWithShape="0">
              <a:srgbClr val="000000">
                <a:alpha val="15000"/>
              </a:srgbClr>
            </a:outerShdw>
          </a:effectLst>
        </p:spPr>
        <p:txBody>
          <a:bodyPr/>
          <a:lstStyle/>
          <a:p>
            <a:endParaRPr lang="es-ES"/>
          </a:p>
        </p:txBody>
      </p:sp>
      <p:sp>
        <p:nvSpPr>
          <p:cNvPr id="10" name="Text 8"/>
          <p:cNvSpPr/>
          <p:nvPr/>
        </p:nvSpPr>
        <p:spPr>
          <a:xfrm>
            <a:off x="4937760" y="868680"/>
            <a:ext cx="3840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Step 8 — Inference Loop</a:t>
            </a:r>
            <a:endParaRPr lang="en-US" sz="1500" dirty="0"/>
          </a:p>
        </p:txBody>
      </p:sp>
      <p:sp>
        <p:nvSpPr>
          <p:cNvPr id="11" name="Text 9"/>
          <p:cNvSpPr/>
          <p:nvPr/>
        </p:nvSpPr>
        <p:spPr>
          <a:xfrm>
            <a:off x="5074920" y="1325880"/>
            <a:ext cx="3566160" cy="11887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model has no memory.</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The new token is appended to the context and the whole process restarts — until end-of-sequence.</a:t>
            </a:r>
            <a:endParaRPr lang="en-US" sz="1300" dirty="0"/>
          </a:p>
        </p:txBody>
      </p:sp>
      <p:sp>
        <p:nvSpPr>
          <p:cNvPr id="12" name="Shape 10"/>
          <p:cNvSpPr/>
          <p:nvPr/>
        </p:nvSpPr>
        <p:spPr>
          <a:xfrm>
            <a:off x="4206240" y="1737360"/>
            <a:ext cx="731520" cy="0"/>
          </a:xfrm>
          <a:prstGeom prst="line">
            <a:avLst/>
          </a:prstGeom>
          <a:noFill/>
          <a:ln w="25400">
            <a:solidFill>
              <a:srgbClr val="64748B"/>
            </a:solidFill>
            <a:prstDash val="solid"/>
          </a:ln>
        </p:spPr>
        <p:txBody>
          <a:bodyPr/>
          <a:lstStyle/>
          <a:p>
            <a:endParaRPr lang="es-ES"/>
          </a:p>
        </p:txBody>
      </p:sp>
      <p:sp>
        <p:nvSpPr>
          <p:cNvPr id="13" name="Shape 11"/>
          <p:cNvSpPr/>
          <p:nvPr/>
        </p:nvSpPr>
        <p:spPr>
          <a:xfrm>
            <a:off x="365760" y="2834640"/>
            <a:ext cx="8412480" cy="1965960"/>
          </a:xfrm>
          <a:prstGeom prst="rect">
            <a:avLst/>
          </a:prstGeom>
          <a:solidFill>
            <a:srgbClr val="1E293B"/>
          </a:solidFill>
          <a:ln w="19050">
            <a:solidFill>
              <a:srgbClr val="0D9488"/>
            </a:solidFill>
            <a:prstDash val="solid"/>
          </a:ln>
        </p:spPr>
        <p:txBody>
          <a:bodyPr/>
          <a:lstStyle/>
          <a:p>
            <a:endParaRPr lang="es-ES"/>
          </a:p>
        </p:txBody>
      </p:sp>
      <p:sp>
        <p:nvSpPr>
          <p:cNvPr id="14" name="Text 12"/>
          <p:cNvSpPr/>
          <p:nvPr/>
        </p:nvSpPr>
        <p:spPr>
          <a:xfrm>
            <a:off x="530352" y="2880360"/>
            <a:ext cx="8138160" cy="1874520"/>
          </a:xfrm>
          <a:prstGeom prst="rect">
            <a:avLst/>
          </a:prstGeom>
          <a:noFill/>
          <a:ln/>
        </p:spPr>
        <p:txBody>
          <a:bodyPr wrap="square" rtlCol="0" anchor="ctr"/>
          <a:lstStyle/>
          <a:p>
            <a:pPr marL="0" indent="0">
              <a:buNone/>
            </a:pPr>
            <a:r>
              <a:rPr lang="en-US" sz="1300" dirty="0">
                <a:solidFill>
                  <a:srgbClr val="CCEDE9"/>
                </a:solidFill>
                <a:latin typeface="Consolas" pitchFamily="34" charset="0"/>
                <a:ea typeface="Consolas" pitchFamily="34" charset="-122"/>
                <a:cs typeface="Consolas" pitchFamily="34" charset="-120"/>
              </a:rPr>
              <a:t>"In Martorell the sunset is"</a:t>
            </a:r>
            <a:r>
              <a:rPr lang="en-US" sz="1300" dirty="0">
                <a:solidFill>
                  <a:srgbClr val="FCD34D"/>
                </a:solidFill>
                <a:latin typeface="Consolas" pitchFamily="34" charset="0"/>
                <a:ea typeface="Consolas" pitchFamily="34" charset="-122"/>
                <a:cs typeface="Consolas" pitchFamily="34" charset="-120"/>
              </a:rPr>
              <a:t>  →  orange
</a:t>
            </a:r>
            <a:r>
              <a:rPr lang="en-US" sz="1300" dirty="0">
                <a:solidFill>
                  <a:srgbClr val="CCEDE9"/>
                </a:solidFill>
                <a:latin typeface="Consolas" pitchFamily="34" charset="0"/>
                <a:ea typeface="Consolas" pitchFamily="34" charset="-122"/>
                <a:cs typeface="Consolas" pitchFamily="34" charset="-120"/>
              </a:rPr>
              <a:t>"In Martorell the sunset is orange"</a:t>
            </a:r>
            <a:r>
              <a:rPr lang="en-US" sz="1300" dirty="0">
                <a:solidFill>
                  <a:srgbClr val="FCD34D"/>
                </a:solidFill>
                <a:latin typeface="Consolas" pitchFamily="34" charset="0"/>
                <a:ea typeface="Consolas" pitchFamily="34" charset="-122"/>
                <a:cs typeface="Consolas" pitchFamily="34" charset="-120"/>
              </a:rPr>
              <a:t>  →  and
</a:t>
            </a:r>
            <a:r>
              <a:rPr lang="en-US" sz="1300" dirty="0">
                <a:solidFill>
                  <a:srgbClr val="CCEDE9"/>
                </a:solidFill>
                <a:latin typeface="Consolas" pitchFamily="34" charset="0"/>
                <a:ea typeface="Consolas" pitchFamily="34" charset="-122"/>
                <a:cs typeface="Consolas" pitchFamily="34" charset="-120"/>
              </a:rPr>
              <a:t>"In Martorell the sunset is orange and"</a:t>
            </a:r>
            <a:r>
              <a:rPr lang="en-US" sz="1300" dirty="0">
                <a:solidFill>
                  <a:srgbClr val="FCD34D"/>
                </a:solidFill>
                <a:latin typeface="Consolas" pitchFamily="34" charset="0"/>
                <a:ea typeface="Consolas" pitchFamily="34" charset="-122"/>
                <a:cs typeface="Consolas" pitchFamily="34" charset="-120"/>
              </a:rPr>
              <a:t>  →  beautiful
</a:t>
            </a:r>
            <a:r>
              <a:rPr lang="en-US" sz="1300" i="1" dirty="0">
                <a:solidFill>
                  <a:srgbClr val="64748B"/>
                </a:solidFill>
                <a:latin typeface="Consolas" pitchFamily="34" charset="0"/>
                <a:ea typeface="Consolas" pitchFamily="34" charset="-122"/>
                <a:cs typeface="Consolas" pitchFamily="34" charset="-120"/>
              </a:rPr>
              <a:t>  … and so on until end-of-sequence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txBody>
          <a:bodyPr/>
          <a:lstStyle/>
          <a:p>
            <a:endParaRPr lang="es-ES"/>
          </a:p>
        </p:txBody>
      </p:sp>
      <p:sp>
        <p:nvSpPr>
          <p:cNvPr id="3" name="Text 1"/>
          <p:cNvSpPr/>
          <p:nvPr/>
        </p:nvSpPr>
        <p:spPr>
          <a:xfrm>
            <a:off x="411480" y="731520"/>
            <a:ext cx="8229600" cy="1005840"/>
          </a:xfrm>
          <a:prstGeom prst="rect">
            <a:avLst/>
          </a:prstGeom>
          <a:noFill/>
          <a:ln/>
        </p:spPr>
        <p:txBody>
          <a:bodyPr wrap="square" rtlCol="0" anchor="ctr"/>
          <a:lstStyle/>
          <a:p>
            <a:pPr marL="0" indent="0">
              <a:buNone/>
            </a:pPr>
            <a:r>
              <a:rPr lang="en-US" sz="6400" b="1" dirty="0">
                <a:solidFill>
                  <a:srgbClr val="0D9488"/>
                </a:solidFill>
                <a:latin typeface="Trebuchet MS" pitchFamily="34" charset="0"/>
                <a:ea typeface="Trebuchet MS" pitchFamily="34" charset="-122"/>
                <a:cs typeface="Trebuchet MS" pitchFamily="34" charset="-120"/>
              </a:rPr>
              <a:t>⚙</a:t>
            </a:r>
            <a:endParaRPr lang="en-US" sz="6400" dirty="0"/>
          </a:p>
        </p:txBody>
      </p:sp>
      <p:sp>
        <p:nvSpPr>
          <p:cNvPr id="4" name="Text 2"/>
          <p:cNvSpPr/>
          <p:nvPr/>
        </p:nvSpPr>
        <p:spPr>
          <a:xfrm>
            <a:off x="411480" y="1737360"/>
            <a:ext cx="8229600" cy="822960"/>
          </a:xfrm>
          <a:prstGeom prst="rect">
            <a:avLst/>
          </a:prstGeom>
          <a:noFill/>
          <a:ln/>
        </p:spPr>
        <p:txBody>
          <a:bodyPr wrap="square"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Building Applications on Top</a:t>
            </a:r>
            <a:endParaRPr lang="en-US" sz="3000" dirty="0"/>
          </a:p>
        </p:txBody>
      </p:sp>
      <p:sp>
        <p:nvSpPr>
          <p:cNvPr id="5" name="Text 3"/>
          <p:cNvSpPr/>
          <p:nvPr/>
        </p:nvSpPr>
        <p:spPr>
          <a:xfrm>
            <a:off x="411480" y="2606040"/>
            <a:ext cx="8229600" cy="640080"/>
          </a:xfrm>
          <a:prstGeom prst="rect">
            <a:avLst/>
          </a:prstGeom>
          <a:noFill/>
          <a:ln/>
        </p:spPr>
        <p:txBody>
          <a:bodyPr wrap="square" rtlCol="0" anchor="ctr"/>
          <a:lstStyle/>
          <a:p>
            <a:pPr marL="0" indent="0">
              <a:buNone/>
            </a:pPr>
            <a:r>
              <a:rPr lang="en-US" sz="1600" i="1" dirty="0">
                <a:solidFill>
                  <a:srgbClr val="CCEDE9"/>
                </a:solidFill>
                <a:latin typeface="Calibri" pitchFamily="34" charset="0"/>
                <a:ea typeface="Calibri" pitchFamily="34" charset="-122"/>
                <a:cs typeface="Calibri" pitchFamily="34" charset="-120"/>
              </a:rPr>
              <a:t>How real products wrap the inference loop</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Text 1"/>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System Prompt</a:t>
            </a:r>
            <a:endParaRPr lang="en-US" sz="2000" dirty="0"/>
          </a:p>
        </p:txBody>
      </p:sp>
      <p:sp>
        <p:nvSpPr>
          <p:cNvPr id="4" name="Shape 2"/>
          <p:cNvSpPr/>
          <p:nvPr/>
        </p:nvSpPr>
        <p:spPr>
          <a:xfrm>
            <a:off x="457200" y="804672"/>
            <a:ext cx="8229600" cy="1828800"/>
          </a:xfrm>
          <a:prstGeom prst="rect">
            <a:avLst/>
          </a:prstGeom>
          <a:solidFill>
            <a:srgbClr val="1B2A4A"/>
          </a:solidFill>
          <a:ln w="12700">
            <a:solidFill>
              <a:srgbClr val="1B2A4A"/>
            </a:solidFill>
            <a:prstDash val="solid"/>
          </a:ln>
          <a:effectLst>
            <a:outerShdw blurRad="76200" dist="25400" dir="8100000" algn="bl" rotWithShape="0">
              <a:srgbClr val="000000">
                <a:alpha val="15000"/>
              </a:srgbClr>
            </a:outerShdw>
          </a:effectLst>
        </p:spPr>
        <p:txBody>
          <a:bodyPr/>
          <a:lstStyle/>
          <a:p>
            <a:endParaRPr lang="es-ES"/>
          </a:p>
        </p:txBody>
      </p:sp>
      <p:sp>
        <p:nvSpPr>
          <p:cNvPr id="5" name="Text 3"/>
          <p:cNvSpPr/>
          <p:nvPr/>
        </p:nvSpPr>
        <p:spPr>
          <a:xfrm>
            <a:off x="640080" y="868680"/>
            <a:ext cx="7863840" cy="347472"/>
          </a:xfrm>
          <a:prstGeom prst="rect">
            <a:avLst/>
          </a:prstGeom>
          <a:noFill/>
          <a:ln/>
        </p:spPr>
        <p:txBody>
          <a:bodyPr wrap="square"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Definition</a:t>
            </a:r>
            <a:endParaRPr lang="en-US" sz="1400" dirty="0"/>
          </a:p>
        </p:txBody>
      </p:sp>
      <p:sp>
        <p:nvSpPr>
          <p:cNvPr id="6" name="Text 4"/>
          <p:cNvSpPr/>
          <p:nvPr/>
        </p:nvSpPr>
        <p:spPr>
          <a:xfrm>
            <a:off x="640080" y="1261872"/>
            <a:ext cx="7863840" cy="118872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A fixed block of text prepended before the user's input. Hidden from the user — used to set a persona, define constraints, or provide context. The model is trained to treat it with priority.</a:t>
            </a:r>
            <a:endParaRPr lang="en-US" sz="1400" dirty="0"/>
          </a:p>
        </p:txBody>
      </p:sp>
      <p:sp>
        <p:nvSpPr>
          <p:cNvPr id="7" name="Shape 5"/>
          <p:cNvSpPr/>
          <p:nvPr/>
        </p:nvSpPr>
        <p:spPr>
          <a:xfrm>
            <a:off x="457200" y="2788920"/>
            <a:ext cx="8229600" cy="2029968"/>
          </a:xfrm>
          <a:prstGeom prst="rect">
            <a:avLst/>
          </a:prstGeom>
          <a:solidFill>
            <a:srgbClr val="0D9488"/>
          </a:solidFill>
          <a:ln w="12700">
            <a:solidFill>
              <a:srgbClr val="0D9488"/>
            </a:solidFill>
            <a:prstDash val="solid"/>
          </a:ln>
          <a:effectLst>
            <a:outerShdw blurRad="76200" dist="25400" dir="8100000" algn="bl" rotWithShape="0">
              <a:srgbClr val="000000">
                <a:alpha val="15000"/>
              </a:srgbClr>
            </a:outerShdw>
          </a:effectLst>
        </p:spPr>
        <p:txBody>
          <a:bodyPr/>
          <a:lstStyle/>
          <a:p>
            <a:endParaRPr lang="es-ES"/>
          </a:p>
        </p:txBody>
      </p:sp>
      <p:sp>
        <p:nvSpPr>
          <p:cNvPr id="8" name="Text 6"/>
          <p:cNvSpPr/>
          <p:nvPr/>
        </p:nvSpPr>
        <p:spPr>
          <a:xfrm>
            <a:off x="640080" y="2852928"/>
            <a:ext cx="7863840" cy="347472"/>
          </a:xfrm>
          <a:prstGeom prst="rect">
            <a:avLst/>
          </a:prstGeom>
          <a:noFill/>
          <a:ln/>
        </p:spPr>
        <p:txBody>
          <a:bodyPr wrap="square"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Example</a:t>
            </a:r>
            <a:endParaRPr lang="en-US" sz="1400" dirty="0"/>
          </a:p>
        </p:txBody>
      </p:sp>
      <p:sp>
        <p:nvSpPr>
          <p:cNvPr id="9" name="Shape 7"/>
          <p:cNvSpPr/>
          <p:nvPr/>
        </p:nvSpPr>
        <p:spPr>
          <a:xfrm>
            <a:off x="640080" y="3246120"/>
            <a:ext cx="7863840" cy="1463040"/>
          </a:xfrm>
          <a:prstGeom prst="rect">
            <a:avLst/>
          </a:prstGeom>
          <a:solidFill>
            <a:srgbClr val="1E293B"/>
          </a:solidFill>
          <a:ln w="19050">
            <a:solidFill>
              <a:srgbClr val="0D9488"/>
            </a:solidFill>
            <a:prstDash val="solid"/>
          </a:ln>
        </p:spPr>
        <p:txBody>
          <a:bodyPr/>
          <a:lstStyle/>
          <a:p>
            <a:endParaRPr lang="es-ES"/>
          </a:p>
        </p:txBody>
      </p:sp>
      <p:sp>
        <p:nvSpPr>
          <p:cNvPr id="10" name="Text 8"/>
          <p:cNvSpPr/>
          <p:nvPr/>
        </p:nvSpPr>
        <p:spPr>
          <a:xfrm>
            <a:off x="804672" y="3291840"/>
            <a:ext cx="7589520" cy="1371600"/>
          </a:xfrm>
          <a:prstGeom prst="rect">
            <a:avLst/>
          </a:prstGeom>
          <a:noFill/>
          <a:ln/>
        </p:spPr>
        <p:txBody>
          <a:bodyPr wrap="square" rtlCol="0" anchor="ctr"/>
          <a:lstStyle/>
          <a:p>
            <a:pPr marL="0" indent="0">
              <a:buNone/>
            </a:pPr>
            <a:r>
              <a:rPr lang="en-US" sz="1300" dirty="0">
                <a:solidFill>
                  <a:srgbClr val="7DD3C8"/>
                </a:solidFill>
                <a:latin typeface="Consolas" pitchFamily="34" charset="0"/>
                <a:ea typeface="Consolas" pitchFamily="34" charset="-122"/>
                <a:cs typeface="Consolas" pitchFamily="34" charset="-120"/>
              </a:rPr>
              <a:t>[System] You are a helpful assistant for Acme Corp.</a:t>
            </a:r>
            <a:endParaRPr lang="en-US" sz="1300" dirty="0"/>
          </a:p>
          <a:p>
            <a:pPr marL="0" indent="0">
              <a:buNone/>
            </a:pPr>
            <a:r>
              <a:rPr lang="en-US" sz="1300" dirty="0">
                <a:solidFill>
                  <a:srgbClr val="7DD3C8"/>
                </a:solidFill>
                <a:latin typeface="Consolas" pitchFamily="34" charset="0"/>
                <a:ea typeface="Consolas" pitchFamily="34" charset="-122"/>
                <a:cs typeface="Consolas" pitchFamily="34" charset="-120"/>
              </a:rPr>
              <a:t>         Only answer questions about our products.</a:t>
            </a:r>
            <a:endParaRPr lang="en-US" sz="1300" dirty="0"/>
          </a:p>
          <a:p>
            <a:pPr marL="0" indent="0">
              <a:buNone/>
            </a:pPr>
            <a:r>
              <a:rPr lang="en-US" sz="1300" dirty="0">
                <a:solidFill>
                  <a:srgbClr val="7DD3C8"/>
                </a:solidFill>
                <a:latin typeface="Consolas" pitchFamily="34" charset="0"/>
                <a:ea typeface="Consolas" pitchFamily="34" charset="-122"/>
                <a:cs typeface="Consolas" pitchFamily="34" charset="-120"/>
              </a:rPr>
              <a:t>         Always reply in formal English.</a:t>
            </a:r>
            <a:endParaRPr lang="en-US" sz="1300" dirty="0"/>
          </a:p>
          <a:p>
            <a:pPr marL="0" indent="0">
              <a:buNone/>
            </a:pPr>
            <a:r>
              <a:rPr lang="en-US" sz="1300" dirty="0">
                <a:solidFill>
                  <a:srgbClr val="7DD3C8"/>
                </a:solidFill>
                <a:latin typeface="Consolas" pitchFamily="34" charset="0"/>
                <a:ea typeface="Consolas" pitchFamily="34" charset="-122"/>
                <a:cs typeface="Consolas" pitchFamily="34" charset="-120"/>
              </a:rPr>
              <a:t>[User</a:t>
            </a:r>
            <a:r>
              <a:rPr lang="en-US" sz="1300">
                <a:solidFill>
                  <a:srgbClr val="7DD3C8"/>
                </a:solidFill>
                <a:latin typeface="Consolas" pitchFamily="34" charset="0"/>
                <a:ea typeface="Consolas" pitchFamily="34" charset="-122"/>
                <a:cs typeface="Consolas" pitchFamily="34" charset="-120"/>
              </a:rPr>
              <a:t>]   What </a:t>
            </a:r>
            <a:r>
              <a:rPr lang="en-US" sz="1300" dirty="0">
                <a:solidFill>
                  <a:srgbClr val="7DD3C8"/>
                </a:solidFill>
                <a:latin typeface="Consolas" pitchFamily="34" charset="0"/>
                <a:ea typeface="Consolas" pitchFamily="34" charset="-122"/>
                <a:cs typeface="Consolas" pitchFamily="34" charset="-120"/>
              </a:rPr>
              <a:t>is your return policy?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Text 1"/>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Conversations</a:t>
            </a:r>
            <a:endParaRPr lang="en-US" sz="2000" dirty="0"/>
          </a:p>
        </p:txBody>
      </p:sp>
      <p:sp>
        <p:nvSpPr>
          <p:cNvPr id="4" name="Shape 2"/>
          <p:cNvSpPr/>
          <p:nvPr/>
        </p:nvSpPr>
        <p:spPr>
          <a:xfrm>
            <a:off x="457200" y="804672"/>
            <a:ext cx="8229600" cy="1828800"/>
          </a:xfrm>
          <a:prstGeom prst="rect">
            <a:avLst/>
          </a:prstGeom>
          <a:solidFill>
            <a:srgbClr val="1B2A4A"/>
          </a:solidFill>
          <a:ln w="12700">
            <a:solidFill>
              <a:srgbClr val="1B2A4A"/>
            </a:solidFill>
            <a:prstDash val="solid"/>
          </a:ln>
          <a:effectLst>
            <a:outerShdw blurRad="76200" dist="25400" dir="8100000" algn="bl" rotWithShape="0">
              <a:srgbClr val="000000">
                <a:alpha val="15000"/>
              </a:srgbClr>
            </a:outerShdw>
          </a:effectLst>
        </p:spPr>
        <p:txBody>
          <a:bodyPr/>
          <a:lstStyle/>
          <a:p>
            <a:endParaRPr lang="es-ES"/>
          </a:p>
        </p:txBody>
      </p:sp>
      <p:sp>
        <p:nvSpPr>
          <p:cNvPr id="5" name="Text 3"/>
          <p:cNvSpPr/>
          <p:nvPr/>
        </p:nvSpPr>
        <p:spPr>
          <a:xfrm>
            <a:off x="640080" y="868680"/>
            <a:ext cx="7863840" cy="347472"/>
          </a:xfrm>
          <a:prstGeom prst="rect">
            <a:avLst/>
          </a:prstGeom>
          <a:noFill/>
          <a:ln/>
        </p:spPr>
        <p:txBody>
          <a:bodyPr wrap="square"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Definition</a:t>
            </a:r>
            <a:endParaRPr lang="en-US" sz="1400" dirty="0"/>
          </a:p>
        </p:txBody>
      </p:sp>
      <p:sp>
        <p:nvSpPr>
          <p:cNvPr id="6" name="Text 4"/>
          <p:cNvSpPr/>
          <p:nvPr/>
        </p:nvSpPr>
        <p:spPr>
          <a:xfrm>
            <a:off x="640080" y="1261872"/>
            <a:ext cx="7863840" cy="118872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The application sends the full conversation history as context on every turn. From the model's perspective there is no "conversation" — just a longer and longer prompt.</a:t>
            </a:r>
            <a:endParaRPr lang="en-US" sz="1400" dirty="0"/>
          </a:p>
        </p:txBody>
      </p:sp>
      <p:sp>
        <p:nvSpPr>
          <p:cNvPr id="7" name="Shape 5"/>
          <p:cNvSpPr/>
          <p:nvPr/>
        </p:nvSpPr>
        <p:spPr>
          <a:xfrm>
            <a:off x="457200" y="2788920"/>
            <a:ext cx="8229600" cy="2029968"/>
          </a:xfrm>
          <a:prstGeom prst="rect">
            <a:avLst/>
          </a:prstGeom>
          <a:solidFill>
            <a:srgbClr val="0D9488"/>
          </a:solidFill>
          <a:ln w="12700">
            <a:solidFill>
              <a:srgbClr val="0D9488"/>
            </a:solidFill>
            <a:prstDash val="solid"/>
          </a:ln>
          <a:effectLst>
            <a:outerShdw blurRad="76200" dist="25400" dir="8100000" algn="bl" rotWithShape="0">
              <a:srgbClr val="000000">
                <a:alpha val="15000"/>
              </a:srgbClr>
            </a:outerShdw>
          </a:effectLst>
        </p:spPr>
        <p:txBody>
          <a:bodyPr/>
          <a:lstStyle/>
          <a:p>
            <a:endParaRPr lang="es-ES"/>
          </a:p>
        </p:txBody>
      </p:sp>
      <p:sp>
        <p:nvSpPr>
          <p:cNvPr id="8" name="Text 6"/>
          <p:cNvSpPr/>
          <p:nvPr/>
        </p:nvSpPr>
        <p:spPr>
          <a:xfrm>
            <a:off x="640080" y="2852928"/>
            <a:ext cx="7863840" cy="347472"/>
          </a:xfrm>
          <a:prstGeom prst="rect">
            <a:avLst/>
          </a:prstGeom>
          <a:noFill/>
          <a:ln/>
        </p:spPr>
        <p:txBody>
          <a:bodyPr wrap="square"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Example</a:t>
            </a:r>
            <a:endParaRPr lang="en-US" sz="1400" dirty="0"/>
          </a:p>
        </p:txBody>
      </p:sp>
      <p:sp>
        <p:nvSpPr>
          <p:cNvPr id="9" name="Shape 7"/>
          <p:cNvSpPr/>
          <p:nvPr/>
        </p:nvSpPr>
        <p:spPr>
          <a:xfrm>
            <a:off x="640080" y="3246120"/>
            <a:ext cx="7863840" cy="1463040"/>
          </a:xfrm>
          <a:prstGeom prst="rect">
            <a:avLst/>
          </a:prstGeom>
          <a:solidFill>
            <a:srgbClr val="1E293B"/>
          </a:solidFill>
          <a:ln w="19050">
            <a:solidFill>
              <a:srgbClr val="0D9488"/>
            </a:solidFill>
            <a:prstDash val="solid"/>
          </a:ln>
        </p:spPr>
        <p:txBody>
          <a:bodyPr/>
          <a:lstStyle/>
          <a:p>
            <a:endParaRPr lang="es-ES"/>
          </a:p>
        </p:txBody>
      </p:sp>
      <p:sp>
        <p:nvSpPr>
          <p:cNvPr id="10" name="Text 8"/>
          <p:cNvSpPr/>
          <p:nvPr/>
        </p:nvSpPr>
        <p:spPr>
          <a:xfrm>
            <a:off x="804672" y="3291840"/>
            <a:ext cx="7589520" cy="1371600"/>
          </a:xfrm>
          <a:prstGeom prst="rect">
            <a:avLst/>
          </a:prstGeom>
          <a:noFill/>
          <a:ln/>
        </p:spPr>
        <p:txBody>
          <a:bodyPr wrap="square" rtlCol="0" anchor="ctr"/>
          <a:lstStyle/>
          <a:p>
            <a:pPr marL="0" indent="0">
              <a:buNone/>
            </a:pPr>
            <a:r>
              <a:rPr lang="en-US" sz="1300" dirty="0">
                <a:solidFill>
                  <a:srgbClr val="7DD3C8"/>
                </a:solidFill>
                <a:latin typeface="Consolas" pitchFamily="34" charset="0"/>
                <a:ea typeface="Consolas" pitchFamily="34" charset="-122"/>
                <a:cs typeface="Consolas" pitchFamily="34" charset="-120"/>
              </a:rPr>
              <a:t>[User] What is Martorell?</a:t>
            </a:r>
            <a:endParaRPr lang="en-US" sz="1300" dirty="0"/>
          </a:p>
          <a:p>
            <a:pPr marL="0" indent="0">
              <a:buNone/>
            </a:pPr>
            <a:r>
              <a:rPr lang="en-US" sz="1300" dirty="0">
                <a:solidFill>
                  <a:srgbClr val="7DD3C8"/>
                </a:solidFill>
                <a:latin typeface="Consolas" pitchFamily="34" charset="0"/>
                <a:ea typeface="Consolas" pitchFamily="34" charset="-122"/>
                <a:cs typeface="Consolas" pitchFamily="34" charset="-120"/>
              </a:rPr>
              <a:t>[Assistant] A town near Barcelona.</a:t>
            </a:r>
            <a:endParaRPr lang="en-US" sz="1300" dirty="0"/>
          </a:p>
          <a:p>
            <a:pPr marL="0" indent="0">
              <a:buNone/>
            </a:pPr>
            <a:r>
              <a:rPr lang="en-US" sz="1300" dirty="0">
                <a:solidFill>
                  <a:srgbClr val="7DD3C8"/>
                </a:solidFill>
                <a:latin typeface="Consolas" pitchFamily="34" charset="0"/>
                <a:ea typeface="Consolas" pitchFamily="34" charset="-122"/>
                <a:cs typeface="Consolas" pitchFamily="34" charset="-120"/>
              </a:rPr>
              <a:t>[User] What is its population?</a:t>
            </a:r>
            <a:endParaRPr lang="en-US" sz="1300" dirty="0"/>
          </a:p>
          <a:p>
            <a:pPr marL="0" indent="0">
              <a:buNone/>
            </a:pPr>
            <a:r>
              <a:rPr lang="en-US" sz="1300" dirty="0">
                <a:solidFill>
                  <a:srgbClr val="7DD3C8"/>
                </a:solidFill>
                <a:latin typeface="Consolas" pitchFamily="34" charset="0"/>
                <a:ea typeface="Consolas" pitchFamily="34" charset="-122"/>
                <a:cs typeface="Consolas" pitchFamily="34" charset="-120"/>
              </a:rPr>
              <a:t>→ The model sees the entire exchange above as one single prompt.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Text 1"/>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Cached Tokens (KV Cache)</a:t>
            </a:r>
            <a:endParaRPr lang="en-US" sz="2000" dirty="0"/>
          </a:p>
        </p:txBody>
      </p:sp>
      <p:sp>
        <p:nvSpPr>
          <p:cNvPr id="4" name="Shape 2"/>
          <p:cNvSpPr/>
          <p:nvPr/>
        </p:nvSpPr>
        <p:spPr>
          <a:xfrm>
            <a:off x="457200" y="804672"/>
            <a:ext cx="8229600" cy="1828800"/>
          </a:xfrm>
          <a:prstGeom prst="rect">
            <a:avLst/>
          </a:prstGeom>
          <a:solidFill>
            <a:srgbClr val="1B2A4A"/>
          </a:solidFill>
          <a:ln w="12700">
            <a:solidFill>
              <a:srgbClr val="1B2A4A"/>
            </a:solidFill>
            <a:prstDash val="solid"/>
          </a:ln>
          <a:effectLst>
            <a:outerShdw blurRad="76200" dist="25400" dir="8100000" algn="bl" rotWithShape="0">
              <a:srgbClr val="000000">
                <a:alpha val="15000"/>
              </a:srgbClr>
            </a:outerShdw>
          </a:effectLst>
        </p:spPr>
        <p:txBody>
          <a:bodyPr/>
          <a:lstStyle/>
          <a:p>
            <a:endParaRPr lang="es-ES"/>
          </a:p>
        </p:txBody>
      </p:sp>
      <p:sp>
        <p:nvSpPr>
          <p:cNvPr id="5" name="Text 3"/>
          <p:cNvSpPr/>
          <p:nvPr/>
        </p:nvSpPr>
        <p:spPr>
          <a:xfrm>
            <a:off x="640080" y="868680"/>
            <a:ext cx="7863840" cy="347472"/>
          </a:xfrm>
          <a:prstGeom prst="rect">
            <a:avLst/>
          </a:prstGeom>
          <a:noFill/>
          <a:ln/>
        </p:spPr>
        <p:txBody>
          <a:bodyPr wrap="square"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Definition</a:t>
            </a:r>
            <a:endParaRPr lang="en-US" sz="1400" dirty="0"/>
          </a:p>
        </p:txBody>
      </p:sp>
      <p:sp>
        <p:nvSpPr>
          <p:cNvPr id="6" name="Text 4"/>
          <p:cNvSpPr/>
          <p:nvPr/>
        </p:nvSpPr>
        <p:spPr>
          <a:xfrm>
            <a:off x="640080" y="1261872"/>
            <a:ext cx="7863840" cy="118872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Results from processing previous tokens can be reused instead of recomputed on each new turn. This makes long conversations significantly faster and cheaper.</a:t>
            </a:r>
            <a:endParaRPr lang="en-US" sz="1400" dirty="0"/>
          </a:p>
        </p:txBody>
      </p:sp>
      <p:sp>
        <p:nvSpPr>
          <p:cNvPr id="7" name="Shape 5"/>
          <p:cNvSpPr/>
          <p:nvPr/>
        </p:nvSpPr>
        <p:spPr>
          <a:xfrm>
            <a:off x="457200" y="2788920"/>
            <a:ext cx="8229600" cy="2029968"/>
          </a:xfrm>
          <a:prstGeom prst="rect">
            <a:avLst/>
          </a:prstGeom>
          <a:solidFill>
            <a:srgbClr val="0D9488"/>
          </a:solidFill>
          <a:ln w="12700">
            <a:solidFill>
              <a:srgbClr val="0D9488"/>
            </a:solidFill>
            <a:prstDash val="solid"/>
          </a:ln>
          <a:effectLst>
            <a:outerShdw blurRad="76200" dist="25400" dir="8100000" algn="bl" rotWithShape="0">
              <a:srgbClr val="000000">
                <a:alpha val="15000"/>
              </a:srgbClr>
            </a:outerShdw>
          </a:effectLst>
        </p:spPr>
        <p:txBody>
          <a:bodyPr/>
          <a:lstStyle/>
          <a:p>
            <a:endParaRPr lang="es-ES"/>
          </a:p>
        </p:txBody>
      </p:sp>
      <p:sp>
        <p:nvSpPr>
          <p:cNvPr id="8" name="Text 6"/>
          <p:cNvSpPr/>
          <p:nvPr/>
        </p:nvSpPr>
        <p:spPr>
          <a:xfrm>
            <a:off x="640080" y="2852928"/>
            <a:ext cx="7863840" cy="347472"/>
          </a:xfrm>
          <a:prstGeom prst="rect">
            <a:avLst/>
          </a:prstGeom>
          <a:noFill/>
          <a:ln/>
        </p:spPr>
        <p:txBody>
          <a:bodyPr wrap="square"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Example</a:t>
            </a:r>
            <a:endParaRPr lang="en-US" sz="1400" dirty="0"/>
          </a:p>
        </p:txBody>
      </p:sp>
      <p:sp>
        <p:nvSpPr>
          <p:cNvPr id="9" name="Text 7"/>
          <p:cNvSpPr/>
          <p:nvPr/>
        </p:nvSpPr>
        <p:spPr>
          <a:xfrm>
            <a:off x="640080" y="3246120"/>
            <a:ext cx="7863840" cy="1463040"/>
          </a:xfrm>
          <a:prstGeom prst="rect">
            <a:avLst/>
          </a:prstGeom>
          <a:noFill/>
          <a:ln/>
        </p:spPr>
        <p:txBody>
          <a:bodyPr wrap="square" rtlCol="0" anchor="t"/>
          <a:lstStyle/>
          <a:p>
            <a:pPr marL="0" indent="0">
              <a:buNone/>
            </a:pPr>
            <a:r>
              <a:rPr lang="en-US" sz="1350" dirty="0">
                <a:solidFill>
                  <a:srgbClr val="FFFFFF"/>
                </a:solidFill>
                <a:latin typeface="Calibri" pitchFamily="34" charset="0"/>
                <a:ea typeface="Calibri" pitchFamily="34" charset="-122"/>
                <a:cs typeface="Calibri" pitchFamily="34" charset="-120"/>
              </a:rPr>
              <a:t>You ask Claude a long question. Claude processes all those tokens to build up its understanding. You then ask a follow-up. Instead of re-reading the entire conversation from scratch, Claude reuses the cached computation from the first message — only processing the new tokens you just added.</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Text 1"/>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RAG — Retrieval-Augmented Generation</a:t>
            </a:r>
            <a:endParaRPr lang="en-US" sz="2000" dirty="0"/>
          </a:p>
        </p:txBody>
      </p:sp>
      <p:sp>
        <p:nvSpPr>
          <p:cNvPr id="4" name="Shape 2"/>
          <p:cNvSpPr/>
          <p:nvPr/>
        </p:nvSpPr>
        <p:spPr>
          <a:xfrm>
            <a:off x="457200" y="804672"/>
            <a:ext cx="8229600" cy="2029968"/>
          </a:xfrm>
          <a:prstGeom prst="rect">
            <a:avLst/>
          </a:prstGeom>
          <a:solidFill>
            <a:srgbClr val="1B2A4A"/>
          </a:solidFill>
          <a:ln w="12700">
            <a:solidFill>
              <a:srgbClr val="1B2A4A"/>
            </a:solidFill>
            <a:prstDash val="solid"/>
          </a:ln>
          <a:effectLst>
            <a:outerShdw blurRad="76200" dist="25400" dir="8100000" algn="bl" rotWithShape="0">
              <a:srgbClr val="000000">
                <a:alpha val="15000"/>
              </a:srgbClr>
            </a:outerShdw>
          </a:effectLst>
        </p:spPr>
        <p:txBody>
          <a:bodyPr/>
          <a:lstStyle/>
          <a:p>
            <a:endParaRPr lang="es-ES"/>
          </a:p>
        </p:txBody>
      </p:sp>
      <p:sp>
        <p:nvSpPr>
          <p:cNvPr id="5" name="Text 3"/>
          <p:cNvSpPr/>
          <p:nvPr/>
        </p:nvSpPr>
        <p:spPr>
          <a:xfrm>
            <a:off x="640080" y="868680"/>
            <a:ext cx="7863840" cy="347472"/>
          </a:xfrm>
          <a:prstGeom prst="rect">
            <a:avLst/>
          </a:prstGeom>
          <a:noFill/>
          <a:ln/>
        </p:spPr>
        <p:txBody>
          <a:bodyPr wrap="square"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Definition</a:t>
            </a:r>
            <a:endParaRPr lang="en-US" sz="1400" dirty="0"/>
          </a:p>
        </p:txBody>
      </p:sp>
      <p:sp>
        <p:nvSpPr>
          <p:cNvPr id="6" name="Text 4"/>
          <p:cNvSpPr/>
          <p:nvPr/>
        </p:nvSpPr>
        <p:spPr>
          <a:xfrm>
            <a:off x="640080" y="1261872"/>
            <a:ext cx="7863840" cy="1463040"/>
          </a:xfrm>
          <a:prstGeom prst="rect">
            <a:avLst/>
          </a:prstGeom>
          <a:noFill/>
          <a:ln/>
        </p:spPr>
        <p:txBody>
          <a:bodyPr wrap="square" rtlCol="0" anchor="t"/>
          <a:lstStyle/>
          <a:p>
            <a:pPr marL="0" indent="0">
              <a:buNone/>
            </a:pPr>
            <a:r>
              <a:rPr lang="en-US" sz="1350" dirty="0">
                <a:solidFill>
                  <a:srgbClr val="FFFFFF"/>
                </a:solidFill>
                <a:latin typeface="Calibri" pitchFamily="34" charset="0"/>
                <a:ea typeface="Calibri" pitchFamily="34" charset="-122"/>
                <a:cs typeface="Calibri" pitchFamily="34" charset="-120"/>
              </a:rPr>
              <a:t>The application fetches relevant information (from a database, a document, or a search engine) and injects it into the context as plain text. This lets the model answer questions about data it was never trained on — recent news, private documents, etc.</a:t>
            </a:r>
            <a:endParaRPr lang="en-US" sz="1350" dirty="0"/>
          </a:p>
          <a:p>
            <a:pPr marL="0" indent="0">
              <a:buNone/>
            </a:pPr>
            <a:endParaRPr lang="en-US" sz="1350" dirty="0"/>
          </a:p>
          <a:p>
            <a:pPr marL="0" indent="0">
              <a:buNone/>
            </a:pPr>
            <a:r>
              <a:rPr lang="en-US" sz="1350" dirty="0">
                <a:solidFill>
                  <a:srgbClr val="FFFFFF"/>
                </a:solidFill>
                <a:latin typeface="Calibri" pitchFamily="34" charset="0"/>
                <a:ea typeface="Calibri" pitchFamily="34" charset="-122"/>
                <a:cs typeface="Calibri" pitchFamily="34" charset="-120"/>
              </a:rPr>
              <a:t>Vector/semantic databases are often used for retrieval — but the injection is always plain text.</a:t>
            </a:r>
            <a:endParaRPr lang="en-US" sz="1350" dirty="0"/>
          </a:p>
        </p:txBody>
      </p:sp>
      <p:sp>
        <p:nvSpPr>
          <p:cNvPr id="7" name="Shape 5"/>
          <p:cNvSpPr/>
          <p:nvPr/>
        </p:nvSpPr>
        <p:spPr>
          <a:xfrm>
            <a:off x="457200" y="2990088"/>
            <a:ext cx="8229600" cy="1828800"/>
          </a:xfrm>
          <a:prstGeom prst="rect">
            <a:avLst/>
          </a:prstGeom>
          <a:solidFill>
            <a:srgbClr val="0D9488"/>
          </a:solidFill>
          <a:ln w="12700">
            <a:solidFill>
              <a:srgbClr val="0D9488"/>
            </a:solidFill>
            <a:prstDash val="solid"/>
          </a:ln>
          <a:effectLst>
            <a:outerShdw blurRad="76200" dist="25400" dir="8100000" algn="bl" rotWithShape="0">
              <a:srgbClr val="000000">
                <a:alpha val="15000"/>
              </a:srgbClr>
            </a:outerShdw>
          </a:effectLst>
        </p:spPr>
        <p:txBody>
          <a:bodyPr/>
          <a:lstStyle/>
          <a:p>
            <a:endParaRPr lang="es-ES"/>
          </a:p>
        </p:txBody>
      </p:sp>
      <p:sp>
        <p:nvSpPr>
          <p:cNvPr id="8" name="Text 6"/>
          <p:cNvSpPr/>
          <p:nvPr/>
        </p:nvSpPr>
        <p:spPr>
          <a:xfrm>
            <a:off x="640080" y="3054096"/>
            <a:ext cx="7863840" cy="347472"/>
          </a:xfrm>
          <a:prstGeom prst="rect">
            <a:avLst/>
          </a:prstGeom>
          <a:noFill/>
          <a:ln/>
        </p:spPr>
        <p:txBody>
          <a:bodyPr wrap="square"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Example</a:t>
            </a:r>
            <a:endParaRPr lang="en-US" sz="1400" dirty="0"/>
          </a:p>
        </p:txBody>
      </p:sp>
      <p:sp>
        <p:nvSpPr>
          <p:cNvPr id="9" name="Shape 7"/>
          <p:cNvSpPr/>
          <p:nvPr/>
        </p:nvSpPr>
        <p:spPr>
          <a:xfrm>
            <a:off x="640080" y="3447288"/>
            <a:ext cx="7863840" cy="1261872"/>
          </a:xfrm>
          <a:prstGeom prst="rect">
            <a:avLst/>
          </a:prstGeom>
          <a:solidFill>
            <a:srgbClr val="1E293B"/>
          </a:solidFill>
          <a:ln w="19050">
            <a:solidFill>
              <a:srgbClr val="0D9488"/>
            </a:solidFill>
            <a:prstDash val="solid"/>
          </a:ln>
        </p:spPr>
        <p:txBody>
          <a:bodyPr/>
          <a:lstStyle/>
          <a:p>
            <a:endParaRPr lang="es-ES"/>
          </a:p>
        </p:txBody>
      </p:sp>
      <p:sp>
        <p:nvSpPr>
          <p:cNvPr id="10" name="Text 8"/>
          <p:cNvSpPr/>
          <p:nvPr/>
        </p:nvSpPr>
        <p:spPr>
          <a:xfrm>
            <a:off x="804672" y="3493008"/>
            <a:ext cx="7589520" cy="1170432"/>
          </a:xfrm>
          <a:prstGeom prst="rect">
            <a:avLst/>
          </a:prstGeom>
          <a:noFill/>
          <a:ln/>
        </p:spPr>
        <p:txBody>
          <a:bodyPr wrap="square" rtlCol="0" anchor="ctr"/>
          <a:lstStyle/>
          <a:p>
            <a:pPr marL="0" indent="0">
              <a:buNone/>
            </a:pPr>
            <a:r>
              <a:rPr lang="en-US" sz="1300" dirty="0">
                <a:solidFill>
                  <a:srgbClr val="7DD3C8"/>
                </a:solidFill>
                <a:latin typeface="Consolas" pitchFamily="34" charset="0"/>
                <a:ea typeface="Consolas" pitchFamily="34" charset="-122"/>
                <a:cs typeface="Consolas" pitchFamily="34" charset="-120"/>
              </a:rPr>
              <a:t>[Context] Martorell population (2024): 28,402. Main industry: automotive.</a:t>
            </a:r>
            <a:endParaRPr lang="en-US" sz="1300" dirty="0"/>
          </a:p>
          <a:p>
            <a:pPr marL="0" indent="0">
              <a:buNone/>
            </a:pPr>
            <a:r>
              <a:rPr lang="en-US" sz="1300" dirty="0">
                <a:solidFill>
                  <a:srgbClr val="7DD3C8"/>
                </a:solidFill>
                <a:latin typeface="Consolas" pitchFamily="34" charset="0"/>
                <a:ea typeface="Consolas" pitchFamily="34" charset="-122"/>
                <a:cs typeface="Consolas" pitchFamily="34" charset="-120"/>
              </a:rPr>
              <a:t>[User] How many people live in Martorell?</a:t>
            </a:r>
            <a:endParaRPr lang="en-US" sz="1300" dirty="0"/>
          </a:p>
          <a:p>
            <a:pPr marL="0" indent="0">
              <a:buNone/>
            </a:pPr>
            <a:r>
              <a:rPr lang="en-US" sz="1300" dirty="0">
                <a:solidFill>
                  <a:srgbClr val="7DD3C8"/>
                </a:solidFill>
                <a:latin typeface="Consolas" pitchFamily="34" charset="0"/>
                <a:ea typeface="Consolas" pitchFamily="34" charset="-122"/>
                <a:cs typeface="Consolas" pitchFamily="34" charset="-120"/>
              </a:rPr>
              <a:t>→ Model answers from injected context, not training data.</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Text 1"/>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Tools (Function Calling) &amp; MCP</a:t>
            </a:r>
            <a:endParaRPr lang="en-US" sz="2000" dirty="0"/>
          </a:p>
        </p:txBody>
      </p:sp>
      <p:sp>
        <p:nvSpPr>
          <p:cNvPr id="4" name="Text 2"/>
          <p:cNvSpPr/>
          <p:nvPr/>
        </p:nvSpPr>
        <p:spPr>
          <a:xfrm>
            <a:off x="457200" y="804672"/>
            <a:ext cx="8229600" cy="36576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The application describes available functions in the context:</a:t>
            </a:r>
            <a:endParaRPr lang="en-US" sz="1400" dirty="0"/>
          </a:p>
        </p:txBody>
      </p:sp>
      <p:sp>
        <p:nvSpPr>
          <p:cNvPr id="5" name="Shape 3"/>
          <p:cNvSpPr/>
          <p:nvPr/>
        </p:nvSpPr>
        <p:spPr>
          <a:xfrm>
            <a:off x="457200" y="1216152"/>
            <a:ext cx="8229600" cy="530352"/>
          </a:xfrm>
          <a:prstGeom prst="rect">
            <a:avLst/>
          </a:prstGeom>
          <a:solidFill>
            <a:srgbClr val="1E293B"/>
          </a:solidFill>
          <a:ln w="19050">
            <a:solidFill>
              <a:srgbClr val="0D9488"/>
            </a:solidFill>
            <a:prstDash val="solid"/>
          </a:ln>
        </p:spPr>
        <p:txBody>
          <a:bodyPr/>
          <a:lstStyle/>
          <a:p>
            <a:endParaRPr lang="es-ES"/>
          </a:p>
        </p:txBody>
      </p:sp>
      <p:sp>
        <p:nvSpPr>
          <p:cNvPr id="6" name="Text 4"/>
          <p:cNvSpPr/>
          <p:nvPr/>
        </p:nvSpPr>
        <p:spPr>
          <a:xfrm>
            <a:off x="621792" y="1261872"/>
            <a:ext cx="7955280" cy="438912"/>
          </a:xfrm>
          <a:prstGeom prst="rect">
            <a:avLst/>
          </a:prstGeom>
          <a:noFill/>
          <a:ln/>
        </p:spPr>
        <p:txBody>
          <a:bodyPr wrap="square" rtlCol="0" anchor="ctr"/>
          <a:lstStyle/>
          <a:p>
            <a:pPr marL="0" indent="0">
              <a:buNone/>
            </a:pPr>
            <a:r>
              <a:rPr lang="en-US" sz="1300" dirty="0">
                <a:solidFill>
                  <a:srgbClr val="7DD3C8"/>
                </a:solidFill>
                <a:latin typeface="Consolas" pitchFamily="34" charset="0"/>
                <a:ea typeface="Consolas" pitchFamily="34" charset="-122"/>
                <a:cs typeface="Consolas" pitchFamily="34" charset="-120"/>
              </a:rPr>
              <a:t>getTemperature(locality)  →  returns temperature in Celsius</a:t>
            </a:r>
            <a:endParaRPr lang="en-US" sz="1300" dirty="0"/>
          </a:p>
        </p:txBody>
      </p:sp>
      <p:sp>
        <p:nvSpPr>
          <p:cNvPr id="7" name="Text 5"/>
          <p:cNvSpPr/>
          <p:nvPr/>
        </p:nvSpPr>
        <p:spPr>
          <a:xfrm>
            <a:off x="457200" y="1874520"/>
            <a:ext cx="8229600" cy="347472"/>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The model can respond with a structured call:</a:t>
            </a:r>
            <a:endParaRPr lang="en-US" sz="1400" dirty="0"/>
          </a:p>
        </p:txBody>
      </p:sp>
      <p:sp>
        <p:nvSpPr>
          <p:cNvPr id="8" name="Shape 6"/>
          <p:cNvSpPr/>
          <p:nvPr/>
        </p:nvSpPr>
        <p:spPr>
          <a:xfrm>
            <a:off x="457200" y="2258568"/>
            <a:ext cx="8229600" cy="530352"/>
          </a:xfrm>
          <a:prstGeom prst="rect">
            <a:avLst/>
          </a:prstGeom>
          <a:solidFill>
            <a:srgbClr val="1E293B"/>
          </a:solidFill>
          <a:ln w="19050">
            <a:solidFill>
              <a:srgbClr val="0D9488"/>
            </a:solidFill>
            <a:prstDash val="solid"/>
          </a:ln>
        </p:spPr>
        <p:txBody>
          <a:bodyPr/>
          <a:lstStyle/>
          <a:p>
            <a:endParaRPr lang="es-ES"/>
          </a:p>
        </p:txBody>
      </p:sp>
      <p:sp>
        <p:nvSpPr>
          <p:cNvPr id="9" name="Text 7"/>
          <p:cNvSpPr/>
          <p:nvPr/>
        </p:nvSpPr>
        <p:spPr>
          <a:xfrm>
            <a:off x="621792" y="2304288"/>
            <a:ext cx="7955280" cy="438912"/>
          </a:xfrm>
          <a:prstGeom prst="rect">
            <a:avLst/>
          </a:prstGeom>
          <a:noFill/>
          <a:ln/>
        </p:spPr>
        <p:txBody>
          <a:bodyPr wrap="square" rtlCol="0" anchor="ctr"/>
          <a:lstStyle/>
          <a:p>
            <a:pPr marL="0" indent="0">
              <a:buNone/>
            </a:pPr>
            <a:r>
              <a:rPr lang="en-US" sz="1300" dirty="0">
                <a:solidFill>
                  <a:srgbClr val="7DD3C8"/>
                </a:solidFill>
                <a:latin typeface="Consolas" pitchFamily="34" charset="0"/>
                <a:ea typeface="Consolas" pitchFamily="34" charset="-122"/>
                <a:cs typeface="Consolas" pitchFamily="34" charset="-120"/>
              </a:rPr>
              <a:t>INFERENCE ENGINE, EXECUTE getTemperature(martorell)</a:t>
            </a:r>
            <a:endParaRPr lang="en-US" sz="1300" dirty="0"/>
          </a:p>
        </p:txBody>
      </p:sp>
      <p:sp>
        <p:nvSpPr>
          <p:cNvPr id="10" name="Text 8"/>
          <p:cNvSpPr/>
          <p:nvPr/>
        </p:nvSpPr>
        <p:spPr>
          <a:xfrm>
            <a:off x="457200" y="2880360"/>
            <a:ext cx="8229600" cy="594360"/>
          </a:xfrm>
          <a:prstGeom prst="rect">
            <a:avLst/>
          </a:prstGeom>
          <a:noFill/>
          <a:ln/>
        </p:spPr>
        <p:txBody>
          <a:bodyPr wrap="square" rtlCol="0" anchor="ctr"/>
          <a:lstStyle/>
          <a:p>
            <a:pPr marL="0" indent="0">
              <a:buNone/>
            </a:pPr>
            <a:r>
              <a:rPr lang="en-US" sz="1400">
                <a:solidFill>
                  <a:srgbClr val="1E293B"/>
                </a:solidFill>
                <a:latin typeface="Calibri" pitchFamily="34" charset="0"/>
                <a:ea typeface="Calibri" pitchFamily="34" charset="-122"/>
                <a:cs typeface="Calibri" pitchFamily="34" charset="-120"/>
              </a:rPr>
              <a:t>The agent </a:t>
            </a:r>
            <a:r>
              <a:rPr lang="en-US" sz="1400" dirty="0">
                <a:solidFill>
                  <a:srgbClr val="1E293B"/>
                </a:solidFill>
                <a:latin typeface="Calibri" pitchFamily="34" charset="0"/>
                <a:ea typeface="Calibri" pitchFamily="34" charset="-122"/>
                <a:cs typeface="Calibri" pitchFamily="34" charset="-120"/>
              </a:rPr>
              <a:t>pauses, executes the function, injects the result back into context, and resumes generation.</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Tools are how LLMs reach beyond text and interact with the real world.</a:t>
            </a:r>
            <a:endParaRPr lang="en-US" sz="1400" dirty="0"/>
          </a:p>
        </p:txBody>
      </p:sp>
      <p:sp>
        <p:nvSpPr>
          <p:cNvPr id="11" name="Shape 9"/>
          <p:cNvSpPr/>
          <p:nvPr/>
        </p:nvSpPr>
        <p:spPr>
          <a:xfrm>
            <a:off x="457200" y="3611880"/>
            <a:ext cx="8229600" cy="1188720"/>
          </a:xfrm>
          <a:prstGeom prst="rect">
            <a:avLst/>
          </a:prstGeom>
          <a:solidFill>
            <a:srgbClr val="1B2A4A"/>
          </a:solidFill>
          <a:ln w="12700">
            <a:solidFill>
              <a:srgbClr val="1B2A4A"/>
            </a:solidFill>
            <a:prstDash val="solid"/>
          </a:ln>
          <a:effectLst>
            <a:outerShdw blurRad="50800" dist="25400" dir="8100000" algn="bl" rotWithShape="0">
              <a:srgbClr val="000000">
                <a:alpha val="12000"/>
              </a:srgbClr>
            </a:outerShdw>
          </a:effectLst>
        </p:spPr>
        <p:txBody>
          <a:bodyPr/>
          <a:lstStyle/>
          <a:p>
            <a:endParaRPr lang="es-ES"/>
          </a:p>
        </p:txBody>
      </p:sp>
      <p:sp>
        <p:nvSpPr>
          <p:cNvPr id="12" name="Text 10"/>
          <p:cNvSpPr/>
          <p:nvPr/>
        </p:nvSpPr>
        <p:spPr>
          <a:xfrm>
            <a:off x="594360" y="3657600"/>
            <a:ext cx="7955280" cy="384048"/>
          </a:xfrm>
          <a:prstGeom prst="rect">
            <a:avLst/>
          </a:prstGeom>
          <a:noFill/>
          <a:ln/>
        </p:spPr>
        <p:txBody>
          <a:bodyPr wrap="square" rtlCol="0" anchor="ctr"/>
          <a:lstStyle/>
          <a:p>
            <a:pPr marL="0" indent="0">
              <a:buNone/>
            </a:pPr>
            <a:r>
              <a:rPr lang="en-US" sz="1500" b="1" dirty="0">
                <a:solidFill>
                  <a:srgbClr val="0D9488"/>
                </a:solidFill>
                <a:latin typeface="Trebuchet MS" pitchFamily="34" charset="0"/>
                <a:ea typeface="Trebuchet MS" pitchFamily="34" charset="-122"/>
                <a:cs typeface="Trebuchet MS" pitchFamily="34" charset="-120"/>
              </a:rPr>
              <a:t>MCP — Model Context Protocol</a:t>
            </a:r>
            <a:endParaRPr lang="en-US" sz="1500" dirty="0"/>
          </a:p>
        </p:txBody>
      </p:sp>
      <p:sp>
        <p:nvSpPr>
          <p:cNvPr id="13" name="Text 11"/>
          <p:cNvSpPr/>
          <p:nvPr/>
        </p:nvSpPr>
        <p:spPr>
          <a:xfrm>
            <a:off x="594360" y="4041648"/>
            <a:ext cx="7955280" cy="65836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When tools live in external processes, MCP provides a standardised protocol for communication — for both local and remote tools, across any application.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s-ES"/>
          </a:p>
        </p:txBody>
      </p:sp>
      <p:sp>
        <p:nvSpPr>
          <p:cNvPr id="3" name="Text 1"/>
          <p:cNvSpPr/>
          <p:nvPr/>
        </p:nvSpPr>
        <p:spPr>
          <a:xfrm>
            <a:off x="1417320" y="0"/>
            <a:ext cx="749808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Response Filters</a:t>
            </a:r>
            <a:endParaRPr lang="en-US" sz="2000" dirty="0"/>
          </a:p>
        </p:txBody>
      </p:sp>
      <p:sp>
        <p:nvSpPr>
          <p:cNvPr id="4" name="Text 2"/>
          <p:cNvSpPr/>
          <p:nvPr/>
        </p:nvSpPr>
        <p:spPr>
          <a:xfrm>
            <a:off x="457200" y="804672"/>
            <a:ext cx="8229600" cy="4114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Before the response reaches the user, the application can run safety checks.</a:t>
            </a:r>
            <a:endParaRPr lang="en-US" sz="1500" dirty="0"/>
          </a:p>
        </p:txBody>
      </p:sp>
      <p:sp>
        <p:nvSpPr>
          <p:cNvPr id="5" name="Shape 3"/>
          <p:cNvSpPr/>
          <p:nvPr/>
        </p:nvSpPr>
        <p:spPr>
          <a:xfrm>
            <a:off x="731520" y="1463040"/>
            <a:ext cx="2194560" cy="914400"/>
          </a:xfrm>
          <a:prstGeom prst="rect">
            <a:avLst/>
          </a:prstGeom>
          <a:solidFill>
            <a:srgbClr val="1B2A4A"/>
          </a:solidFill>
          <a:ln w="12700">
            <a:solidFill>
              <a:srgbClr val="1B2A4A"/>
            </a:solidFill>
            <a:prstDash val="solid"/>
          </a:ln>
          <a:effectLst>
            <a:outerShdw blurRad="50800" dist="25400" dir="8100000" algn="bl" rotWithShape="0">
              <a:srgbClr val="000000">
                <a:alpha val="15000"/>
              </a:srgbClr>
            </a:outerShdw>
          </a:effectLst>
        </p:spPr>
        <p:txBody>
          <a:bodyPr/>
          <a:lstStyle/>
          <a:p>
            <a:endParaRPr lang="es-ES"/>
          </a:p>
        </p:txBody>
      </p:sp>
      <p:sp>
        <p:nvSpPr>
          <p:cNvPr id="6" name="Text 4"/>
          <p:cNvSpPr/>
          <p:nvPr/>
        </p:nvSpPr>
        <p:spPr>
          <a:xfrm>
            <a:off x="731520" y="1463040"/>
            <a:ext cx="219456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Model Output</a:t>
            </a:r>
            <a:endParaRPr lang="en-US" sz="1500" dirty="0"/>
          </a:p>
        </p:txBody>
      </p:sp>
      <p:sp>
        <p:nvSpPr>
          <p:cNvPr id="7" name="Shape 5"/>
          <p:cNvSpPr/>
          <p:nvPr/>
        </p:nvSpPr>
        <p:spPr>
          <a:xfrm>
            <a:off x="2926080" y="1920240"/>
            <a:ext cx="868680" cy="0"/>
          </a:xfrm>
          <a:prstGeom prst="line">
            <a:avLst/>
          </a:prstGeom>
          <a:noFill/>
          <a:ln w="25400">
            <a:solidFill>
              <a:srgbClr val="64748B"/>
            </a:solidFill>
            <a:prstDash val="solid"/>
          </a:ln>
        </p:spPr>
        <p:txBody>
          <a:bodyPr/>
          <a:lstStyle/>
          <a:p>
            <a:endParaRPr lang="es-ES"/>
          </a:p>
        </p:txBody>
      </p:sp>
      <p:sp>
        <p:nvSpPr>
          <p:cNvPr id="8" name="Shape 6"/>
          <p:cNvSpPr/>
          <p:nvPr/>
        </p:nvSpPr>
        <p:spPr>
          <a:xfrm>
            <a:off x="3794760" y="1463040"/>
            <a:ext cx="2194560" cy="914400"/>
          </a:xfrm>
          <a:prstGeom prst="rect">
            <a:avLst/>
          </a:prstGeom>
          <a:solidFill>
            <a:srgbClr val="0D9488"/>
          </a:solidFill>
          <a:ln w="12700">
            <a:solidFill>
              <a:srgbClr val="0D9488"/>
            </a:solidFill>
            <a:prstDash val="solid"/>
          </a:ln>
          <a:effectLst>
            <a:outerShdw blurRad="50800" dist="25400" dir="8100000" algn="bl" rotWithShape="0">
              <a:srgbClr val="000000">
                <a:alpha val="15000"/>
              </a:srgbClr>
            </a:outerShdw>
          </a:effectLst>
        </p:spPr>
        <p:txBody>
          <a:bodyPr/>
          <a:lstStyle/>
          <a:p>
            <a:endParaRPr lang="es-ES"/>
          </a:p>
        </p:txBody>
      </p:sp>
      <p:sp>
        <p:nvSpPr>
          <p:cNvPr id="9" name="Text 7"/>
          <p:cNvSpPr/>
          <p:nvPr/>
        </p:nvSpPr>
        <p:spPr>
          <a:xfrm>
            <a:off x="3794760" y="1463040"/>
            <a:ext cx="219456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Response Filter</a:t>
            </a:r>
            <a:endParaRPr lang="en-US" sz="1500" dirty="0"/>
          </a:p>
        </p:txBody>
      </p:sp>
      <p:sp>
        <p:nvSpPr>
          <p:cNvPr id="10" name="Shape 8"/>
          <p:cNvSpPr/>
          <p:nvPr/>
        </p:nvSpPr>
        <p:spPr>
          <a:xfrm>
            <a:off x="5989320" y="1920240"/>
            <a:ext cx="868680" cy="0"/>
          </a:xfrm>
          <a:prstGeom prst="line">
            <a:avLst/>
          </a:prstGeom>
          <a:noFill/>
          <a:ln w="25400">
            <a:solidFill>
              <a:srgbClr val="64748B"/>
            </a:solidFill>
            <a:prstDash val="solid"/>
          </a:ln>
        </p:spPr>
        <p:txBody>
          <a:bodyPr/>
          <a:lstStyle/>
          <a:p>
            <a:endParaRPr lang="es-ES"/>
          </a:p>
        </p:txBody>
      </p:sp>
      <p:sp>
        <p:nvSpPr>
          <p:cNvPr id="11" name="Shape 9"/>
          <p:cNvSpPr/>
          <p:nvPr/>
        </p:nvSpPr>
        <p:spPr>
          <a:xfrm>
            <a:off x="6858000" y="1463040"/>
            <a:ext cx="2194560" cy="914400"/>
          </a:xfrm>
          <a:prstGeom prst="rect">
            <a:avLst/>
          </a:prstGeom>
          <a:solidFill>
            <a:srgbClr val="1B2A4A"/>
          </a:solidFill>
          <a:ln w="12700">
            <a:solidFill>
              <a:srgbClr val="1B2A4A"/>
            </a:solidFill>
            <a:prstDash val="solid"/>
          </a:ln>
          <a:effectLst>
            <a:outerShdw blurRad="50800" dist="25400" dir="8100000" algn="bl" rotWithShape="0">
              <a:srgbClr val="000000">
                <a:alpha val="15000"/>
              </a:srgbClr>
            </a:outerShdw>
          </a:effectLst>
        </p:spPr>
        <p:txBody>
          <a:bodyPr/>
          <a:lstStyle/>
          <a:p>
            <a:endParaRPr lang="es-ES"/>
          </a:p>
        </p:txBody>
      </p:sp>
      <p:sp>
        <p:nvSpPr>
          <p:cNvPr id="12" name="Text 10"/>
          <p:cNvSpPr/>
          <p:nvPr/>
        </p:nvSpPr>
        <p:spPr>
          <a:xfrm>
            <a:off x="6858000" y="1463040"/>
            <a:ext cx="219456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User</a:t>
            </a:r>
            <a:endParaRPr lang="en-US" sz="1500" dirty="0"/>
          </a:p>
        </p:txBody>
      </p:sp>
      <p:sp>
        <p:nvSpPr>
          <p:cNvPr id="13" name="Shape 11"/>
          <p:cNvSpPr/>
          <p:nvPr/>
        </p:nvSpPr>
        <p:spPr>
          <a:xfrm>
            <a:off x="457200" y="2651760"/>
            <a:ext cx="164592" cy="411480"/>
          </a:xfrm>
          <a:prstGeom prst="rect">
            <a:avLst/>
          </a:prstGeom>
          <a:solidFill>
            <a:srgbClr val="0D9488"/>
          </a:solidFill>
          <a:ln w="12700">
            <a:solidFill>
              <a:srgbClr val="0D9488"/>
            </a:solidFill>
            <a:prstDash val="solid"/>
          </a:ln>
        </p:spPr>
        <p:txBody>
          <a:bodyPr/>
          <a:lstStyle/>
          <a:p>
            <a:endParaRPr lang="es-ES"/>
          </a:p>
        </p:txBody>
      </p:sp>
      <p:sp>
        <p:nvSpPr>
          <p:cNvPr id="14" name="Text 12"/>
          <p:cNvSpPr/>
          <p:nvPr/>
        </p:nvSpPr>
        <p:spPr>
          <a:xfrm>
            <a:off x="749808" y="2633472"/>
            <a:ext cx="8046720" cy="438912"/>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Static rules — keyword lists, pattern matching</a:t>
            </a:r>
            <a:endParaRPr lang="en-US" sz="1400" dirty="0"/>
          </a:p>
        </p:txBody>
      </p:sp>
      <p:sp>
        <p:nvSpPr>
          <p:cNvPr id="15" name="Shape 13"/>
          <p:cNvSpPr/>
          <p:nvPr/>
        </p:nvSpPr>
        <p:spPr>
          <a:xfrm>
            <a:off x="457200" y="3310128"/>
            <a:ext cx="164592" cy="411480"/>
          </a:xfrm>
          <a:prstGeom prst="rect">
            <a:avLst/>
          </a:prstGeom>
          <a:solidFill>
            <a:srgbClr val="0D9488"/>
          </a:solidFill>
          <a:ln w="12700">
            <a:solidFill>
              <a:srgbClr val="0D9488"/>
            </a:solidFill>
            <a:prstDash val="solid"/>
          </a:ln>
        </p:spPr>
        <p:txBody>
          <a:bodyPr/>
          <a:lstStyle/>
          <a:p>
            <a:endParaRPr lang="es-ES"/>
          </a:p>
        </p:txBody>
      </p:sp>
      <p:sp>
        <p:nvSpPr>
          <p:cNvPr id="16" name="Text 14"/>
          <p:cNvSpPr/>
          <p:nvPr/>
        </p:nvSpPr>
        <p:spPr>
          <a:xfrm>
            <a:off x="749808" y="3291840"/>
            <a:ext cx="8046720" cy="438912"/>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Classifiers — ML models trained to detect harmful output</a:t>
            </a:r>
            <a:endParaRPr lang="en-US" sz="1400" dirty="0"/>
          </a:p>
        </p:txBody>
      </p:sp>
      <p:sp>
        <p:nvSpPr>
          <p:cNvPr id="17" name="Shape 15"/>
          <p:cNvSpPr/>
          <p:nvPr/>
        </p:nvSpPr>
        <p:spPr>
          <a:xfrm>
            <a:off x="457200" y="3968496"/>
            <a:ext cx="164592" cy="411480"/>
          </a:xfrm>
          <a:prstGeom prst="rect">
            <a:avLst/>
          </a:prstGeom>
          <a:solidFill>
            <a:srgbClr val="0D9488"/>
          </a:solidFill>
          <a:ln w="12700">
            <a:solidFill>
              <a:srgbClr val="0D9488"/>
            </a:solidFill>
            <a:prstDash val="solid"/>
          </a:ln>
        </p:spPr>
        <p:txBody>
          <a:bodyPr/>
          <a:lstStyle/>
          <a:p>
            <a:endParaRPr lang="es-ES"/>
          </a:p>
        </p:txBody>
      </p:sp>
      <p:sp>
        <p:nvSpPr>
          <p:cNvPr id="18" name="Text 16"/>
          <p:cNvSpPr/>
          <p:nvPr/>
        </p:nvSpPr>
        <p:spPr>
          <a:xfrm>
            <a:off x="749808" y="3950208"/>
            <a:ext cx="8046720" cy="438912"/>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Other LLMs — a second model reviews the first model's response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txBody>
          <a:bodyPr/>
          <a:lstStyle/>
          <a:p>
            <a:endParaRPr lang="es-ES"/>
          </a:p>
        </p:txBody>
      </p:sp>
      <p:sp>
        <p:nvSpPr>
          <p:cNvPr id="3" name="Text 1"/>
          <p:cNvSpPr/>
          <p:nvPr/>
        </p:nvSpPr>
        <p:spPr>
          <a:xfrm>
            <a:off x="411480" y="1463040"/>
            <a:ext cx="8321040" cy="1371600"/>
          </a:xfrm>
          <a:prstGeom prst="rect">
            <a:avLst/>
          </a:prstGeom>
          <a:noFill/>
          <a:ln/>
        </p:spPr>
        <p:txBody>
          <a:bodyPr wrap="square"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That's the full pipeline.</a:t>
            </a:r>
            <a:endParaRPr lang="en-US" sz="4000" dirty="0"/>
          </a:p>
        </p:txBody>
      </p:sp>
      <p:sp>
        <p:nvSpPr>
          <p:cNvPr id="4" name="Text 2"/>
          <p:cNvSpPr/>
          <p:nvPr/>
        </p:nvSpPr>
        <p:spPr>
          <a:xfrm>
            <a:off x="411480" y="2735309"/>
            <a:ext cx="8321040" cy="731520"/>
          </a:xfrm>
          <a:prstGeom prst="rect">
            <a:avLst/>
          </a:prstGeom>
          <a:noFill/>
          <a:ln/>
        </p:spPr>
        <p:txBody>
          <a:bodyPr wrap="square" rtlCol="0" anchor="ctr"/>
          <a:lstStyle/>
          <a:p>
            <a:pPr marL="0" indent="0">
              <a:buNone/>
            </a:pPr>
            <a:r>
              <a:rPr lang="en-US" sz="1800" i="1" dirty="0">
                <a:solidFill>
                  <a:srgbClr val="CCEDE9"/>
                </a:solidFill>
                <a:latin typeface="Calibri" pitchFamily="34" charset="0"/>
                <a:ea typeface="Calibri" pitchFamily="34" charset="-122"/>
                <a:cs typeface="Calibri" pitchFamily="34" charset="-120"/>
              </a:rPr>
              <a:t>From a single prompt to a stream of tokens — one step at a time.</a:t>
            </a:r>
            <a:endParaRPr lang="en-US" sz="1800" dirty="0"/>
          </a:p>
        </p:txBody>
      </p:sp>
      <p:sp>
        <p:nvSpPr>
          <p:cNvPr id="5" name="Text 3"/>
          <p:cNvSpPr/>
          <p:nvPr/>
        </p:nvSpPr>
        <p:spPr>
          <a:xfrm>
            <a:off x="411480" y="3403999"/>
            <a:ext cx="8321040" cy="384048"/>
          </a:xfrm>
          <a:prstGeom prst="rect">
            <a:avLst/>
          </a:prstGeom>
          <a:noFill/>
          <a:ln/>
        </p:spPr>
        <p:txBody>
          <a:bodyPr wrap="square" rtlCol="0" anchor="ctr"/>
          <a:lstStyle/>
          <a:p>
            <a:pPr marL="0" indent="0">
              <a:buNone/>
            </a:pPr>
            <a:r>
              <a:rPr lang="en-US" sz="1300" dirty="0">
                <a:solidFill>
                  <a:srgbClr val="CCEDE9"/>
                </a:solidFill>
                <a:latin typeface="Consolas" pitchFamily="34" charset="0"/>
                <a:ea typeface="Consolas" pitchFamily="34" charset="-122"/>
                <a:cs typeface="Consolas" pitchFamily="34" charset="-120"/>
              </a:rPr>
              <a:t>1  Tokenize   →   2  Embed   →   3  Transform (×N)</a:t>
            </a:r>
            <a:endParaRPr lang="en-US" sz="1300" dirty="0"/>
          </a:p>
        </p:txBody>
      </p:sp>
      <p:sp>
        <p:nvSpPr>
          <p:cNvPr id="6" name="Text 4"/>
          <p:cNvSpPr/>
          <p:nvPr/>
        </p:nvSpPr>
        <p:spPr>
          <a:xfrm>
            <a:off x="411480" y="3675888"/>
            <a:ext cx="8321040" cy="384048"/>
          </a:xfrm>
          <a:prstGeom prst="rect">
            <a:avLst/>
          </a:prstGeom>
          <a:noFill/>
          <a:ln/>
        </p:spPr>
        <p:txBody>
          <a:bodyPr wrap="square" rtlCol="0" anchor="ctr"/>
          <a:lstStyle/>
          <a:p>
            <a:pPr marL="0" indent="0">
              <a:buNone/>
            </a:pPr>
            <a:r>
              <a:rPr lang="en-US" sz="1300" dirty="0">
                <a:solidFill>
                  <a:srgbClr val="CCEDE9"/>
                </a:solidFill>
                <a:latin typeface="Consolas" pitchFamily="34" charset="0"/>
                <a:ea typeface="Consolas" pitchFamily="34" charset="-122"/>
                <a:cs typeface="Consolas" pitchFamily="34" charset="-120"/>
              </a:rPr>
              <a:t>4  Score candidates   →   5  Softmax + Temperature</a:t>
            </a:r>
            <a:endParaRPr lang="en-US" sz="1300" dirty="0"/>
          </a:p>
        </p:txBody>
      </p:sp>
      <p:sp>
        <p:nvSpPr>
          <p:cNvPr id="7" name="Text 5"/>
          <p:cNvSpPr/>
          <p:nvPr/>
        </p:nvSpPr>
        <p:spPr>
          <a:xfrm>
            <a:off x="411480" y="3987247"/>
            <a:ext cx="8321040" cy="384048"/>
          </a:xfrm>
          <a:prstGeom prst="rect">
            <a:avLst/>
          </a:prstGeom>
          <a:noFill/>
          <a:ln/>
        </p:spPr>
        <p:txBody>
          <a:bodyPr wrap="square" rtlCol="0" anchor="ctr"/>
          <a:lstStyle/>
          <a:p>
            <a:pPr marL="0" indent="0">
              <a:buNone/>
            </a:pPr>
            <a:r>
              <a:rPr lang="en-US" sz="1300" dirty="0">
                <a:solidFill>
                  <a:srgbClr val="CCEDE9"/>
                </a:solidFill>
                <a:latin typeface="Consolas" pitchFamily="34" charset="0"/>
                <a:ea typeface="Consolas" pitchFamily="34" charset="-122"/>
                <a:cs typeface="Consolas" pitchFamily="34" charset="-120"/>
              </a:rPr>
              <a:t>6  Filter (top-k / top-p)   →   7  Sample   →   8  Loop</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a:extLst>
            <a:ext uri="{FF2B5EF4-FFF2-40B4-BE49-F238E27FC236}">
              <a16:creationId xmlns:a16="http://schemas.microsoft.com/office/drawing/2014/main" id="{01237DD7-F67E-CC93-C0C8-A9EBFDB5F6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BAD7A65-ED2B-D50C-281E-26E1E8164A15}"/>
              </a:ext>
            </a:extLst>
          </p:cNvPr>
          <p:cNvSpPr/>
          <p:nvPr/>
        </p:nvSpPr>
        <p:spPr>
          <a:xfrm>
            <a:off x="0" y="0"/>
            <a:ext cx="164592" cy="5143500"/>
          </a:xfrm>
          <a:prstGeom prst="rect">
            <a:avLst/>
          </a:prstGeom>
          <a:solidFill>
            <a:srgbClr val="0D9488"/>
          </a:solidFill>
          <a:ln w="12700">
            <a:solidFill>
              <a:srgbClr val="0D9488"/>
            </a:solidFill>
            <a:prstDash val="solid"/>
          </a:ln>
        </p:spPr>
        <p:txBody>
          <a:bodyPr/>
          <a:lstStyle/>
          <a:p>
            <a:endParaRPr lang="es-ES"/>
          </a:p>
        </p:txBody>
      </p:sp>
      <p:sp>
        <p:nvSpPr>
          <p:cNvPr id="3" name="Text 1">
            <a:extLst>
              <a:ext uri="{FF2B5EF4-FFF2-40B4-BE49-F238E27FC236}">
                <a16:creationId xmlns:a16="http://schemas.microsoft.com/office/drawing/2014/main" id="{E68BA6BF-1A4A-1B67-23DA-DA085C99144B}"/>
              </a:ext>
            </a:extLst>
          </p:cNvPr>
          <p:cNvSpPr/>
          <p:nvPr/>
        </p:nvSpPr>
        <p:spPr>
          <a:xfrm>
            <a:off x="411480" y="731520"/>
            <a:ext cx="8229600" cy="1005840"/>
          </a:xfrm>
          <a:prstGeom prst="rect">
            <a:avLst/>
          </a:prstGeom>
          <a:noFill/>
          <a:ln/>
        </p:spPr>
        <p:txBody>
          <a:bodyPr wrap="square" rtlCol="0" anchor="ctr"/>
          <a:lstStyle/>
          <a:p>
            <a:pPr marL="0" indent="0">
              <a:buNone/>
            </a:pPr>
            <a:r>
              <a:rPr lang="en-US" sz="6400" b="1" dirty="0">
                <a:solidFill>
                  <a:srgbClr val="0D9488"/>
                </a:solidFill>
                <a:latin typeface="Trebuchet MS" pitchFamily="34" charset="0"/>
                <a:ea typeface="Trebuchet MS" pitchFamily="34" charset="-122"/>
                <a:cs typeface="Trebuchet MS" pitchFamily="34" charset="-120"/>
              </a:rPr>
              <a:t>⚙</a:t>
            </a:r>
            <a:endParaRPr lang="en-US" sz="6400" dirty="0"/>
          </a:p>
        </p:txBody>
      </p:sp>
      <p:sp>
        <p:nvSpPr>
          <p:cNvPr id="4" name="Text 2">
            <a:extLst>
              <a:ext uri="{FF2B5EF4-FFF2-40B4-BE49-F238E27FC236}">
                <a16:creationId xmlns:a16="http://schemas.microsoft.com/office/drawing/2014/main" id="{1246C927-A1F9-D5E1-154F-73DD3861EDFB}"/>
              </a:ext>
            </a:extLst>
          </p:cNvPr>
          <p:cNvSpPr/>
          <p:nvPr/>
        </p:nvSpPr>
        <p:spPr>
          <a:xfrm>
            <a:off x="411480" y="1737360"/>
            <a:ext cx="8229600" cy="822960"/>
          </a:xfrm>
          <a:prstGeom prst="rect">
            <a:avLst/>
          </a:prstGeom>
          <a:noFill/>
          <a:ln/>
        </p:spPr>
        <p:txBody>
          <a:bodyPr wrap="square" rtlCol="0" anchor="ctr"/>
          <a:lstStyle/>
          <a:p>
            <a:pPr marL="0" indent="0">
              <a:buNone/>
            </a:pPr>
            <a:r>
              <a:rPr lang="en-US" sz="3000" b="1">
                <a:solidFill>
                  <a:srgbClr val="FFFFFF"/>
                </a:solidFill>
                <a:latin typeface="Trebuchet MS" pitchFamily="34" charset="0"/>
                <a:ea typeface="Trebuchet MS" pitchFamily="34" charset="-122"/>
                <a:cs typeface="Trebuchet MS" pitchFamily="34" charset="-120"/>
              </a:rPr>
              <a:t>Appendix</a:t>
            </a:r>
            <a:endParaRPr lang="en-US" sz="3000" dirty="0"/>
          </a:p>
        </p:txBody>
      </p:sp>
      <p:sp>
        <p:nvSpPr>
          <p:cNvPr id="5" name="Text 3">
            <a:extLst>
              <a:ext uri="{FF2B5EF4-FFF2-40B4-BE49-F238E27FC236}">
                <a16:creationId xmlns:a16="http://schemas.microsoft.com/office/drawing/2014/main" id="{90714E9A-F2F5-896B-6784-DB17016A84A8}"/>
              </a:ext>
            </a:extLst>
          </p:cNvPr>
          <p:cNvSpPr/>
          <p:nvPr/>
        </p:nvSpPr>
        <p:spPr>
          <a:xfrm>
            <a:off x="411480" y="2606040"/>
            <a:ext cx="8229600" cy="640080"/>
          </a:xfrm>
          <a:prstGeom prst="rect">
            <a:avLst/>
          </a:prstGeom>
          <a:noFill/>
          <a:ln/>
        </p:spPr>
        <p:txBody>
          <a:bodyPr wrap="square" rtlCol="0" anchor="ctr"/>
          <a:lstStyle/>
          <a:p>
            <a:pPr marL="0" indent="0">
              <a:buNone/>
            </a:pPr>
            <a:r>
              <a:rPr lang="en-US" sz="1600" i="1">
                <a:solidFill>
                  <a:srgbClr val="CCEDE9"/>
                </a:solidFill>
                <a:latin typeface="Calibri" pitchFamily="34" charset="0"/>
                <a:ea typeface="Calibri" pitchFamily="34" charset="-122"/>
                <a:cs typeface="Calibri" pitchFamily="34" charset="-120"/>
              </a:rPr>
              <a:t>Embeddings, meaning and emerging properties</a:t>
            </a:r>
            <a:endParaRPr lang="en-US" sz="1600" dirty="0"/>
          </a:p>
        </p:txBody>
      </p:sp>
    </p:spTree>
    <p:extLst>
      <p:ext uri="{BB962C8B-B14F-4D97-AF65-F5344CB8AC3E}">
        <p14:creationId xmlns:p14="http://schemas.microsoft.com/office/powerpoint/2010/main" val="1675539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sp>
        <p:nvSpPr>
          <p:cNvPr id="16" name="Google Shape;16;p3"/>
          <p:cNvSpPr/>
          <p:nvPr/>
        </p:nvSpPr>
        <p:spPr>
          <a:xfrm>
            <a:off x="0" y="0"/>
            <a:ext cx="164592"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0" y="0"/>
            <a:ext cx="9144000" cy="658368"/>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365760" y="0"/>
            <a:ext cx="8412480" cy="6583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000"/>
              <a:buFont typeface="Trebuchet MS"/>
              <a:buNone/>
            </a:pPr>
            <a:r>
              <a:rPr lang="en-US" sz="2000" b="1" i="0" u="none" strike="noStrike" cap="none">
                <a:solidFill>
                  <a:srgbClr val="FFFFFF"/>
                </a:solidFill>
                <a:latin typeface="Trebuchet MS"/>
                <a:ea typeface="Trebuchet MS"/>
                <a:cs typeface="Trebuchet MS"/>
                <a:sym typeface="Trebuchet MS"/>
              </a:rPr>
              <a:t>Embeddings Place Words as Points in Space</a:t>
            </a:r>
            <a:endParaRPr sz="2000" b="0" i="0" u="none" strike="noStrike" cap="none">
              <a:solidFill>
                <a:schemeClr val="dk1"/>
              </a:solidFill>
              <a:latin typeface="Calibri"/>
              <a:ea typeface="Calibri"/>
              <a:cs typeface="Calibri"/>
              <a:sym typeface="Calibri"/>
            </a:endParaRPr>
          </a:p>
        </p:txBody>
      </p:sp>
      <p:sp>
        <p:nvSpPr>
          <p:cNvPr id="19" name="Google Shape;19;p3"/>
          <p:cNvSpPr/>
          <p:nvPr/>
        </p:nvSpPr>
        <p:spPr>
          <a:xfrm>
            <a:off x="1097280" y="868680"/>
            <a:ext cx="4755000" cy="3931800"/>
          </a:xfrm>
          <a:prstGeom prst="rect">
            <a:avLst/>
          </a:prstGeom>
          <a:solidFill>
            <a:srgbClr val="FFFFFF"/>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 name="Google Shape;20;p3"/>
          <p:cNvCxnSpPr/>
          <p:nvPr/>
        </p:nvCxnSpPr>
        <p:spPr>
          <a:xfrm>
            <a:off x="2286000" y="868680"/>
            <a:ext cx="0" cy="3931920"/>
          </a:xfrm>
          <a:prstGeom prst="straightConnector1">
            <a:avLst/>
          </a:prstGeom>
          <a:noFill/>
          <a:ln w="9525" cap="flat" cmpd="sng">
            <a:solidFill>
              <a:srgbClr val="EEF2F7"/>
            </a:solidFill>
            <a:prstDash val="solid"/>
            <a:round/>
            <a:headEnd type="none" w="sm" len="sm"/>
            <a:tailEnd type="none" w="sm" len="sm"/>
          </a:ln>
        </p:spPr>
      </p:cxnSp>
      <p:cxnSp>
        <p:nvCxnSpPr>
          <p:cNvPr id="21" name="Google Shape;21;p3"/>
          <p:cNvCxnSpPr/>
          <p:nvPr/>
        </p:nvCxnSpPr>
        <p:spPr>
          <a:xfrm>
            <a:off x="1097280" y="3817620"/>
            <a:ext cx="4754880" cy="0"/>
          </a:xfrm>
          <a:prstGeom prst="straightConnector1">
            <a:avLst/>
          </a:prstGeom>
          <a:noFill/>
          <a:ln w="9525" cap="flat" cmpd="sng">
            <a:solidFill>
              <a:srgbClr val="EEF2F7"/>
            </a:solidFill>
            <a:prstDash val="solid"/>
            <a:round/>
            <a:headEnd type="none" w="sm" len="sm"/>
            <a:tailEnd type="none" w="sm" len="sm"/>
          </a:ln>
        </p:spPr>
      </p:cxnSp>
      <p:cxnSp>
        <p:nvCxnSpPr>
          <p:cNvPr id="22" name="Google Shape;22;p3"/>
          <p:cNvCxnSpPr/>
          <p:nvPr/>
        </p:nvCxnSpPr>
        <p:spPr>
          <a:xfrm>
            <a:off x="3474720" y="868680"/>
            <a:ext cx="0" cy="3931920"/>
          </a:xfrm>
          <a:prstGeom prst="straightConnector1">
            <a:avLst/>
          </a:prstGeom>
          <a:noFill/>
          <a:ln w="9525" cap="flat" cmpd="sng">
            <a:solidFill>
              <a:srgbClr val="EEF2F7"/>
            </a:solidFill>
            <a:prstDash val="solid"/>
            <a:round/>
            <a:headEnd type="none" w="sm" len="sm"/>
            <a:tailEnd type="none" w="sm" len="sm"/>
          </a:ln>
        </p:spPr>
      </p:cxnSp>
      <p:cxnSp>
        <p:nvCxnSpPr>
          <p:cNvPr id="23" name="Google Shape;23;p3"/>
          <p:cNvCxnSpPr/>
          <p:nvPr/>
        </p:nvCxnSpPr>
        <p:spPr>
          <a:xfrm>
            <a:off x="1097280" y="2834640"/>
            <a:ext cx="4754880" cy="0"/>
          </a:xfrm>
          <a:prstGeom prst="straightConnector1">
            <a:avLst/>
          </a:prstGeom>
          <a:noFill/>
          <a:ln w="9525" cap="flat" cmpd="sng">
            <a:solidFill>
              <a:srgbClr val="EEF2F7"/>
            </a:solidFill>
            <a:prstDash val="solid"/>
            <a:round/>
            <a:headEnd type="none" w="sm" len="sm"/>
            <a:tailEnd type="none" w="sm" len="sm"/>
          </a:ln>
        </p:spPr>
      </p:cxnSp>
      <p:cxnSp>
        <p:nvCxnSpPr>
          <p:cNvPr id="24" name="Google Shape;24;p3"/>
          <p:cNvCxnSpPr/>
          <p:nvPr/>
        </p:nvCxnSpPr>
        <p:spPr>
          <a:xfrm>
            <a:off x="4663440" y="868680"/>
            <a:ext cx="0" cy="3931920"/>
          </a:xfrm>
          <a:prstGeom prst="straightConnector1">
            <a:avLst/>
          </a:prstGeom>
          <a:noFill/>
          <a:ln w="9525" cap="flat" cmpd="sng">
            <a:solidFill>
              <a:srgbClr val="EEF2F7"/>
            </a:solidFill>
            <a:prstDash val="solid"/>
            <a:round/>
            <a:headEnd type="none" w="sm" len="sm"/>
            <a:tailEnd type="none" w="sm" len="sm"/>
          </a:ln>
        </p:spPr>
      </p:cxnSp>
      <p:cxnSp>
        <p:nvCxnSpPr>
          <p:cNvPr id="25" name="Google Shape;25;p3"/>
          <p:cNvCxnSpPr/>
          <p:nvPr/>
        </p:nvCxnSpPr>
        <p:spPr>
          <a:xfrm>
            <a:off x="1097280" y="1851660"/>
            <a:ext cx="4754880" cy="0"/>
          </a:xfrm>
          <a:prstGeom prst="straightConnector1">
            <a:avLst/>
          </a:prstGeom>
          <a:noFill/>
          <a:ln w="9525" cap="flat" cmpd="sng">
            <a:solidFill>
              <a:srgbClr val="EEF2F7"/>
            </a:solidFill>
            <a:prstDash val="solid"/>
            <a:round/>
            <a:headEnd type="none" w="sm" len="sm"/>
            <a:tailEnd type="none" w="sm" len="sm"/>
          </a:ln>
        </p:spPr>
      </p:cxnSp>
      <p:sp>
        <p:nvSpPr>
          <p:cNvPr id="28" name="Google Shape;28;p3"/>
          <p:cNvSpPr/>
          <p:nvPr/>
        </p:nvSpPr>
        <p:spPr>
          <a:xfrm>
            <a:off x="2930652" y="3159252"/>
            <a:ext cx="137160" cy="137160"/>
          </a:xfrm>
          <a:prstGeom prst="ellipse">
            <a:avLst/>
          </a:prstGeom>
          <a:solidFill>
            <a:srgbClr val="64748B"/>
          </a:solidFill>
          <a:ln w="12700" cap="flat" cmpd="sng">
            <a:solidFill>
              <a:srgbClr val="64748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3872484" y="2363724"/>
            <a:ext cx="155448" cy="155448"/>
          </a:xfrm>
          <a:prstGeom prst="ellipse">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2613510" y="3216409"/>
            <a:ext cx="960000" cy="402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a:solidFill>
                  <a:srgbClr val="64748B"/>
                </a:solidFill>
                <a:latin typeface="Calibri"/>
                <a:ea typeface="Calibri"/>
                <a:cs typeface="Calibri"/>
                <a:sym typeface="Calibri"/>
              </a:rPr>
              <a:t>man</a:t>
            </a:r>
            <a:endParaRPr sz="1000" b="0" i="0" u="none" strike="noStrike" cap="none">
              <a:solidFill>
                <a:schemeClr val="dk1"/>
              </a:solidFill>
              <a:latin typeface="Calibri"/>
              <a:ea typeface="Calibri"/>
              <a:cs typeface="Calibri"/>
              <a:sym typeface="Calibri"/>
            </a:endParaRPr>
          </a:p>
        </p:txBody>
      </p:sp>
      <p:sp>
        <p:nvSpPr>
          <p:cNvPr id="31" name="Google Shape;31;p3"/>
          <p:cNvSpPr/>
          <p:nvPr/>
        </p:nvSpPr>
        <p:spPr>
          <a:xfrm>
            <a:off x="3434903" y="2020860"/>
            <a:ext cx="960000" cy="4023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1B2A4A"/>
              </a:buClr>
              <a:buSzPts val="1000"/>
              <a:buFont typeface="Calibri"/>
              <a:buNone/>
            </a:pPr>
            <a:r>
              <a:rPr lang="en-US" sz="1000" b="1" i="0" u="none" strike="noStrike" cap="none">
                <a:solidFill>
                  <a:srgbClr val="1B2A4A"/>
                </a:solidFill>
                <a:latin typeface="Calibri"/>
                <a:ea typeface="Calibri"/>
                <a:cs typeface="Calibri"/>
                <a:sym typeface="Calibri"/>
              </a:rPr>
              <a:t>king</a:t>
            </a:r>
            <a:endParaRPr sz="1000" b="0" i="0" u="none" strike="noStrike" cap="none">
              <a:solidFill>
                <a:schemeClr val="dk1"/>
              </a:solidFill>
              <a:latin typeface="Calibri"/>
              <a:ea typeface="Calibri"/>
              <a:cs typeface="Calibri"/>
              <a:sym typeface="Calibri"/>
            </a:endParaRPr>
          </a:p>
        </p:txBody>
      </p:sp>
      <p:sp>
        <p:nvSpPr>
          <p:cNvPr id="32" name="Google Shape;32;p3"/>
          <p:cNvSpPr/>
          <p:nvPr/>
        </p:nvSpPr>
        <p:spPr>
          <a:xfrm>
            <a:off x="6309360" y="804672"/>
            <a:ext cx="2560320" cy="1325880"/>
          </a:xfrm>
          <a:prstGeom prst="rect">
            <a:avLst/>
          </a:prstGeom>
          <a:solidFill>
            <a:srgbClr val="1B2A4A"/>
          </a:solidFill>
          <a:ln w="12700" cap="flat" cmpd="sng">
            <a:solidFill>
              <a:srgbClr val="1B2A4A"/>
            </a:solidFill>
            <a:prstDash val="solid"/>
            <a:round/>
            <a:headEnd type="none" w="sm" len="sm"/>
            <a:tailEnd type="none" w="sm" len="sm"/>
          </a:ln>
          <a:effectLst>
            <a:outerShdw blurRad="635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6473952" y="896112"/>
            <a:ext cx="2286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CEDE9"/>
              </a:buClr>
              <a:buSzPts val="1300"/>
              <a:buFont typeface="Trebuchet MS"/>
              <a:buNone/>
            </a:pPr>
            <a:r>
              <a:rPr lang="en-US" sz="1300" b="1" i="0" u="none" strike="noStrike" cap="none">
                <a:solidFill>
                  <a:srgbClr val="CCEDE9"/>
                </a:solidFill>
                <a:latin typeface="Trebuchet MS"/>
                <a:ea typeface="Trebuchet MS"/>
                <a:cs typeface="Trebuchet MS"/>
                <a:sym typeface="Trebuchet MS"/>
              </a:rPr>
              <a:t>Two words. Two points.</a:t>
            </a:r>
            <a:endParaRPr sz="1300" b="0" i="0" u="none" strike="noStrike" cap="none">
              <a:solidFill>
                <a:schemeClr val="dk1"/>
              </a:solidFill>
              <a:latin typeface="Calibri"/>
              <a:ea typeface="Calibri"/>
              <a:cs typeface="Calibri"/>
              <a:sym typeface="Calibri"/>
            </a:endParaRPr>
          </a:p>
        </p:txBody>
      </p:sp>
      <p:sp>
        <p:nvSpPr>
          <p:cNvPr id="34" name="Google Shape;34;p3"/>
          <p:cNvSpPr/>
          <p:nvPr/>
        </p:nvSpPr>
        <p:spPr>
          <a:xfrm>
            <a:off x="6473952" y="1225296"/>
            <a:ext cx="2286000" cy="90525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Every token gets a position in a high-dimensional space. Words with similar meanings cluster together.</a:t>
            </a:r>
            <a:endParaRPr sz="1250" b="0" i="0" u="none" strike="noStrike" cap="none">
              <a:solidFill>
                <a:schemeClr val="dk1"/>
              </a:solidFill>
              <a:latin typeface="Calibri"/>
              <a:ea typeface="Calibri"/>
              <a:cs typeface="Calibri"/>
              <a:sym typeface="Calibri"/>
            </a:endParaRPr>
          </a:p>
        </p:txBody>
      </p:sp>
      <p:sp>
        <p:nvSpPr>
          <p:cNvPr id="35" name="Google Shape;35;p3"/>
          <p:cNvSpPr/>
          <p:nvPr/>
        </p:nvSpPr>
        <p:spPr>
          <a:xfrm>
            <a:off x="6309360" y="2276856"/>
            <a:ext cx="2560320" cy="1106424"/>
          </a:xfrm>
          <a:prstGeom prst="rect">
            <a:avLst/>
          </a:prstGeom>
          <a:solidFill>
            <a:srgbClr val="1E293B"/>
          </a:solidFill>
          <a:ln w="12700" cap="flat" cmpd="sng">
            <a:solidFill>
              <a:srgbClr val="1E293B"/>
            </a:solidFill>
            <a:prstDash val="solid"/>
            <a:round/>
            <a:headEnd type="none" w="sm" len="sm"/>
            <a:tailEnd type="none" w="sm" len="sm"/>
          </a:ln>
          <a:effectLst>
            <a:outerShdw blurRad="635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6473952" y="2423160"/>
            <a:ext cx="2286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CEDE9"/>
              </a:buClr>
              <a:buSzPts val="1300"/>
              <a:buFont typeface="Trebuchet MS"/>
              <a:buNone/>
            </a:pPr>
            <a:r>
              <a:rPr lang="en-US" sz="1300" b="1" i="0" u="none" strike="noStrike" cap="none">
                <a:solidFill>
                  <a:srgbClr val="CCEDE9"/>
                </a:solidFill>
                <a:latin typeface="Trebuchet MS"/>
                <a:ea typeface="Trebuchet MS"/>
                <a:cs typeface="Trebuchet MS"/>
                <a:sym typeface="Trebuchet MS"/>
              </a:rPr>
              <a:t>Coordinates</a:t>
            </a:r>
            <a:endParaRPr sz="1300" b="0" i="0" u="none" strike="noStrike" cap="none">
              <a:solidFill>
                <a:schemeClr val="dk1"/>
              </a:solidFill>
              <a:latin typeface="Calibri"/>
              <a:ea typeface="Calibri"/>
              <a:cs typeface="Calibri"/>
              <a:sym typeface="Calibri"/>
            </a:endParaRPr>
          </a:p>
        </p:txBody>
      </p:sp>
      <p:sp>
        <p:nvSpPr>
          <p:cNvPr id="37" name="Google Shape;37;p3"/>
          <p:cNvSpPr/>
          <p:nvPr/>
        </p:nvSpPr>
        <p:spPr>
          <a:xfrm>
            <a:off x="6473952" y="2752344"/>
            <a:ext cx="2286000" cy="56692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man  →  [40, 40]</a:t>
            </a:r>
            <a:endParaRPr sz="12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king →  [60, 60]</a:t>
            </a:r>
            <a:endParaRPr sz="1250" b="0" i="0" u="none" strike="noStrike" cap="none">
              <a:solidFill>
                <a:schemeClr val="dk1"/>
              </a:solidFill>
              <a:latin typeface="Calibri"/>
              <a:ea typeface="Calibri"/>
              <a:cs typeface="Calibri"/>
              <a:sym typeface="Calibri"/>
            </a:endParaRPr>
          </a:p>
        </p:txBody>
      </p:sp>
      <p:sp>
        <p:nvSpPr>
          <p:cNvPr id="38" name="Google Shape;38;p3"/>
          <p:cNvSpPr/>
          <p:nvPr/>
        </p:nvSpPr>
        <p:spPr>
          <a:xfrm>
            <a:off x="6316030" y="3529584"/>
            <a:ext cx="2560320" cy="1270896"/>
          </a:xfrm>
          <a:prstGeom prst="rect">
            <a:avLst/>
          </a:prstGeom>
          <a:solidFill>
            <a:srgbClr val="0D9488"/>
          </a:solidFill>
          <a:ln w="12700" cap="flat" cmpd="sng">
            <a:solidFill>
              <a:srgbClr val="0D9488"/>
            </a:solidFill>
            <a:prstDash val="solid"/>
            <a:round/>
            <a:headEnd type="none" w="sm" len="sm"/>
            <a:tailEnd type="none" w="sm" len="sm"/>
          </a:ln>
          <a:effectLst>
            <a:outerShdw blurRad="635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6473952" y="3584448"/>
            <a:ext cx="2286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CEDE9"/>
              </a:buClr>
              <a:buSzPts val="1300"/>
              <a:buFont typeface="Trebuchet MS"/>
              <a:buNone/>
            </a:pPr>
            <a:r>
              <a:rPr lang="en-US" sz="1300" b="1" i="0" u="none" strike="noStrike" cap="none">
                <a:solidFill>
                  <a:srgbClr val="CCEDE9"/>
                </a:solidFill>
                <a:latin typeface="Trebuchet MS"/>
                <a:ea typeface="Trebuchet MS"/>
                <a:cs typeface="Trebuchet MS"/>
                <a:sym typeface="Trebuchet MS"/>
              </a:rPr>
              <a:t>Why does this matter?</a:t>
            </a:r>
            <a:endParaRPr sz="1300" b="0" i="0" u="none" strike="noStrike" cap="none">
              <a:solidFill>
                <a:schemeClr val="dk1"/>
              </a:solidFill>
              <a:latin typeface="Calibri"/>
              <a:ea typeface="Calibri"/>
              <a:cs typeface="Calibri"/>
              <a:sym typeface="Calibri"/>
            </a:endParaRPr>
          </a:p>
        </p:txBody>
      </p:sp>
      <p:sp>
        <p:nvSpPr>
          <p:cNvPr id="40" name="Google Shape;40;p3"/>
          <p:cNvSpPr/>
          <p:nvPr/>
        </p:nvSpPr>
        <p:spPr>
          <a:xfrm>
            <a:off x="6473952" y="3913632"/>
            <a:ext cx="2286000" cy="81381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The distance encodes meaning. Positions were learned from billions of sentences — no human labelling.</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2" name="Google Shape;32;p3">
            <a:extLst>
              <a:ext uri="{FF2B5EF4-FFF2-40B4-BE49-F238E27FC236}">
                <a16:creationId xmlns:a16="http://schemas.microsoft.com/office/drawing/2014/main" id="{9A8C12F0-91EF-CBC2-B222-1E6F94189169}"/>
              </a:ext>
            </a:extLst>
          </p:cNvPr>
          <p:cNvSpPr/>
          <p:nvPr/>
        </p:nvSpPr>
        <p:spPr>
          <a:xfrm>
            <a:off x="6309360" y="804672"/>
            <a:ext cx="2560320" cy="1325880"/>
          </a:xfrm>
          <a:prstGeom prst="rect">
            <a:avLst/>
          </a:prstGeom>
          <a:solidFill>
            <a:srgbClr val="1B2A4A"/>
          </a:solidFill>
          <a:ln w="12700" cap="flat" cmpd="sng">
            <a:solidFill>
              <a:srgbClr val="1B2A4A"/>
            </a:solidFill>
            <a:prstDash val="solid"/>
            <a:round/>
            <a:headEnd type="none" w="sm" len="sm"/>
            <a:tailEnd type="none" w="sm" len="sm"/>
          </a:ln>
          <a:effectLst>
            <a:outerShdw blurRad="635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5;p3">
            <a:extLst>
              <a:ext uri="{FF2B5EF4-FFF2-40B4-BE49-F238E27FC236}">
                <a16:creationId xmlns:a16="http://schemas.microsoft.com/office/drawing/2014/main" id="{7DA04073-D863-2EE1-44E2-291CA081548C}"/>
              </a:ext>
            </a:extLst>
          </p:cNvPr>
          <p:cNvSpPr/>
          <p:nvPr/>
        </p:nvSpPr>
        <p:spPr>
          <a:xfrm>
            <a:off x="6309360" y="2276856"/>
            <a:ext cx="2560320" cy="1106424"/>
          </a:xfrm>
          <a:prstGeom prst="rect">
            <a:avLst/>
          </a:prstGeom>
          <a:solidFill>
            <a:srgbClr val="1E293B"/>
          </a:solidFill>
          <a:ln w="12700" cap="flat" cmpd="sng">
            <a:solidFill>
              <a:srgbClr val="1E293B"/>
            </a:solidFill>
            <a:prstDash val="solid"/>
            <a:round/>
            <a:headEnd type="none" w="sm" len="sm"/>
            <a:tailEnd type="none" w="sm" len="sm"/>
          </a:ln>
          <a:effectLst>
            <a:outerShdw blurRad="635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8;p3">
            <a:extLst>
              <a:ext uri="{FF2B5EF4-FFF2-40B4-BE49-F238E27FC236}">
                <a16:creationId xmlns:a16="http://schemas.microsoft.com/office/drawing/2014/main" id="{59A69C93-A256-3E26-C92F-C6D5CAD0F122}"/>
              </a:ext>
            </a:extLst>
          </p:cNvPr>
          <p:cNvSpPr/>
          <p:nvPr/>
        </p:nvSpPr>
        <p:spPr>
          <a:xfrm>
            <a:off x="6316030" y="3529584"/>
            <a:ext cx="2560320" cy="1270896"/>
          </a:xfrm>
          <a:prstGeom prst="rect">
            <a:avLst/>
          </a:prstGeom>
          <a:solidFill>
            <a:srgbClr val="0D9488"/>
          </a:solidFill>
          <a:ln w="12700" cap="flat" cmpd="sng">
            <a:solidFill>
              <a:srgbClr val="0D9488"/>
            </a:solidFill>
            <a:prstDash val="solid"/>
            <a:round/>
            <a:headEnd type="none" w="sm" len="sm"/>
            <a:tailEnd type="none" w="sm" len="sm"/>
          </a:ln>
          <a:effectLst>
            <a:outerShdw blurRad="635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0" y="0"/>
            <a:ext cx="164592"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0" y="0"/>
            <a:ext cx="9144000" cy="658368"/>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365760" y="0"/>
            <a:ext cx="8412480" cy="6583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000"/>
              <a:buFont typeface="Trebuchet MS"/>
              <a:buNone/>
            </a:pPr>
            <a:r>
              <a:rPr lang="en-US" sz="2000" b="1" i="0" u="none" strike="noStrike" cap="none">
                <a:solidFill>
                  <a:srgbClr val="FFFFFF"/>
                </a:solidFill>
                <a:latin typeface="Trebuchet MS"/>
                <a:ea typeface="Trebuchet MS"/>
                <a:cs typeface="Trebuchet MS"/>
                <a:sym typeface="Trebuchet MS"/>
              </a:rPr>
              <a:t>Subtraction Reveals Abstract Concepts</a:t>
            </a:r>
            <a:endParaRPr sz="2000" b="0" i="0" u="none" strike="noStrike" cap="none">
              <a:solidFill>
                <a:schemeClr val="dk1"/>
              </a:solidFill>
              <a:latin typeface="Calibri"/>
              <a:ea typeface="Calibri"/>
              <a:cs typeface="Calibri"/>
              <a:sym typeface="Calibri"/>
            </a:endParaRPr>
          </a:p>
        </p:txBody>
      </p:sp>
      <p:sp>
        <p:nvSpPr>
          <p:cNvPr id="49" name="Google Shape;49;p4"/>
          <p:cNvSpPr/>
          <p:nvPr/>
        </p:nvSpPr>
        <p:spPr>
          <a:xfrm>
            <a:off x="1097280" y="868680"/>
            <a:ext cx="4755000" cy="3931800"/>
          </a:xfrm>
          <a:prstGeom prst="rect">
            <a:avLst/>
          </a:prstGeom>
          <a:solidFill>
            <a:srgbClr val="FFFFFF"/>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 name="Google Shape;50;p4"/>
          <p:cNvCxnSpPr/>
          <p:nvPr/>
        </p:nvCxnSpPr>
        <p:spPr>
          <a:xfrm>
            <a:off x="2286000" y="868680"/>
            <a:ext cx="0" cy="3931920"/>
          </a:xfrm>
          <a:prstGeom prst="straightConnector1">
            <a:avLst/>
          </a:prstGeom>
          <a:noFill/>
          <a:ln w="9525" cap="flat" cmpd="sng">
            <a:solidFill>
              <a:srgbClr val="EEF2F7"/>
            </a:solidFill>
            <a:prstDash val="solid"/>
            <a:round/>
            <a:headEnd type="none" w="sm" len="sm"/>
            <a:tailEnd type="none" w="sm" len="sm"/>
          </a:ln>
        </p:spPr>
      </p:cxnSp>
      <p:cxnSp>
        <p:nvCxnSpPr>
          <p:cNvPr id="51" name="Google Shape;51;p4"/>
          <p:cNvCxnSpPr/>
          <p:nvPr/>
        </p:nvCxnSpPr>
        <p:spPr>
          <a:xfrm>
            <a:off x="1097280" y="3817620"/>
            <a:ext cx="4754880" cy="0"/>
          </a:xfrm>
          <a:prstGeom prst="straightConnector1">
            <a:avLst/>
          </a:prstGeom>
          <a:noFill/>
          <a:ln w="9525" cap="flat" cmpd="sng">
            <a:solidFill>
              <a:srgbClr val="EEF2F7"/>
            </a:solidFill>
            <a:prstDash val="solid"/>
            <a:round/>
            <a:headEnd type="none" w="sm" len="sm"/>
            <a:tailEnd type="none" w="sm" len="sm"/>
          </a:ln>
        </p:spPr>
      </p:cxnSp>
      <p:cxnSp>
        <p:nvCxnSpPr>
          <p:cNvPr id="52" name="Google Shape;52;p4"/>
          <p:cNvCxnSpPr/>
          <p:nvPr/>
        </p:nvCxnSpPr>
        <p:spPr>
          <a:xfrm>
            <a:off x="3474720" y="868680"/>
            <a:ext cx="0" cy="3931920"/>
          </a:xfrm>
          <a:prstGeom prst="straightConnector1">
            <a:avLst/>
          </a:prstGeom>
          <a:noFill/>
          <a:ln w="9525" cap="flat" cmpd="sng">
            <a:solidFill>
              <a:srgbClr val="EEF2F7"/>
            </a:solidFill>
            <a:prstDash val="solid"/>
            <a:round/>
            <a:headEnd type="none" w="sm" len="sm"/>
            <a:tailEnd type="none" w="sm" len="sm"/>
          </a:ln>
        </p:spPr>
      </p:cxnSp>
      <p:cxnSp>
        <p:nvCxnSpPr>
          <p:cNvPr id="53" name="Google Shape;53;p4"/>
          <p:cNvCxnSpPr/>
          <p:nvPr/>
        </p:nvCxnSpPr>
        <p:spPr>
          <a:xfrm>
            <a:off x="1097280" y="2834640"/>
            <a:ext cx="4754880" cy="0"/>
          </a:xfrm>
          <a:prstGeom prst="straightConnector1">
            <a:avLst/>
          </a:prstGeom>
          <a:noFill/>
          <a:ln w="9525" cap="flat" cmpd="sng">
            <a:solidFill>
              <a:srgbClr val="EEF2F7"/>
            </a:solidFill>
            <a:prstDash val="solid"/>
            <a:round/>
            <a:headEnd type="none" w="sm" len="sm"/>
            <a:tailEnd type="none" w="sm" len="sm"/>
          </a:ln>
        </p:spPr>
      </p:cxnSp>
      <p:cxnSp>
        <p:nvCxnSpPr>
          <p:cNvPr id="54" name="Google Shape;54;p4"/>
          <p:cNvCxnSpPr/>
          <p:nvPr/>
        </p:nvCxnSpPr>
        <p:spPr>
          <a:xfrm>
            <a:off x="4663440" y="868680"/>
            <a:ext cx="0" cy="3931920"/>
          </a:xfrm>
          <a:prstGeom prst="straightConnector1">
            <a:avLst/>
          </a:prstGeom>
          <a:noFill/>
          <a:ln w="9525" cap="flat" cmpd="sng">
            <a:solidFill>
              <a:srgbClr val="EEF2F7"/>
            </a:solidFill>
            <a:prstDash val="solid"/>
            <a:round/>
            <a:headEnd type="none" w="sm" len="sm"/>
            <a:tailEnd type="none" w="sm" len="sm"/>
          </a:ln>
        </p:spPr>
      </p:cxnSp>
      <p:cxnSp>
        <p:nvCxnSpPr>
          <p:cNvPr id="55" name="Google Shape;55;p4"/>
          <p:cNvCxnSpPr/>
          <p:nvPr/>
        </p:nvCxnSpPr>
        <p:spPr>
          <a:xfrm>
            <a:off x="1097280" y="1851660"/>
            <a:ext cx="4754880" cy="0"/>
          </a:xfrm>
          <a:prstGeom prst="straightConnector1">
            <a:avLst/>
          </a:prstGeom>
          <a:noFill/>
          <a:ln w="9525" cap="flat" cmpd="sng">
            <a:solidFill>
              <a:srgbClr val="EEF2F7"/>
            </a:solidFill>
            <a:prstDash val="solid"/>
            <a:round/>
            <a:headEnd type="none" w="sm" len="sm"/>
            <a:tailEnd type="none" w="sm" len="sm"/>
          </a:ln>
        </p:spPr>
      </p:cxnSp>
      <p:cxnSp>
        <p:nvCxnSpPr>
          <p:cNvPr id="58" name="Google Shape;58;p4"/>
          <p:cNvCxnSpPr/>
          <p:nvPr/>
        </p:nvCxnSpPr>
        <p:spPr>
          <a:xfrm rot="10800000" flipH="1">
            <a:off x="2999232" y="2441448"/>
            <a:ext cx="950976" cy="786384"/>
          </a:xfrm>
          <a:prstGeom prst="straightConnector1">
            <a:avLst/>
          </a:prstGeom>
          <a:noFill/>
          <a:ln w="31750" cap="flat" cmpd="sng">
            <a:solidFill>
              <a:srgbClr val="1B2A4A"/>
            </a:solidFill>
            <a:prstDash val="solid"/>
            <a:round/>
            <a:headEnd type="none" w="sm" len="sm"/>
            <a:tailEnd type="triangle" w="med" len="med"/>
          </a:ln>
        </p:spPr>
      </p:cxnSp>
      <p:sp>
        <p:nvSpPr>
          <p:cNvPr id="59" name="Google Shape;59;p4"/>
          <p:cNvSpPr/>
          <p:nvPr/>
        </p:nvSpPr>
        <p:spPr>
          <a:xfrm>
            <a:off x="3324600" y="2888982"/>
            <a:ext cx="478200" cy="2196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2930652" y="3159252"/>
            <a:ext cx="137160" cy="137160"/>
          </a:xfrm>
          <a:prstGeom prst="ellipse">
            <a:avLst/>
          </a:prstGeom>
          <a:solidFill>
            <a:srgbClr val="64748B"/>
          </a:solidFill>
          <a:ln w="12700" cap="flat" cmpd="sng">
            <a:solidFill>
              <a:srgbClr val="64748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3872484" y="2363724"/>
            <a:ext cx="155448" cy="155448"/>
          </a:xfrm>
          <a:prstGeom prst="ellipse">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3881628" y="3552444"/>
            <a:ext cx="137160" cy="137160"/>
          </a:xfrm>
          <a:prstGeom prst="ellipse">
            <a:avLst/>
          </a:prstGeom>
          <a:solidFill>
            <a:srgbClr val="F97316"/>
          </a:solidFill>
          <a:ln w="12700" cap="flat" cmpd="sng">
            <a:solidFill>
              <a:srgbClr val="F9731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4059936" y="3675888"/>
            <a:ext cx="960120"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97316"/>
              </a:buClr>
              <a:buSzPts val="1000"/>
              <a:buFont typeface="Calibri"/>
              <a:buNone/>
            </a:pPr>
            <a:r>
              <a:rPr lang="en-US" sz="1000" b="1" i="0" u="none" strike="noStrike" cap="none">
                <a:solidFill>
                  <a:srgbClr val="F97316"/>
                </a:solidFill>
                <a:latin typeface="Calibri"/>
                <a:ea typeface="Calibri"/>
                <a:cs typeface="Calibri"/>
                <a:sym typeface="Calibri"/>
              </a:rPr>
              <a:t>woman</a:t>
            </a:r>
            <a:endParaRPr sz="1000" b="0" i="0" u="none" strike="noStrike" cap="none">
              <a:solidFill>
                <a:schemeClr val="dk1"/>
              </a:solidFill>
              <a:latin typeface="Calibri"/>
              <a:ea typeface="Calibri"/>
              <a:cs typeface="Calibri"/>
              <a:sym typeface="Calibri"/>
            </a:endParaRPr>
          </a:p>
        </p:txBody>
      </p:sp>
      <p:sp>
        <p:nvSpPr>
          <p:cNvPr id="65" name="Google Shape;65;p4"/>
          <p:cNvSpPr/>
          <p:nvPr/>
        </p:nvSpPr>
        <p:spPr>
          <a:xfrm>
            <a:off x="6473952" y="896112"/>
            <a:ext cx="2286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CEDE9"/>
              </a:buClr>
              <a:buSzPts val="1300"/>
              <a:buFont typeface="Trebuchet MS"/>
              <a:buNone/>
            </a:pPr>
            <a:r>
              <a:rPr lang="en-US" sz="1300" b="1" i="0" u="none" strike="noStrike" cap="none">
                <a:solidFill>
                  <a:srgbClr val="CCEDE9"/>
                </a:solidFill>
                <a:latin typeface="Trebuchet MS"/>
                <a:ea typeface="Trebuchet MS"/>
                <a:cs typeface="Trebuchet MS"/>
                <a:sym typeface="Trebuchet MS"/>
              </a:rPr>
              <a:t>king − man = royalty</a:t>
            </a:r>
            <a:endParaRPr sz="1300" b="0" i="0" u="none" strike="noStrike" cap="none">
              <a:solidFill>
                <a:schemeClr val="dk1"/>
              </a:solidFill>
              <a:latin typeface="Calibri"/>
              <a:ea typeface="Calibri"/>
              <a:cs typeface="Calibri"/>
              <a:sym typeface="Calibri"/>
            </a:endParaRPr>
          </a:p>
        </p:txBody>
      </p:sp>
      <p:sp>
        <p:nvSpPr>
          <p:cNvPr id="66" name="Google Shape;66;p4"/>
          <p:cNvSpPr/>
          <p:nvPr/>
        </p:nvSpPr>
        <p:spPr>
          <a:xfrm>
            <a:off x="6473952" y="1225296"/>
            <a:ext cx="2286000" cy="85953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Subtracting two vectors gives a direction. That direction captures what makes king different from man.</a:t>
            </a:r>
            <a:endParaRPr sz="1250" b="0" i="0" u="none" strike="noStrike" cap="none">
              <a:solidFill>
                <a:schemeClr val="dk1"/>
              </a:solidFill>
              <a:latin typeface="Calibri"/>
              <a:ea typeface="Calibri"/>
              <a:cs typeface="Calibri"/>
              <a:sym typeface="Calibri"/>
            </a:endParaRPr>
          </a:p>
        </p:txBody>
      </p:sp>
      <p:sp>
        <p:nvSpPr>
          <p:cNvPr id="68" name="Google Shape;68;p4"/>
          <p:cNvSpPr/>
          <p:nvPr/>
        </p:nvSpPr>
        <p:spPr>
          <a:xfrm>
            <a:off x="6473952" y="2377440"/>
            <a:ext cx="2286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CEDE9"/>
              </a:buClr>
              <a:buSzPts val="1300"/>
              <a:buFont typeface="Trebuchet MS"/>
              <a:buNone/>
            </a:pPr>
            <a:r>
              <a:rPr lang="en-US" sz="1300" b="1" i="0" u="none" strike="noStrike" cap="none">
                <a:solidFill>
                  <a:srgbClr val="CCEDE9"/>
                </a:solidFill>
                <a:latin typeface="Trebuchet MS"/>
                <a:ea typeface="Trebuchet MS"/>
                <a:cs typeface="Trebuchet MS"/>
                <a:sym typeface="Trebuchet MS"/>
              </a:rPr>
              <a:t>The offset vector</a:t>
            </a:r>
            <a:endParaRPr sz="1300" b="0" i="0" u="none" strike="noStrike" cap="none">
              <a:solidFill>
                <a:schemeClr val="dk1"/>
              </a:solidFill>
              <a:latin typeface="Calibri"/>
              <a:ea typeface="Calibri"/>
              <a:cs typeface="Calibri"/>
              <a:sym typeface="Calibri"/>
            </a:endParaRPr>
          </a:p>
        </p:txBody>
      </p:sp>
      <p:sp>
        <p:nvSpPr>
          <p:cNvPr id="69" name="Google Shape;69;p4"/>
          <p:cNvSpPr/>
          <p:nvPr/>
        </p:nvSpPr>
        <p:spPr>
          <a:xfrm>
            <a:off x="6473952" y="2706624"/>
            <a:ext cx="2286000" cy="69494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[60,60] − [40,40] = [20, 20]</a:t>
            </a:r>
            <a:endParaRPr sz="12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This [20,20] is the "royalty" direction.</a:t>
            </a:r>
            <a:endParaRPr sz="1250" b="0" i="0" u="none" strike="noStrike" cap="none">
              <a:solidFill>
                <a:schemeClr val="dk1"/>
              </a:solidFill>
              <a:latin typeface="Calibri"/>
              <a:ea typeface="Calibri"/>
              <a:cs typeface="Calibri"/>
              <a:sym typeface="Calibri"/>
            </a:endParaRPr>
          </a:p>
        </p:txBody>
      </p:sp>
      <p:sp>
        <p:nvSpPr>
          <p:cNvPr id="71" name="Google Shape;71;p4"/>
          <p:cNvSpPr/>
          <p:nvPr/>
        </p:nvSpPr>
        <p:spPr>
          <a:xfrm>
            <a:off x="6473952" y="3602736"/>
            <a:ext cx="2286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CEDE9"/>
              </a:buClr>
              <a:buSzPts val="1300"/>
              <a:buFont typeface="Trebuchet MS"/>
              <a:buNone/>
            </a:pPr>
            <a:r>
              <a:rPr lang="en-US" sz="1300" b="1" i="0" u="none" strike="noStrike" cap="none">
                <a:solidFill>
                  <a:srgbClr val="CCEDE9"/>
                </a:solidFill>
                <a:latin typeface="Trebuchet MS"/>
                <a:ea typeface="Trebuchet MS"/>
                <a:cs typeface="Trebuchet MS"/>
                <a:sym typeface="Trebuchet MS"/>
              </a:rPr>
              <a:t>woman enters the picture</a:t>
            </a:r>
            <a:endParaRPr sz="1300" b="0" i="0" u="none" strike="noStrike" cap="none">
              <a:solidFill>
                <a:schemeClr val="dk1"/>
              </a:solidFill>
              <a:latin typeface="Calibri"/>
              <a:ea typeface="Calibri"/>
              <a:cs typeface="Calibri"/>
              <a:sym typeface="Calibri"/>
            </a:endParaRPr>
          </a:p>
        </p:txBody>
      </p:sp>
      <p:sp>
        <p:nvSpPr>
          <p:cNvPr id="72" name="Google Shape;72;p4"/>
          <p:cNvSpPr/>
          <p:nvPr/>
        </p:nvSpPr>
        <p:spPr>
          <a:xfrm>
            <a:off x="6473952" y="3931920"/>
            <a:ext cx="2286000" cy="79552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Now there's a third point. What happens if we apply the same royalty offset to woman?</a:t>
            </a:r>
            <a:endParaRPr sz="1250" b="0" i="0" u="none" strike="noStrike" cap="none">
              <a:solidFill>
                <a:schemeClr val="dk1"/>
              </a:solidFill>
              <a:latin typeface="Calibri"/>
              <a:ea typeface="Calibri"/>
              <a:cs typeface="Calibri"/>
              <a:sym typeface="Calibri"/>
            </a:endParaRPr>
          </a:p>
        </p:txBody>
      </p:sp>
      <p:sp>
        <p:nvSpPr>
          <p:cNvPr id="73" name="Google Shape;73;p4"/>
          <p:cNvSpPr/>
          <p:nvPr/>
        </p:nvSpPr>
        <p:spPr>
          <a:xfrm>
            <a:off x="2613510" y="3216409"/>
            <a:ext cx="960000" cy="402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a:solidFill>
                  <a:srgbClr val="64748B"/>
                </a:solidFill>
                <a:latin typeface="Calibri"/>
                <a:ea typeface="Calibri"/>
                <a:cs typeface="Calibri"/>
                <a:sym typeface="Calibri"/>
              </a:rPr>
              <a:t>man</a:t>
            </a:r>
            <a:endParaRPr sz="1000" b="0" i="0" u="none" strike="noStrike" cap="none">
              <a:solidFill>
                <a:schemeClr val="dk1"/>
              </a:solidFill>
              <a:latin typeface="Calibri"/>
              <a:ea typeface="Calibri"/>
              <a:cs typeface="Calibri"/>
              <a:sym typeface="Calibri"/>
            </a:endParaRPr>
          </a:p>
        </p:txBody>
      </p:sp>
      <p:sp>
        <p:nvSpPr>
          <p:cNvPr id="74" name="Google Shape;74;p4"/>
          <p:cNvSpPr/>
          <p:nvPr/>
        </p:nvSpPr>
        <p:spPr>
          <a:xfrm>
            <a:off x="3434903" y="2020860"/>
            <a:ext cx="960000" cy="4023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1B2A4A"/>
              </a:buClr>
              <a:buSzPts val="1000"/>
              <a:buFont typeface="Calibri"/>
              <a:buNone/>
            </a:pPr>
            <a:r>
              <a:rPr lang="en-US" sz="1000" b="1" i="0" u="none" strike="noStrike" cap="none">
                <a:solidFill>
                  <a:srgbClr val="1B2A4A"/>
                </a:solidFill>
                <a:latin typeface="Calibri"/>
                <a:ea typeface="Calibri"/>
                <a:cs typeface="Calibri"/>
                <a:sym typeface="Calibri"/>
              </a:rPr>
              <a:t>king</a:t>
            </a:r>
            <a:endParaRPr sz="1000" b="0" i="0" u="none" strike="noStrike" cap="none">
              <a:solidFill>
                <a:schemeClr val="dk1"/>
              </a:solidFill>
              <a:latin typeface="Calibri"/>
              <a:ea typeface="Calibri"/>
              <a:cs typeface="Calibri"/>
              <a:sym typeface="Calibri"/>
            </a:endParaRPr>
          </a:p>
        </p:txBody>
      </p:sp>
      <p:sp>
        <p:nvSpPr>
          <p:cNvPr id="75" name="Google Shape;75;p4"/>
          <p:cNvSpPr/>
          <p:nvPr/>
        </p:nvSpPr>
        <p:spPr>
          <a:xfrm>
            <a:off x="3278185" y="2878003"/>
            <a:ext cx="7131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9E0B"/>
              </a:buClr>
              <a:buSzPts val="1000"/>
              <a:buFont typeface="Calibri"/>
              <a:buNone/>
            </a:pPr>
            <a:r>
              <a:rPr lang="en-US" sz="1000" b="1" i="1" u="none" strike="noStrike" cap="none">
                <a:solidFill>
                  <a:srgbClr val="F59E0B"/>
                </a:solidFill>
                <a:latin typeface="Calibri"/>
                <a:ea typeface="Calibri"/>
                <a:cs typeface="Calibri"/>
                <a:sym typeface="Calibri"/>
              </a:rPr>
              <a:t>royalty</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2" name="Google Shape;32;p3">
            <a:extLst>
              <a:ext uri="{FF2B5EF4-FFF2-40B4-BE49-F238E27FC236}">
                <a16:creationId xmlns:a16="http://schemas.microsoft.com/office/drawing/2014/main" id="{8BB2CBF4-F129-FF39-AC7D-A9F15D2B11DE}"/>
              </a:ext>
            </a:extLst>
          </p:cNvPr>
          <p:cNvSpPr/>
          <p:nvPr/>
        </p:nvSpPr>
        <p:spPr>
          <a:xfrm>
            <a:off x="6309360" y="804672"/>
            <a:ext cx="2560320" cy="1325880"/>
          </a:xfrm>
          <a:prstGeom prst="rect">
            <a:avLst/>
          </a:prstGeom>
          <a:solidFill>
            <a:srgbClr val="1B2A4A"/>
          </a:solidFill>
          <a:ln w="12700" cap="flat" cmpd="sng">
            <a:solidFill>
              <a:srgbClr val="1B2A4A"/>
            </a:solidFill>
            <a:prstDash val="solid"/>
            <a:round/>
            <a:headEnd type="none" w="sm" len="sm"/>
            <a:tailEnd type="none" w="sm" len="sm"/>
          </a:ln>
          <a:effectLst>
            <a:outerShdw blurRad="635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5;p3">
            <a:extLst>
              <a:ext uri="{FF2B5EF4-FFF2-40B4-BE49-F238E27FC236}">
                <a16:creationId xmlns:a16="http://schemas.microsoft.com/office/drawing/2014/main" id="{309A71CC-C4B0-A350-0039-3ED6A2B7ABB7}"/>
              </a:ext>
            </a:extLst>
          </p:cNvPr>
          <p:cNvSpPr/>
          <p:nvPr/>
        </p:nvSpPr>
        <p:spPr>
          <a:xfrm>
            <a:off x="6309360" y="2276856"/>
            <a:ext cx="2560320" cy="1106424"/>
          </a:xfrm>
          <a:prstGeom prst="rect">
            <a:avLst/>
          </a:prstGeom>
          <a:solidFill>
            <a:srgbClr val="1E293B"/>
          </a:solidFill>
          <a:ln w="12700" cap="flat" cmpd="sng">
            <a:solidFill>
              <a:srgbClr val="1E293B"/>
            </a:solidFill>
            <a:prstDash val="solid"/>
            <a:round/>
            <a:headEnd type="none" w="sm" len="sm"/>
            <a:tailEnd type="none" w="sm" len="sm"/>
          </a:ln>
          <a:effectLst>
            <a:outerShdw blurRad="635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8;p3">
            <a:extLst>
              <a:ext uri="{FF2B5EF4-FFF2-40B4-BE49-F238E27FC236}">
                <a16:creationId xmlns:a16="http://schemas.microsoft.com/office/drawing/2014/main" id="{2FEE7339-5FC0-E76A-2E8C-0E48C3982154}"/>
              </a:ext>
            </a:extLst>
          </p:cNvPr>
          <p:cNvSpPr/>
          <p:nvPr/>
        </p:nvSpPr>
        <p:spPr>
          <a:xfrm>
            <a:off x="6316030" y="3529584"/>
            <a:ext cx="2560320" cy="1270896"/>
          </a:xfrm>
          <a:prstGeom prst="rect">
            <a:avLst/>
          </a:prstGeom>
          <a:solidFill>
            <a:srgbClr val="0D9488"/>
          </a:solidFill>
          <a:ln w="12700" cap="flat" cmpd="sng">
            <a:solidFill>
              <a:srgbClr val="0D9488"/>
            </a:solidFill>
            <a:prstDash val="solid"/>
            <a:round/>
            <a:headEnd type="none" w="sm" len="sm"/>
            <a:tailEnd type="none" w="sm" len="sm"/>
          </a:ln>
          <a:effectLst>
            <a:outerShdw blurRad="635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0" y="0"/>
            <a:ext cx="164592"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0" y="0"/>
            <a:ext cx="9144000" cy="658368"/>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365760" y="0"/>
            <a:ext cx="8412480" cy="6583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000"/>
              <a:buFont typeface="Trebuchet MS"/>
              <a:buNone/>
            </a:pPr>
            <a:r>
              <a:rPr lang="en-US" sz="2000" b="1" i="0" u="none" strike="noStrike" cap="none">
                <a:solidFill>
                  <a:srgbClr val="FFFFFF"/>
                </a:solidFill>
                <a:latin typeface="Trebuchet MS"/>
                <a:ea typeface="Trebuchet MS"/>
                <a:cs typeface="Trebuchet MS"/>
                <a:sym typeface="Trebuchet MS"/>
              </a:rPr>
              <a:t>Adding the Offset Predicts a New Word</a:t>
            </a:r>
            <a:endParaRPr sz="2000" b="0" i="0" u="none" strike="noStrike" cap="none">
              <a:solidFill>
                <a:schemeClr val="dk1"/>
              </a:solidFill>
              <a:latin typeface="Calibri"/>
              <a:ea typeface="Calibri"/>
              <a:cs typeface="Calibri"/>
              <a:sym typeface="Calibri"/>
            </a:endParaRPr>
          </a:p>
        </p:txBody>
      </p:sp>
      <p:sp>
        <p:nvSpPr>
          <p:cNvPr id="84" name="Google Shape;84;p5"/>
          <p:cNvSpPr/>
          <p:nvPr/>
        </p:nvSpPr>
        <p:spPr>
          <a:xfrm>
            <a:off x="1097280" y="868680"/>
            <a:ext cx="4754880" cy="3931920"/>
          </a:xfrm>
          <a:prstGeom prst="rect">
            <a:avLst/>
          </a:prstGeom>
          <a:solidFill>
            <a:srgbClr val="FFFFFF"/>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 name="Google Shape;85;p5"/>
          <p:cNvCxnSpPr/>
          <p:nvPr/>
        </p:nvCxnSpPr>
        <p:spPr>
          <a:xfrm>
            <a:off x="2286000" y="868680"/>
            <a:ext cx="0" cy="3931920"/>
          </a:xfrm>
          <a:prstGeom prst="straightConnector1">
            <a:avLst/>
          </a:prstGeom>
          <a:noFill/>
          <a:ln w="9525" cap="flat" cmpd="sng">
            <a:solidFill>
              <a:srgbClr val="EEF2F7"/>
            </a:solidFill>
            <a:prstDash val="solid"/>
            <a:round/>
            <a:headEnd type="none" w="sm" len="sm"/>
            <a:tailEnd type="none" w="sm" len="sm"/>
          </a:ln>
        </p:spPr>
      </p:cxnSp>
      <p:cxnSp>
        <p:nvCxnSpPr>
          <p:cNvPr id="86" name="Google Shape;86;p5"/>
          <p:cNvCxnSpPr/>
          <p:nvPr/>
        </p:nvCxnSpPr>
        <p:spPr>
          <a:xfrm>
            <a:off x="1097280" y="3817620"/>
            <a:ext cx="4754880" cy="0"/>
          </a:xfrm>
          <a:prstGeom prst="straightConnector1">
            <a:avLst/>
          </a:prstGeom>
          <a:noFill/>
          <a:ln w="9525" cap="flat" cmpd="sng">
            <a:solidFill>
              <a:srgbClr val="EEF2F7"/>
            </a:solidFill>
            <a:prstDash val="solid"/>
            <a:round/>
            <a:headEnd type="none" w="sm" len="sm"/>
            <a:tailEnd type="none" w="sm" len="sm"/>
          </a:ln>
        </p:spPr>
      </p:cxnSp>
      <p:cxnSp>
        <p:nvCxnSpPr>
          <p:cNvPr id="87" name="Google Shape;87;p5"/>
          <p:cNvCxnSpPr/>
          <p:nvPr/>
        </p:nvCxnSpPr>
        <p:spPr>
          <a:xfrm>
            <a:off x="3474720" y="868680"/>
            <a:ext cx="0" cy="3931920"/>
          </a:xfrm>
          <a:prstGeom prst="straightConnector1">
            <a:avLst/>
          </a:prstGeom>
          <a:noFill/>
          <a:ln w="9525" cap="flat" cmpd="sng">
            <a:solidFill>
              <a:srgbClr val="EEF2F7"/>
            </a:solidFill>
            <a:prstDash val="solid"/>
            <a:round/>
            <a:headEnd type="none" w="sm" len="sm"/>
            <a:tailEnd type="none" w="sm" len="sm"/>
          </a:ln>
        </p:spPr>
      </p:cxnSp>
      <p:cxnSp>
        <p:nvCxnSpPr>
          <p:cNvPr id="88" name="Google Shape;88;p5"/>
          <p:cNvCxnSpPr/>
          <p:nvPr/>
        </p:nvCxnSpPr>
        <p:spPr>
          <a:xfrm>
            <a:off x="1097280" y="2834640"/>
            <a:ext cx="4754880" cy="0"/>
          </a:xfrm>
          <a:prstGeom prst="straightConnector1">
            <a:avLst/>
          </a:prstGeom>
          <a:noFill/>
          <a:ln w="9525" cap="flat" cmpd="sng">
            <a:solidFill>
              <a:srgbClr val="EEF2F7"/>
            </a:solidFill>
            <a:prstDash val="solid"/>
            <a:round/>
            <a:headEnd type="none" w="sm" len="sm"/>
            <a:tailEnd type="none" w="sm" len="sm"/>
          </a:ln>
        </p:spPr>
      </p:cxnSp>
      <p:cxnSp>
        <p:nvCxnSpPr>
          <p:cNvPr id="89" name="Google Shape;89;p5"/>
          <p:cNvCxnSpPr/>
          <p:nvPr/>
        </p:nvCxnSpPr>
        <p:spPr>
          <a:xfrm>
            <a:off x="4663440" y="868680"/>
            <a:ext cx="0" cy="3931920"/>
          </a:xfrm>
          <a:prstGeom prst="straightConnector1">
            <a:avLst/>
          </a:prstGeom>
          <a:noFill/>
          <a:ln w="9525" cap="flat" cmpd="sng">
            <a:solidFill>
              <a:srgbClr val="EEF2F7"/>
            </a:solidFill>
            <a:prstDash val="solid"/>
            <a:round/>
            <a:headEnd type="none" w="sm" len="sm"/>
            <a:tailEnd type="none" w="sm" len="sm"/>
          </a:ln>
        </p:spPr>
      </p:cxnSp>
      <p:cxnSp>
        <p:nvCxnSpPr>
          <p:cNvPr id="90" name="Google Shape;90;p5"/>
          <p:cNvCxnSpPr/>
          <p:nvPr/>
        </p:nvCxnSpPr>
        <p:spPr>
          <a:xfrm>
            <a:off x="1097280" y="1851660"/>
            <a:ext cx="4754880" cy="0"/>
          </a:xfrm>
          <a:prstGeom prst="straightConnector1">
            <a:avLst/>
          </a:prstGeom>
          <a:noFill/>
          <a:ln w="9525" cap="flat" cmpd="sng">
            <a:solidFill>
              <a:srgbClr val="EEF2F7"/>
            </a:solidFill>
            <a:prstDash val="solid"/>
            <a:round/>
            <a:headEnd type="none" w="sm" len="sm"/>
            <a:tailEnd type="none" w="sm" len="sm"/>
          </a:ln>
        </p:spPr>
      </p:cxnSp>
      <p:cxnSp>
        <p:nvCxnSpPr>
          <p:cNvPr id="93" name="Google Shape;93;p5"/>
          <p:cNvCxnSpPr/>
          <p:nvPr/>
        </p:nvCxnSpPr>
        <p:spPr>
          <a:xfrm rot="10800000" flipH="1">
            <a:off x="2999232" y="2441448"/>
            <a:ext cx="950976" cy="786384"/>
          </a:xfrm>
          <a:prstGeom prst="straightConnector1">
            <a:avLst/>
          </a:prstGeom>
          <a:noFill/>
          <a:ln w="19050" cap="flat" cmpd="sng">
            <a:solidFill>
              <a:srgbClr val="CBD5E1"/>
            </a:solidFill>
            <a:prstDash val="dash"/>
            <a:round/>
            <a:headEnd type="none" w="sm" len="sm"/>
            <a:tailEnd type="triangle" w="med" len="med"/>
          </a:ln>
        </p:spPr>
      </p:cxnSp>
      <p:sp>
        <p:nvSpPr>
          <p:cNvPr id="94" name="Google Shape;94;p5"/>
          <p:cNvSpPr/>
          <p:nvPr/>
        </p:nvSpPr>
        <p:spPr>
          <a:xfrm>
            <a:off x="3310221" y="2877997"/>
            <a:ext cx="7497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BD5E1"/>
              </a:buClr>
              <a:buSzPts val="1000"/>
              <a:buFont typeface="Calibri"/>
              <a:buNone/>
            </a:pPr>
            <a:r>
              <a:rPr lang="en-US" sz="1000" b="0" i="1" u="none" strike="noStrike" cap="none">
                <a:solidFill>
                  <a:srgbClr val="CBD5E1"/>
                </a:solidFill>
                <a:latin typeface="Calibri"/>
                <a:ea typeface="Calibri"/>
                <a:cs typeface="Calibri"/>
                <a:sym typeface="Calibri"/>
              </a:rPr>
              <a:t>royalty</a:t>
            </a:r>
            <a:endParaRPr sz="1000" b="0" i="0" u="none" strike="noStrike" cap="none">
              <a:solidFill>
                <a:schemeClr val="dk1"/>
              </a:solidFill>
              <a:latin typeface="Calibri"/>
              <a:ea typeface="Calibri"/>
              <a:cs typeface="Calibri"/>
              <a:sym typeface="Calibri"/>
            </a:endParaRPr>
          </a:p>
        </p:txBody>
      </p:sp>
      <p:cxnSp>
        <p:nvCxnSpPr>
          <p:cNvPr id="95" name="Google Shape;95;p5"/>
          <p:cNvCxnSpPr/>
          <p:nvPr/>
        </p:nvCxnSpPr>
        <p:spPr>
          <a:xfrm rot="10800000" flipH="1">
            <a:off x="3950208" y="2834640"/>
            <a:ext cx="950976" cy="786384"/>
          </a:xfrm>
          <a:prstGeom prst="straightConnector1">
            <a:avLst/>
          </a:prstGeom>
          <a:noFill/>
          <a:ln w="31750" cap="flat" cmpd="sng">
            <a:solidFill>
              <a:srgbClr val="0D9488"/>
            </a:solidFill>
            <a:prstDash val="solid"/>
            <a:round/>
            <a:headEnd type="none" w="sm" len="sm"/>
            <a:tailEnd type="triangle" w="med" len="med"/>
          </a:ln>
        </p:spPr>
      </p:cxnSp>
      <p:sp>
        <p:nvSpPr>
          <p:cNvPr id="96" name="Google Shape;96;p5"/>
          <p:cNvSpPr/>
          <p:nvPr/>
        </p:nvSpPr>
        <p:spPr>
          <a:xfrm>
            <a:off x="2930652" y="3159252"/>
            <a:ext cx="137160" cy="137160"/>
          </a:xfrm>
          <a:prstGeom prst="ellipse">
            <a:avLst/>
          </a:prstGeom>
          <a:solidFill>
            <a:srgbClr val="64748B"/>
          </a:solidFill>
          <a:ln w="12700" cap="flat" cmpd="sng">
            <a:solidFill>
              <a:srgbClr val="64748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3872484" y="2363724"/>
            <a:ext cx="155448" cy="155448"/>
          </a:xfrm>
          <a:prstGeom prst="ellipse">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3881628" y="3552444"/>
            <a:ext cx="137160" cy="137160"/>
          </a:xfrm>
          <a:prstGeom prst="ellipse">
            <a:avLst/>
          </a:prstGeom>
          <a:solidFill>
            <a:srgbClr val="F97316"/>
          </a:solidFill>
          <a:ln w="12700" cap="flat" cmpd="sng">
            <a:solidFill>
              <a:srgbClr val="F9731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4814316" y="2747772"/>
            <a:ext cx="173736" cy="173736"/>
          </a:xfrm>
          <a:prstGeom prst="ellipse">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4059936" y="3675888"/>
            <a:ext cx="960120"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97316"/>
              </a:buClr>
              <a:buSzPts val="1000"/>
              <a:buFont typeface="Calibri"/>
              <a:buNone/>
            </a:pPr>
            <a:r>
              <a:rPr lang="en-US" sz="1000" b="1" i="0" u="none" strike="noStrike" cap="none">
                <a:solidFill>
                  <a:srgbClr val="F97316"/>
                </a:solidFill>
                <a:latin typeface="Calibri"/>
                <a:ea typeface="Calibri"/>
                <a:cs typeface="Calibri"/>
                <a:sym typeface="Calibri"/>
              </a:rPr>
              <a:t>woman</a:t>
            </a:r>
            <a:endParaRPr sz="1000" b="0" i="0" u="none" strike="noStrike" cap="none">
              <a:solidFill>
                <a:schemeClr val="dk1"/>
              </a:solidFill>
              <a:latin typeface="Calibri"/>
              <a:ea typeface="Calibri"/>
              <a:cs typeface="Calibri"/>
              <a:sym typeface="Calibri"/>
            </a:endParaRPr>
          </a:p>
        </p:txBody>
      </p:sp>
      <p:sp>
        <p:nvSpPr>
          <p:cNvPr id="101" name="Google Shape;101;p5"/>
          <p:cNvSpPr/>
          <p:nvPr/>
        </p:nvSpPr>
        <p:spPr>
          <a:xfrm>
            <a:off x="5010912" y="2359152"/>
            <a:ext cx="960120"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D9488"/>
              </a:buClr>
              <a:buSzPts val="1000"/>
              <a:buFont typeface="Calibri"/>
              <a:buNone/>
            </a:pPr>
            <a:r>
              <a:rPr lang="en-US" sz="1000" b="1" i="0" u="none" strike="noStrike" cap="none">
                <a:solidFill>
                  <a:srgbClr val="0D9488"/>
                </a:solidFill>
                <a:latin typeface="Calibri"/>
                <a:ea typeface="Calibri"/>
                <a:cs typeface="Calibri"/>
                <a:sym typeface="Calibri"/>
              </a:rPr>
              <a:t>queen</a:t>
            </a:r>
            <a:endParaRPr sz="1000" b="0" i="0" u="none" strike="noStrike" cap="none">
              <a:solidFill>
                <a:schemeClr val="dk1"/>
              </a:solidFill>
              <a:latin typeface="Calibri"/>
              <a:ea typeface="Calibri"/>
              <a:cs typeface="Calibri"/>
              <a:sym typeface="Calibri"/>
            </a:endParaRPr>
          </a:p>
        </p:txBody>
      </p:sp>
      <p:sp>
        <p:nvSpPr>
          <p:cNvPr id="103" name="Google Shape;103;p5"/>
          <p:cNvSpPr/>
          <p:nvPr/>
        </p:nvSpPr>
        <p:spPr>
          <a:xfrm>
            <a:off x="6473952" y="896112"/>
            <a:ext cx="2286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CEDE9"/>
              </a:buClr>
              <a:buSzPts val="1300"/>
              <a:buFont typeface="Trebuchet MS"/>
              <a:buNone/>
            </a:pPr>
            <a:r>
              <a:rPr lang="en-US" sz="1300" b="1" i="0" u="none" strike="noStrike" cap="none">
                <a:solidFill>
                  <a:srgbClr val="CCEDE9"/>
                </a:solidFill>
                <a:latin typeface="Trebuchet MS"/>
                <a:ea typeface="Trebuchet MS"/>
                <a:cs typeface="Trebuchet MS"/>
                <a:sym typeface="Trebuchet MS"/>
              </a:rPr>
              <a:t>woman + royalty = queen</a:t>
            </a:r>
            <a:endParaRPr sz="1300" b="0" i="0" u="none" strike="noStrike" cap="none">
              <a:solidFill>
                <a:schemeClr val="dk1"/>
              </a:solidFill>
              <a:latin typeface="Calibri"/>
              <a:ea typeface="Calibri"/>
              <a:cs typeface="Calibri"/>
              <a:sym typeface="Calibri"/>
            </a:endParaRPr>
          </a:p>
        </p:txBody>
      </p:sp>
      <p:sp>
        <p:nvSpPr>
          <p:cNvPr id="104" name="Google Shape;104;p5"/>
          <p:cNvSpPr/>
          <p:nvPr/>
        </p:nvSpPr>
        <p:spPr>
          <a:xfrm>
            <a:off x="6473952" y="1225296"/>
            <a:ext cx="2286000" cy="85953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Applying the same offset to woman lands exactly where queen lives in the embedding space.</a:t>
            </a:r>
            <a:endParaRPr sz="1250" b="0" i="0" u="none" strike="noStrike" cap="none">
              <a:solidFill>
                <a:schemeClr val="dk1"/>
              </a:solidFill>
              <a:latin typeface="Calibri"/>
              <a:ea typeface="Calibri"/>
              <a:cs typeface="Calibri"/>
              <a:sym typeface="Calibri"/>
            </a:endParaRPr>
          </a:p>
        </p:txBody>
      </p:sp>
      <p:sp>
        <p:nvSpPr>
          <p:cNvPr id="106" name="Google Shape;106;p5"/>
          <p:cNvSpPr/>
          <p:nvPr/>
        </p:nvSpPr>
        <p:spPr>
          <a:xfrm>
            <a:off x="6473952" y="2377440"/>
            <a:ext cx="2286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CEDE9"/>
              </a:buClr>
              <a:buSzPts val="1300"/>
              <a:buFont typeface="Trebuchet MS"/>
              <a:buNone/>
            </a:pPr>
            <a:r>
              <a:rPr lang="en-US" sz="1300" b="1" i="0" u="none" strike="noStrike" cap="none">
                <a:solidFill>
                  <a:srgbClr val="CCEDE9"/>
                </a:solidFill>
                <a:latin typeface="Trebuchet MS"/>
                <a:ea typeface="Trebuchet MS"/>
                <a:cs typeface="Trebuchet MS"/>
                <a:sym typeface="Trebuchet MS"/>
              </a:rPr>
              <a:t>The arithmetic</a:t>
            </a:r>
            <a:endParaRPr sz="1300" b="0" i="0" u="none" strike="noStrike" cap="none">
              <a:solidFill>
                <a:schemeClr val="dk1"/>
              </a:solidFill>
              <a:latin typeface="Calibri"/>
              <a:ea typeface="Calibri"/>
              <a:cs typeface="Calibri"/>
              <a:sym typeface="Calibri"/>
            </a:endParaRPr>
          </a:p>
        </p:txBody>
      </p:sp>
      <p:sp>
        <p:nvSpPr>
          <p:cNvPr id="107" name="Google Shape;107;p5"/>
          <p:cNvSpPr/>
          <p:nvPr/>
        </p:nvSpPr>
        <p:spPr>
          <a:xfrm>
            <a:off x="6473952" y="2706624"/>
            <a:ext cx="2286000" cy="69494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[60,30] + [20,20] = [80, 50]</a:t>
            </a:r>
            <a:endParaRPr sz="12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Nearest token to [80, 50]:  queen ✓</a:t>
            </a:r>
            <a:endParaRPr sz="1250" b="0" i="0" u="none" strike="noStrike" cap="none">
              <a:solidFill>
                <a:schemeClr val="dk1"/>
              </a:solidFill>
              <a:latin typeface="Calibri"/>
              <a:ea typeface="Calibri"/>
              <a:cs typeface="Calibri"/>
              <a:sym typeface="Calibri"/>
            </a:endParaRPr>
          </a:p>
        </p:txBody>
      </p:sp>
      <p:sp>
        <p:nvSpPr>
          <p:cNvPr id="109" name="Google Shape;109;p5"/>
          <p:cNvSpPr/>
          <p:nvPr/>
        </p:nvSpPr>
        <p:spPr>
          <a:xfrm>
            <a:off x="6473952" y="3602736"/>
            <a:ext cx="2286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CEDE9"/>
              </a:buClr>
              <a:buSzPts val="1300"/>
              <a:buFont typeface="Trebuchet MS"/>
              <a:buNone/>
            </a:pPr>
            <a:r>
              <a:rPr lang="en-US" sz="1300" b="1" i="0" u="none" strike="noStrike" cap="none">
                <a:solidFill>
                  <a:srgbClr val="CCEDE9"/>
                </a:solidFill>
                <a:latin typeface="Trebuchet MS"/>
                <a:ea typeface="Trebuchet MS"/>
                <a:cs typeface="Trebuchet MS"/>
                <a:sym typeface="Trebuchet MS"/>
              </a:rPr>
              <a:t>The key insight</a:t>
            </a:r>
            <a:endParaRPr sz="1300" b="0" i="0" u="none" strike="noStrike" cap="none">
              <a:solidFill>
                <a:schemeClr val="dk1"/>
              </a:solidFill>
              <a:latin typeface="Calibri"/>
              <a:ea typeface="Calibri"/>
              <a:cs typeface="Calibri"/>
              <a:sym typeface="Calibri"/>
            </a:endParaRPr>
          </a:p>
        </p:txBody>
      </p:sp>
      <p:sp>
        <p:nvSpPr>
          <p:cNvPr id="110" name="Google Shape;110;p5"/>
          <p:cNvSpPr/>
          <p:nvPr/>
        </p:nvSpPr>
        <p:spPr>
          <a:xfrm>
            <a:off x="6473952" y="3931920"/>
            <a:ext cx="2286000" cy="79552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"Royalty" was never defined. It emerged from the geometry. Embeddings don't just store words — they encode meaning.</a:t>
            </a:r>
            <a:endParaRPr sz="1200" b="0" i="0" u="none" strike="noStrike" cap="none">
              <a:solidFill>
                <a:schemeClr val="dk1"/>
              </a:solidFill>
              <a:latin typeface="Calibri"/>
              <a:ea typeface="Calibri"/>
              <a:cs typeface="Calibri"/>
              <a:sym typeface="Calibri"/>
            </a:endParaRPr>
          </a:p>
        </p:txBody>
      </p:sp>
      <p:sp>
        <p:nvSpPr>
          <p:cNvPr id="111" name="Google Shape;111;p5"/>
          <p:cNvSpPr/>
          <p:nvPr/>
        </p:nvSpPr>
        <p:spPr>
          <a:xfrm>
            <a:off x="2613510" y="3216409"/>
            <a:ext cx="960000" cy="402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a:solidFill>
                  <a:srgbClr val="64748B"/>
                </a:solidFill>
                <a:latin typeface="Calibri"/>
                <a:ea typeface="Calibri"/>
                <a:cs typeface="Calibri"/>
                <a:sym typeface="Calibri"/>
              </a:rPr>
              <a:t>man</a:t>
            </a:r>
            <a:endParaRPr sz="1000" b="0" i="0" u="none" strike="noStrike" cap="none">
              <a:solidFill>
                <a:schemeClr val="dk1"/>
              </a:solidFill>
              <a:latin typeface="Calibri"/>
              <a:ea typeface="Calibri"/>
              <a:cs typeface="Calibri"/>
              <a:sym typeface="Calibri"/>
            </a:endParaRPr>
          </a:p>
        </p:txBody>
      </p:sp>
      <p:sp>
        <p:nvSpPr>
          <p:cNvPr id="112" name="Google Shape;112;p5"/>
          <p:cNvSpPr/>
          <p:nvPr/>
        </p:nvSpPr>
        <p:spPr>
          <a:xfrm>
            <a:off x="3434903" y="2020860"/>
            <a:ext cx="960000" cy="4023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1B2A4A"/>
              </a:buClr>
              <a:buSzPts val="1000"/>
              <a:buFont typeface="Calibri"/>
              <a:buNone/>
            </a:pPr>
            <a:r>
              <a:rPr lang="en-US" sz="1000" b="1" i="0" u="none" strike="noStrike" cap="none">
                <a:solidFill>
                  <a:srgbClr val="1B2A4A"/>
                </a:solidFill>
                <a:latin typeface="Calibri"/>
                <a:ea typeface="Calibri"/>
                <a:cs typeface="Calibri"/>
                <a:sym typeface="Calibri"/>
              </a:rPr>
              <a:t>king</a:t>
            </a:r>
            <a:endParaRPr sz="1000" b="0" i="0" u="none" strike="noStrike" cap="none">
              <a:solidFill>
                <a:schemeClr val="dk1"/>
              </a:solidFill>
              <a:latin typeface="Calibri"/>
              <a:ea typeface="Calibri"/>
              <a:cs typeface="Calibri"/>
              <a:sym typeface="Calibri"/>
            </a:endParaRPr>
          </a:p>
        </p:txBody>
      </p:sp>
      <p:sp>
        <p:nvSpPr>
          <p:cNvPr id="113" name="Google Shape;113;p5"/>
          <p:cNvSpPr/>
          <p:nvPr/>
        </p:nvSpPr>
        <p:spPr>
          <a:xfrm>
            <a:off x="4353325" y="3279982"/>
            <a:ext cx="478200" cy="2196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4306910" y="3269003"/>
            <a:ext cx="7131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9E0B"/>
              </a:buClr>
              <a:buSzPts val="1000"/>
              <a:buFont typeface="Calibri"/>
              <a:buNone/>
            </a:pPr>
            <a:r>
              <a:rPr lang="en-US" sz="1000" b="1" i="1" u="none" strike="noStrike" cap="none">
                <a:solidFill>
                  <a:srgbClr val="F59E0B"/>
                </a:solidFill>
                <a:latin typeface="Calibri"/>
                <a:ea typeface="Calibri"/>
                <a:cs typeface="Calibri"/>
                <a:sym typeface="Calibri"/>
              </a:rPr>
              <a:t>royalty</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3888</Words>
  <Application>Microsoft Office PowerPoint</Application>
  <PresentationFormat>Presentación en pantalla (16:9)</PresentationFormat>
  <Paragraphs>427</Paragraphs>
  <Slides>24</Slides>
  <Notes>24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24</vt:i4>
      </vt:variant>
    </vt:vector>
  </HeadingPairs>
  <TitlesOfParts>
    <vt:vector size="29" baseType="lpstr">
      <vt:lpstr>Arial</vt:lpstr>
      <vt:lpstr>Calibri</vt:lpstr>
      <vt:lpstr>Consolas</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LLM Inference Works</dc:title>
  <dc:subject>PptxGenJS Presentation</dc:subject>
  <dc:creator>PptxGenJS</dc:creator>
  <cp:lastModifiedBy>Javier Moreno</cp:lastModifiedBy>
  <cp:revision>6</cp:revision>
  <dcterms:created xsi:type="dcterms:W3CDTF">2026-05-21T05:55:20Z</dcterms:created>
  <dcterms:modified xsi:type="dcterms:W3CDTF">2026-05-24T07:09:21Z</dcterms:modified>
</cp:coreProperties>
</file>